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1" r:id="rId1"/>
  </p:sldMasterIdLst>
  <p:notesMasterIdLst>
    <p:notesMasterId r:id="rId82"/>
  </p:notesMasterIdLst>
  <p:sldIdLst>
    <p:sldId id="273" r:id="rId2"/>
    <p:sldId id="274" r:id="rId3"/>
    <p:sldId id="277" r:id="rId4"/>
    <p:sldId id="278" r:id="rId5"/>
    <p:sldId id="279" r:id="rId6"/>
    <p:sldId id="301" r:id="rId7"/>
    <p:sldId id="302" r:id="rId8"/>
    <p:sldId id="300" r:id="rId9"/>
    <p:sldId id="299" r:id="rId10"/>
    <p:sldId id="298" r:id="rId11"/>
    <p:sldId id="293" r:id="rId12"/>
    <p:sldId id="296" r:id="rId13"/>
    <p:sldId id="297" r:id="rId14"/>
    <p:sldId id="295" r:id="rId15"/>
    <p:sldId id="294" r:id="rId16"/>
    <p:sldId id="292" r:id="rId17"/>
    <p:sldId id="280" r:id="rId18"/>
    <p:sldId id="291" r:id="rId19"/>
    <p:sldId id="289" r:id="rId20"/>
    <p:sldId id="285" r:id="rId21"/>
    <p:sldId id="290" r:id="rId22"/>
    <p:sldId id="288" r:id="rId23"/>
    <p:sldId id="286" r:id="rId24"/>
    <p:sldId id="287" r:id="rId25"/>
    <p:sldId id="284" r:id="rId26"/>
    <p:sldId id="282" r:id="rId27"/>
    <p:sldId id="283" r:id="rId28"/>
    <p:sldId id="281" r:id="rId29"/>
    <p:sldId id="303" r:id="rId30"/>
    <p:sldId id="361" r:id="rId31"/>
    <p:sldId id="362" r:id="rId32"/>
    <p:sldId id="304" r:id="rId33"/>
    <p:sldId id="305" r:id="rId34"/>
    <p:sldId id="306" r:id="rId35"/>
    <p:sldId id="356" r:id="rId36"/>
    <p:sldId id="308" r:id="rId37"/>
    <p:sldId id="309" r:id="rId38"/>
    <p:sldId id="310" r:id="rId39"/>
    <p:sldId id="311" r:id="rId40"/>
    <p:sldId id="312" r:id="rId41"/>
    <p:sldId id="313" r:id="rId42"/>
    <p:sldId id="314" r:id="rId43"/>
    <p:sldId id="357" r:id="rId44"/>
    <p:sldId id="358" r:id="rId45"/>
    <p:sldId id="359" r:id="rId46"/>
    <p:sldId id="360" r:id="rId47"/>
    <p:sldId id="315" r:id="rId48"/>
    <p:sldId id="316" r:id="rId49"/>
    <p:sldId id="317" r:id="rId50"/>
    <p:sldId id="318" r:id="rId51"/>
    <p:sldId id="327" r:id="rId52"/>
    <p:sldId id="328" r:id="rId53"/>
    <p:sldId id="329" r:id="rId54"/>
    <p:sldId id="330" r:id="rId55"/>
    <p:sldId id="331" r:id="rId56"/>
    <p:sldId id="332" r:id="rId57"/>
    <p:sldId id="333" r:id="rId58"/>
    <p:sldId id="334" r:id="rId59"/>
    <p:sldId id="335" r:id="rId60"/>
    <p:sldId id="336" r:id="rId61"/>
    <p:sldId id="337" r:id="rId62"/>
    <p:sldId id="338" r:id="rId63"/>
    <p:sldId id="339" r:id="rId64"/>
    <p:sldId id="340" r:id="rId65"/>
    <p:sldId id="341" r:id="rId66"/>
    <p:sldId id="342" r:id="rId67"/>
    <p:sldId id="343" r:id="rId68"/>
    <p:sldId id="344" r:id="rId69"/>
    <p:sldId id="345" r:id="rId70"/>
    <p:sldId id="347" r:id="rId71"/>
    <p:sldId id="348" r:id="rId72"/>
    <p:sldId id="349" r:id="rId73"/>
    <p:sldId id="350" r:id="rId74"/>
    <p:sldId id="351" r:id="rId75"/>
    <p:sldId id="353" r:id="rId76"/>
    <p:sldId id="354" r:id="rId77"/>
    <p:sldId id="355" r:id="rId78"/>
    <p:sldId id="319" r:id="rId79"/>
    <p:sldId id="276" r:id="rId80"/>
    <p:sldId id="326" r:id="rId81"/>
  </p:sldIdLst>
  <p:sldSz cx="12192000" cy="6858000"/>
  <p:notesSz cx="6858000" cy="9144000"/>
  <p:defaultText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89" d="100"/>
          <a:sy n="89" d="100"/>
        </p:scale>
        <p:origin x="876" y="6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Z"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C19E3C-8919-4EC4-84FB-67D138A7AB03}" type="datetimeFigureOut">
              <a:rPr lang="en-TZ" smtClean="0"/>
              <a:t>21/03/2026</a:t>
            </a:fld>
            <a:endParaRPr lang="en-TZ"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Z"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Z"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4A18AA-86A0-4424-BB9C-9082C5E9564A}" type="slidenum">
              <a:rPr lang="en-TZ" smtClean="0"/>
              <a:t>‹#›</a:t>
            </a:fld>
            <a:endParaRPr lang="en-TZ" dirty="0"/>
          </a:p>
        </p:txBody>
      </p:sp>
    </p:spTree>
    <p:extLst>
      <p:ext uri="{BB962C8B-B14F-4D97-AF65-F5344CB8AC3E}">
        <p14:creationId xmlns:p14="http://schemas.microsoft.com/office/powerpoint/2010/main" val="3540807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004A18AA-86A0-4424-BB9C-9082C5E9564A}" type="slidenum">
              <a:rPr lang="en-TZ" smtClean="0"/>
              <a:t>35</a:t>
            </a:fld>
            <a:endParaRPr lang="en-TZ" dirty="0"/>
          </a:p>
        </p:txBody>
      </p:sp>
    </p:spTree>
    <p:extLst>
      <p:ext uri="{BB962C8B-B14F-4D97-AF65-F5344CB8AC3E}">
        <p14:creationId xmlns:p14="http://schemas.microsoft.com/office/powerpoint/2010/main" val="17310609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8670F-8480-32AC-B5E0-D6302501DA00}"/>
              </a:ext>
            </a:extLst>
          </p:cNvPr>
          <p:cNvSpPr>
            <a:spLocks noGrp="1"/>
          </p:cNvSpPr>
          <p:nvPr>
            <p:ph type="ctrTitle" hasCustomPrompt="1"/>
          </p:nvPr>
        </p:nvSpPr>
        <p:spPr>
          <a:xfrm>
            <a:off x="2519083" y="-1193800"/>
            <a:ext cx="9144000" cy="2387600"/>
          </a:xfrm>
        </p:spPr>
        <p:txBody>
          <a:bodyPr anchor="b"/>
          <a:lstStyle>
            <a:lvl1pPr marL="0" marR="0" indent="0" algn="ctr" defTabSz="914400" rtl="0" eaLnBrk="1" fontAlgn="auto" latinLnBrk="0" hangingPunct="1">
              <a:lnSpc>
                <a:spcPct val="90000"/>
              </a:lnSpc>
              <a:spcBef>
                <a:spcPct val="0"/>
              </a:spcBef>
              <a:spcAft>
                <a:spcPts val="0"/>
              </a:spcAft>
              <a:buClrTx/>
              <a:buSzTx/>
              <a:buFontTx/>
              <a:buNone/>
              <a:tabLst/>
              <a:defRPr lang="en-TZ" sz="1200" baseline="0" smtClean="0">
                <a:effectLst/>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TZ" sz="1200" b="1" kern="100" dirty="0">
                <a:effectLst/>
                <a:latin typeface="Tahoma" panose="020B0604030504040204" pitchFamily="34" charset="0"/>
                <a:ea typeface="Aptos" panose="020B0004020202020204" pitchFamily="34" charset="0"/>
              </a:rPr>
              <a:t>UNIVERSITY  OF  DAR ES SALAAM</a:t>
            </a:r>
            <a:br>
              <a:rPr lang="en-TZ" sz="1200" dirty="0">
                <a:effectLst/>
                <a:latin typeface="Arial" panose="020B0604020202020204" pitchFamily="34" charset="0"/>
                <a:ea typeface="Arial" panose="020B0604020202020204" pitchFamily="34" charset="0"/>
              </a:rPr>
            </a:br>
            <a:endParaRPr lang="en-TZ" dirty="0"/>
          </a:p>
        </p:txBody>
      </p:sp>
      <p:pic>
        <p:nvPicPr>
          <p:cNvPr id="7" name="Picture 6">
            <a:extLst>
              <a:ext uri="{FF2B5EF4-FFF2-40B4-BE49-F238E27FC236}">
                <a16:creationId xmlns:a16="http://schemas.microsoft.com/office/drawing/2014/main" id="{8F7F0F78-ED83-483B-C0D2-273C3AC9D93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1600" y="-85912"/>
            <a:ext cx="1244600" cy="1279712"/>
          </a:xfrm>
          <a:prstGeom prst="rect">
            <a:avLst/>
          </a:prstGeom>
          <a:noFill/>
          <a:ln>
            <a:noFill/>
          </a:ln>
        </p:spPr>
      </p:pic>
    </p:spTree>
    <p:extLst>
      <p:ext uri="{BB962C8B-B14F-4D97-AF65-F5344CB8AC3E}">
        <p14:creationId xmlns:p14="http://schemas.microsoft.com/office/powerpoint/2010/main" val="2204890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72D56-332B-EF31-65CA-DA9D8E2C1EF6}"/>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52F5AC40-10D0-A08E-FA64-BE4BC075EC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8F18F411-94D2-6F60-5E89-18DFB030DE86}"/>
              </a:ext>
            </a:extLst>
          </p:cNvPr>
          <p:cNvSpPr>
            <a:spLocks noGrp="1"/>
          </p:cNvSpPr>
          <p:nvPr>
            <p:ph type="dt" sz="half" idx="10"/>
          </p:nvPr>
        </p:nvSpPr>
        <p:spPr/>
        <p:txBody>
          <a:bodyPr/>
          <a:lstStyle/>
          <a:p>
            <a:fld id="{48A87A34-81AB-432B-8DAE-1953F412C126}" type="datetimeFigureOut">
              <a:rPr lang="en-US" smtClean="0"/>
              <a:t>21-Mar-26</a:t>
            </a:fld>
            <a:endParaRPr lang="en-US" dirty="0"/>
          </a:p>
        </p:txBody>
      </p:sp>
      <p:sp>
        <p:nvSpPr>
          <p:cNvPr id="5" name="Footer Placeholder 4">
            <a:extLst>
              <a:ext uri="{FF2B5EF4-FFF2-40B4-BE49-F238E27FC236}">
                <a16:creationId xmlns:a16="http://schemas.microsoft.com/office/drawing/2014/main" id="{294D39B4-0C7E-28B3-7694-12806CACD22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DE1339-AE5D-1E11-B650-DE9BA87D5571}"/>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50586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5E7A-5AF8-09A5-5460-176C8AC509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Z"/>
          </a:p>
        </p:txBody>
      </p:sp>
      <p:sp>
        <p:nvSpPr>
          <p:cNvPr id="3" name="Text Placeholder 2">
            <a:extLst>
              <a:ext uri="{FF2B5EF4-FFF2-40B4-BE49-F238E27FC236}">
                <a16:creationId xmlns:a16="http://schemas.microsoft.com/office/drawing/2014/main" id="{743373A8-052C-3C27-38E5-AF4DA90096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C8E427-9451-E556-D402-47C5F4E38018}"/>
              </a:ext>
            </a:extLst>
          </p:cNvPr>
          <p:cNvSpPr>
            <a:spLocks noGrp="1"/>
          </p:cNvSpPr>
          <p:nvPr>
            <p:ph type="dt" sz="half" idx="10"/>
          </p:nvPr>
        </p:nvSpPr>
        <p:spPr/>
        <p:txBody>
          <a:bodyPr/>
          <a:lstStyle/>
          <a:p>
            <a:fld id="{48A87A34-81AB-432B-8DAE-1953F412C126}" type="datetimeFigureOut">
              <a:rPr lang="en-US" smtClean="0"/>
              <a:t>21-Mar-26</a:t>
            </a:fld>
            <a:endParaRPr lang="en-US" dirty="0"/>
          </a:p>
        </p:txBody>
      </p:sp>
      <p:sp>
        <p:nvSpPr>
          <p:cNvPr id="5" name="Footer Placeholder 4">
            <a:extLst>
              <a:ext uri="{FF2B5EF4-FFF2-40B4-BE49-F238E27FC236}">
                <a16:creationId xmlns:a16="http://schemas.microsoft.com/office/drawing/2014/main" id="{13274C0D-4BCC-2B7A-652D-5459B31312C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9B9BF28-3B88-4C5F-821F-5075C4CDC768}"/>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84815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2B323-AC3E-59AF-7611-6AB1EDFD9EFD}"/>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F7A33F30-830B-0A64-A64C-5A5DAFEED6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Content Placeholder 3">
            <a:extLst>
              <a:ext uri="{FF2B5EF4-FFF2-40B4-BE49-F238E27FC236}">
                <a16:creationId xmlns:a16="http://schemas.microsoft.com/office/drawing/2014/main" id="{7BAA5ACF-ED99-EAF3-6AFE-E6F90D428C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Date Placeholder 4">
            <a:extLst>
              <a:ext uri="{FF2B5EF4-FFF2-40B4-BE49-F238E27FC236}">
                <a16:creationId xmlns:a16="http://schemas.microsoft.com/office/drawing/2014/main" id="{550599B0-5895-30F5-3536-1635DEF0AAEB}"/>
              </a:ext>
            </a:extLst>
          </p:cNvPr>
          <p:cNvSpPr>
            <a:spLocks noGrp="1"/>
          </p:cNvSpPr>
          <p:nvPr>
            <p:ph type="dt" sz="half" idx="10"/>
          </p:nvPr>
        </p:nvSpPr>
        <p:spPr/>
        <p:txBody>
          <a:bodyPr/>
          <a:lstStyle/>
          <a:p>
            <a:fld id="{48A87A34-81AB-432B-8DAE-1953F412C126}" type="datetimeFigureOut">
              <a:rPr lang="en-US" smtClean="0"/>
              <a:t>21-Mar-26</a:t>
            </a:fld>
            <a:endParaRPr lang="en-US" dirty="0"/>
          </a:p>
        </p:txBody>
      </p:sp>
      <p:sp>
        <p:nvSpPr>
          <p:cNvPr id="6" name="Footer Placeholder 5">
            <a:extLst>
              <a:ext uri="{FF2B5EF4-FFF2-40B4-BE49-F238E27FC236}">
                <a16:creationId xmlns:a16="http://schemas.microsoft.com/office/drawing/2014/main" id="{2E514FBD-E7F5-C408-BECC-12F04B9BF17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4693EB5-2EFF-F126-6597-DF35EF4ED431}"/>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79062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0ED53-DD03-0F26-4CCD-ACFB7D170CFE}"/>
              </a:ext>
            </a:extLst>
          </p:cNvPr>
          <p:cNvSpPr>
            <a:spLocks noGrp="1"/>
          </p:cNvSpPr>
          <p:nvPr>
            <p:ph type="title"/>
          </p:nvPr>
        </p:nvSpPr>
        <p:spPr>
          <a:xfrm>
            <a:off x="839788" y="365125"/>
            <a:ext cx="10515600" cy="1325563"/>
          </a:xfrm>
        </p:spPr>
        <p:txBody>
          <a:bodyPr/>
          <a:lstStyle/>
          <a:p>
            <a:r>
              <a:rPr lang="en-US"/>
              <a:t>Click to edit Master title style</a:t>
            </a:r>
            <a:endParaRPr lang="en-TZ"/>
          </a:p>
        </p:txBody>
      </p:sp>
      <p:sp>
        <p:nvSpPr>
          <p:cNvPr id="3" name="Text Placeholder 2">
            <a:extLst>
              <a:ext uri="{FF2B5EF4-FFF2-40B4-BE49-F238E27FC236}">
                <a16:creationId xmlns:a16="http://schemas.microsoft.com/office/drawing/2014/main" id="{1B4BF61B-2714-C338-4BF7-C7260CBE79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3F0A44-4B82-957D-C77A-E229584476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Text Placeholder 4">
            <a:extLst>
              <a:ext uri="{FF2B5EF4-FFF2-40B4-BE49-F238E27FC236}">
                <a16:creationId xmlns:a16="http://schemas.microsoft.com/office/drawing/2014/main" id="{FFEC88C0-CC39-7D60-02D5-548C6600A1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FD9DE4-B65C-1BDB-DA7F-49B8BF2015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7" name="Date Placeholder 6">
            <a:extLst>
              <a:ext uri="{FF2B5EF4-FFF2-40B4-BE49-F238E27FC236}">
                <a16:creationId xmlns:a16="http://schemas.microsoft.com/office/drawing/2014/main" id="{037E76A5-E2FA-3703-07B2-5DBB3074085B}"/>
              </a:ext>
            </a:extLst>
          </p:cNvPr>
          <p:cNvSpPr>
            <a:spLocks noGrp="1"/>
          </p:cNvSpPr>
          <p:nvPr>
            <p:ph type="dt" sz="half" idx="10"/>
          </p:nvPr>
        </p:nvSpPr>
        <p:spPr/>
        <p:txBody>
          <a:bodyPr/>
          <a:lstStyle/>
          <a:p>
            <a:fld id="{48A87A34-81AB-432B-8DAE-1953F412C126}" type="datetimeFigureOut">
              <a:rPr lang="en-US" smtClean="0"/>
              <a:t>21-Mar-26</a:t>
            </a:fld>
            <a:endParaRPr lang="en-US" dirty="0"/>
          </a:p>
        </p:txBody>
      </p:sp>
      <p:sp>
        <p:nvSpPr>
          <p:cNvPr id="8" name="Footer Placeholder 7">
            <a:extLst>
              <a:ext uri="{FF2B5EF4-FFF2-40B4-BE49-F238E27FC236}">
                <a16:creationId xmlns:a16="http://schemas.microsoft.com/office/drawing/2014/main" id="{2A7E03C0-8174-40E2-CED3-CF830B9394E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24F5CB7-3A1F-32F4-36AA-02FF8EDC40BC}"/>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87795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87EE6-2170-98FB-49F6-53F50A8AFA58}"/>
              </a:ext>
            </a:extLst>
          </p:cNvPr>
          <p:cNvSpPr>
            <a:spLocks noGrp="1"/>
          </p:cNvSpPr>
          <p:nvPr>
            <p:ph type="title"/>
          </p:nvPr>
        </p:nvSpPr>
        <p:spPr/>
        <p:txBody>
          <a:bodyPr/>
          <a:lstStyle/>
          <a:p>
            <a:r>
              <a:rPr lang="en-US"/>
              <a:t>Click to edit Master title style</a:t>
            </a:r>
            <a:endParaRPr lang="en-TZ"/>
          </a:p>
        </p:txBody>
      </p:sp>
      <p:sp>
        <p:nvSpPr>
          <p:cNvPr id="3" name="Date Placeholder 2">
            <a:extLst>
              <a:ext uri="{FF2B5EF4-FFF2-40B4-BE49-F238E27FC236}">
                <a16:creationId xmlns:a16="http://schemas.microsoft.com/office/drawing/2014/main" id="{E99F2635-7987-1BC6-2DA7-89BF457EC8E7}"/>
              </a:ext>
            </a:extLst>
          </p:cNvPr>
          <p:cNvSpPr>
            <a:spLocks noGrp="1"/>
          </p:cNvSpPr>
          <p:nvPr>
            <p:ph type="dt" sz="half" idx="10"/>
          </p:nvPr>
        </p:nvSpPr>
        <p:spPr/>
        <p:txBody>
          <a:bodyPr/>
          <a:lstStyle/>
          <a:p>
            <a:fld id="{48A87A34-81AB-432B-8DAE-1953F412C126}" type="datetimeFigureOut">
              <a:rPr lang="en-US" smtClean="0"/>
              <a:t>21-Mar-26</a:t>
            </a:fld>
            <a:endParaRPr lang="en-US" dirty="0"/>
          </a:p>
        </p:txBody>
      </p:sp>
      <p:sp>
        <p:nvSpPr>
          <p:cNvPr id="4" name="Footer Placeholder 3">
            <a:extLst>
              <a:ext uri="{FF2B5EF4-FFF2-40B4-BE49-F238E27FC236}">
                <a16:creationId xmlns:a16="http://schemas.microsoft.com/office/drawing/2014/main" id="{DE8F1403-C3CD-1AF3-CA59-A91AF64DBDC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3D7A013-C79E-C322-5CDF-D6E86AB9C329}"/>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28721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585E1A-5455-EA7A-0E1B-027ED546131F}"/>
              </a:ext>
            </a:extLst>
          </p:cNvPr>
          <p:cNvSpPr>
            <a:spLocks noGrp="1"/>
          </p:cNvSpPr>
          <p:nvPr>
            <p:ph type="dt" sz="half" idx="10"/>
          </p:nvPr>
        </p:nvSpPr>
        <p:spPr/>
        <p:txBody>
          <a:bodyPr/>
          <a:lstStyle/>
          <a:p>
            <a:fld id="{48A87A34-81AB-432B-8DAE-1953F412C126}" type="datetimeFigureOut">
              <a:rPr lang="en-US" smtClean="0"/>
              <a:t>21-Mar-26</a:t>
            </a:fld>
            <a:endParaRPr lang="en-US" dirty="0"/>
          </a:p>
        </p:txBody>
      </p:sp>
      <p:sp>
        <p:nvSpPr>
          <p:cNvPr id="3" name="Footer Placeholder 2">
            <a:extLst>
              <a:ext uri="{FF2B5EF4-FFF2-40B4-BE49-F238E27FC236}">
                <a16:creationId xmlns:a16="http://schemas.microsoft.com/office/drawing/2014/main" id="{BCBCF576-409C-3B1F-9E01-39F45947E37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687FC75-6E0E-5ACC-6A13-C71DCB1797EC}"/>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48848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6CAD-8D04-BC3A-A5F9-F7BB8CF3B6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Content Placeholder 2">
            <a:extLst>
              <a:ext uri="{FF2B5EF4-FFF2-40B4-BE49-F238E27FC236}">
                <a16:creationId xmlns:a16="http://schemas.microsoft.com/office/drawing/2014/main" id="{A4D5930E-D096-E88E-2B65-6C23518BB0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Text Placeholder 3">
            <a:extLst>
              <a:ext uri="{FF2B5EF4-FFF2-40B4-BE49-F238E27FC236}">
                <a16:creationId xmlns:a16="http://schemas.microsoft.com/office/drawing/2014/main" id="{4FC40513-C56D-BACC-F80E-52838A29F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EF2F70-BF71-9EE4-3359-7E797E0C462C}"/>
              </a:ext>
            </a:extLst>
          </p:cNvPr>
          <p:cNvSpPr>
            <a:spLocks noGrp="1"/>
          </p:cNvSpPr>
          <p:nvPr>
            <p:ph type="dt" sz="half" idx="10"/>
          </p:nvPr>
        </p:nvSpPr>
        <p:spPr/>
        <p:txBody>
          <a:bodyPr/>
          <a:lstStyle/>
          <a:p>
            <a:fld id="{48A87A34-81AB-432B-8DAE-1953F412C126}" type="datetimeFigureOut">
              <a:rPr lang="en-US" smtClean="0"/>
              <a:t>21-Mar-26</a:t>
            </a:fld>
            <a:endParaRPr lang="en-US" dirty="0"/>
          </a:p>
        </p:txBody>
      </p:sp>
      <p:sp>
        <p:nvSpPr>
          <p:cNvPr id="6" name="Footer Placeholder 5">
            <a:extLst>
              <a:ext uri="{FF2B5EF4-FFF2-40B4-BE49-F238E27FC236}">
                <a16:creationId xmlns:a16="http://schemas.microsoft.com/office/drawing/2014/main" id="{2C398CAB-FA32-DC86-4DAF-4B7E2E21CAE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9E140B0-7B42-A2F4-5DDE-2680D2EBE007}"/>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15614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3D293-A0BD-A550-CBAB-A9CDDA466B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Picture Placeholder 2">
            <a:extLst>
              <a:ext uri="{FF2B5EF4-FFF2-40B4-BE49-F238E27FC236}">
                <a16:creationId xmlns:a16="http://schemas.microsoft.com/office/drawing/2014/main" id="{2BBAEA9A-6BF9-B848-F17D-66B88B379D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Z" dirty="0"/>
          </a:p>
        </p:txBody>
      </p:sp>
      <p:sp>
        <p:nvSpPr>
          <p:cNvPr id="4" name="Text Placeholder 3">
            <a:extLst>
              <a:ext uri="{FF2B5EF4-FFF2-40B4-BE49-F238E27FC236}">
                <a16:creationId xmlns:a16="http://schemas.microsoft.com/office/drawing/2014/main" id="{AC2742D9-0DD3-5426-C20D-7BFAE0736D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84B4E8-2019-5D13-105F-0B4D1027C690}"/>
              </a:ext>
            </a:extLst>
          </p:cNvPr>
          <p:cNvSpPr>
            <a:spLocks noGrp="1"/>
          </p:cNvSpPr>
          <p:nvPr>
            <p:ph type="dt" sz="half" idx="10"/>
          </p:nvPr>
        </p:nvSpPr>
        <p:spPr/>
        <p:txBody>
          <a:bodyPr/>
          <a:lstStyle/>
          <a:p>
            <a:fld id="{48A87A34-81AB-432B-8DAE-1953F412C126}" type="datetimeFigureOut">
              <a:rPr lang="en-US" smtClean="0"/>
              <a:t>21-Mar-26</a:t>
            </a:fld>
            <a:endParaRPr lang="en-US" dirty="0"/>
          </a:p>
        </p:txBody>
      </p:sp>
      <p:sp>
        <p:nvSpPr>
          <p:cNvPr id="6" name="Footer Placeholder 5">
            <a:extLst>
              <a:ext uri="{FF2B5EF4-FFF2-40B4-BE49-F238E27FC236}">
                <a16:creationId xmlns:a16="http://schemas.microsoft.com/office/drawing/2014/main" id="{A404355E-96A5-C97D-E4F1-D2AEBAD27FC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5AF4AB-7685-B203-064B-AB63A8C77704}"/>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86066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FAA8C-7734-B403-448C-B5C2C6DB4E75}"/>
              </a:ext>
            </a:extLst>
          </p:cNvPr>
          <p:cNvSpPr>
            <a:spLocks noGrp="1"/>
          </p:cNvSpPr>
          <p:nvPr>
            <p:ph type="title"/>
          </p:nvPr>
        </p:nvSpPr>
        <p:spPr/>
        <p:txBody>
          <a:bodyPr/>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48526210-FF10-20BE-4EEA-50AD806F11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025287F5-1347-C73A-CD9E-349CAF97FD80}"/>
              </a:ext>
            </a:extLst>
          </p:cNvPr>
          <p:cNvSpPr>
            <a:spLocks noGrp="1"/>
          </p:cNvSpPr>
          <p:nvPr>
            <p:ph type="dt" sz="half" idx="10"/>
          </p:nvPr>
        </p:nvSpPr>
        <p:spPr/>
        <p:txBody>
          <a:bodyPr/>
          <a:lstStyle/>
          <a:p>
            <a:fld id="{48A87A34-81AB-432B-8DAE-1953F412C126}" type="datetimeFigureOut">
              <a:rPr lang="en-US" smtClean="0"/>
              <a:t>21-Mar-26</a:t>
            </a:fld>
            <a:endParaRPr lang="en-US" dirty="0"/>
          </a:p>
        </p:txBody>
      </p:sp>
      <p:sp>
        <p:nvSpPr>
          <p:cNvPr id="5" name="Footer Placeholder 4">
            <a:extLst>
              <a:ext uri="{FF2B5EF4-FFF2-40B4-BE49-F238E27FC236}">
                <a16:creationId xmlns:a16="http://schemas.microsoft.com/office/drawing/2014/main" id="{99844211-7591-7341-648C-749E57A1895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22E256-ACF7-84DD-1485-44841873DE71}"/>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38704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87FD26-AA5A-D4B5-72C1-1EDFEE0898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35BE6C1A-9245-6710-E4EA-117E2DF527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0F3A54D2-DB14-B702-1DE2-1BA4D908D3DA}"/>
              </a:ext>
            </a:extLst>
          </p:cNvPr>
          <p:cNvSpPr>
            <a:spLocks noGrp="1"/>
          </p:cNvSpPr>
          <p:nvPr>
            <p:ph type="dt" sz="half" idx="10"/>
          </p:nvPr>
        </p:nvSpPr>
        <p:spPr/>
        <p:txBody>
          <a:bodyPr/>
          <a:lstStyle/>
          <a:p>
            <a:fld id="{48A87A34-81AB-432B-8DAE-1953F412C126}" type="datetimeFigureOut">
              <a:rPr lang="en-US" smtClean="0"/>
              <a:t>21-Mar-26</a:t>
            </a:fld>
            <a:endParaRPr lang="en-US" dirty="0"/>
          </a:p>
        </p:txBody>
      </p:sp>
      <p:sp>
        <p:nvSpPr>
          <p:cNvPr id="5" name="Footer Placeholder 4">
            <a:extLst>
              <a:ext uri="{FF2B5EF4-FFF2-40B4-BE49-F238E27FC236}">
                <a16:creationId xmlns:a16="http://schemas.microsoft.com/office/drawing/2014/main" id="{CD22E35F-3CFC-3448-E3D4-6FA9240350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E143405-73EF-8E8E-FB5E-02AFB2B0E5A3}"/>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48194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743C77-A69C-0ED1-4F56-791C9A6CC1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Z"/>
          </a:p>
        </p:txBody>
      </p:sp>
      <p:sp>
        <p:nvSpPr>
          <p:cNvPr id="3" name="Text Placeholder 2">
            <a:extLst>
              <a:ext uri="{FF2B5EF4-FFF2-40B4-BE49-F238E27FC236}">
                <a16:creationId xmlns:a16="http://schemas.microsoft.com/office/drawing/2014/main" id="{D539CD33-4DAD-FC87-FA67-EE56DE372A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8528885A-24B6-AE55-E29F-F7DF737EC6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21-Mar-26</a:t>
            </a:fld>
            <a:endParaRPr lang="en-US" dirty="0"/>
          </a:p>
        </p:txBody>
      </p:sp>
      <p:sp>
        <p:nvSpPr>
          <p:cNvPr id="5" name="Footer Placeholder 4">
            <a:extLst>
              <a:ext uri="{FF2B5EF4-FFF2-40B4-BE49-F238E27FC236}">
                <a16:creationId xmlns:a16="http://schemas.microsoft.com/office/drawing/2014/main" id="{E0723B75-D614-1B1B-7068-D21AA7AC45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D5CD37A-214E-71EC-4EC3-7F0B0DFBE9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64441133"/>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02A8C-D3BA-E67B-0721-CD54C3A08BE5}"/>
              </a:ext>
            </a:extLst>
          </p:cNvPr>
          <p:cNvSpPr>
            <a:spLocks noGrp="1"/>
          </p:cNvSpPr>
          <p:nvPr>
            <p:ph type="title"/>
          </p:nvPr>
        </p:nvSpPr>
        <p:spPr>
          <a:xfrm>
            <a:off x="1270661" y="1"/>
            <a:ext cx="10921339" cy="1114423"/>
          </a:xfrm>
        </p:spPr>
        <p:txBody>
          <a:bodyPr>
            <a:normAutofit/>
          </a:bodyPr>
          <a:lstStyle/>
          <a:p>
            <a:r>
              <a:rPr lang="en-TZ" b="1" dirty="0">
                <a:latin typeface="Times New Roman" panose="02020603050405020304" pitchFamily="18" charset="0"/>
                <a:cs typeface="Times New Roman" panose="02020603050405020304" pitchFamily="18" charset="0"/>
              </a:rPr>
              <a:t>UNIVERSITY  OF  DAR ES SALAA</a:t>
            </a:r>
            <a:r>
              <a:rPr lang="en-US" b="1" dirty="0">
                <a:latin typeface="Times New Roman" panose="02020603050405020304" pitchFamily="18" charset="0"/>
                <a:cs typeface="Times New Roman" panose="02020603050405020304" pitchFamily="18" charset="0"/>
              </a:rPr>
              <a:t>M</a:t>
            </a:r>
            <a:endParaRPr lang="en-TZ"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CC2C915-7BAA-C6CD-021C-17DEC7B3DD0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92530" cy="1114423"/>
          </a:xfrm>
          <a:prstGeom prst="rect">
            <a:avLst/>
          </a:prstGeom>
          <a:noFill/>
          <a:ln>
            <a:noFill/>
          </a:ln>
        </p:spPr>
      </p:pic>
      <p:sp>
        <p:nvSpPr>
          <p:cNvPr id="7" name="Title 1">
            <a:extLst>
              <a:ext uri="{FF2B5EF4-FFF2-40B4-BE49-F238E27FC236}">
                <a16:creationId xmlns:a16="http://schemas.microsoft.com/office/drawing/2014/main" id="{5BCA1459-FDBF-C763-E271-D21747CAC3AC}"/>
              </a:ext>
            </a:extLst>
          </p:cNvPr>
          <p:cNvSpPr txBox="1">
            <a:spLocks/>
          </p:cNvSpPr>
          <p:nvPr/>
        </p:nvSpPr>
        <p:spPr>
          <a:xfrm>
            <a:off x="1709738" y="1488282"/>
            <a:ext cx="10670381" cy="11144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TZ" dirty="0"/>
          </a:p>
        </p:txBody>
      </p:sp>
      <p:sp>
        <p:nvSpPr>
          <p:cNvPr id="9" name="TextBox 8">
            <a:extLst>
              <a:ext uri="{FF2B5EF4-FFF2-40B4-BE49-F238E27FC236}">
                <a16:creationId xmlns:a16="http://schemas.microsoft.com/office/drawing/2014/main" id="{CFAA415E-E9A1-2344-05D2-48EE37FC2A34}"/>
              </a:ext>
            </a:extLst>
          </p:cNvPr>
          <p:cNvSpPr txBox="1"/>
          <p:nvPr/>
        </p:nvSpPr>
        <p:spPr>
          <a:xfrm>
            <a:off x="2007096" y="992377"/>
            <a:ext cx="8177808" cy="576568"/>
          </a:xfrm>
          <a:prstGeom prst="rect">
            <a:avLst/>
          </a:prstGeom>
          <a:noFill/>
        </p:spPr>
        <p:txBody>
          <a:bodyPr wrap="square">
            <a:spAutoFit/>
          </a:bodyPr>
          <a:lstStyle/>
          <a:p>
            <a:pPr marL="0" marR="0" algn="ctr">
              <a:lnSpc>
                <a:spcPct val="150000"/>
              </a:lnSpc>
              <a:spcAft>
                <a:spcPts val="800"/>
              </a:spcAft>
              <a:buNone/>
            </a:pPr>
            <a:r>
              <a:rPr lang="en-US" sz="2400" b="1" kern="100" dirty="0">
                <a:latin typeface="Tahoma" panose="020B0604030504040204" pitchFamily="34" charset="0"/>
                <a:ea typeface="Aptos" panose="020B0004020202020204" pitchFamily="34" charset="0"/>
              </a:rPr>
              <a:t>D</a:t>
            </a:r>
            <a:r>
              <a:rPr lang="en-TZ" sz="2400" b="1" kern="100" dirty="0">
                <a:effectLst/>
                <a:latin typeface="Tahoma" panose="020B0604030504040204" pitchFamily="34" charset="0"/>
                <a:ea typeface="Aptos" panose="020B0004020202020204" pitchFamily="34" charset="0"/>
              </a:rPr>
              <a:t>epartment of </a:t>
            </a:r>
            <a:r>
              <a:rPr lang="en-US" sz="2400" b="1" kern="100" dirty="0">
                <a:latin typeface="Tahoma" panose="020B0604030504040204" pitchFamily="34" charset="0"/>
                <a:ea typeface="Aptos" panose="020B0004020202020204" pitchFamily="34" charset="0"/>
              </a:rPr>
              <a:t>C</a:t>
            </a:r>
            <a:r>
              <a:rPr lang="en-TZ" sz="2400" b="1" kern="100" dirty="0">
                <a:effectLst/>
                <a:latin typeface="Tahoma" panose="020B0604030504040204" pitchFamily="34" charset="0"/>
                <a:ea typeface="Aptos" panose="020B0004020202020204" pitchFamily="34" charset="0"/>
              </a:rPr>
              <a:t>omputer </a:t>
            </a:r>
            <a:r>
              <a:rPr lang="en-US" sz="2400" b="1" kern="100" dirty="0">
                <a:effectLst/>
                <a:latin typeface="Tahoma" panose="020B0604030504040204" pitchFamily="34" charset="0"/>
                <a:ea typeface="Aptos" panose="020B0004020202020204" pitchFamily="34" charset="0"/>
              </a:rPr>
              <a:t>S</a:t>
            </a:r>
            <a:r>
              <a:rPr lang="en-TZ" sz="2400" b="1" kern="100" dirty="0">
                <a:effectLst/>
                <a:latin typeface="Tahoma" panose="020B0604030504040204" pitchFamily="34" charset="0"/>
                <a:ea typeface="Aptos" panose="020B0004020202020204" pitchFamily="34" charset="0"/>
              </a:rPr>
              <a:t>cience and </a:t>
            </a:r>
            <a:r>
              <a:rPr lang="en-US" sz="2400" b="1" kern="100" dirty="0">
                <a:effectLst/>
                <a:latin typeface="Tahoma" panose="020B0604030504040204" pitchFamily="34" charset="0"/>
                <a:ea typeface="Aptos" panose="020B0004020202020204" pitchFamily="34" charset="0"/>
              </a:rPr>
              <a:t>E</a:t>
            </a:r>
            <a:r>
              <a:rPr lang="en-TZ" sz="2400" b="1" kern="100" dirty="0">
                <a:effectLst/>
                <a:latin typeface="Tahoma" panose="020B0604030504040204" pitchFamily="34" charset="0"/>
                <a:ea typeface="Aptos" panose="020B0004020202020204" pitchFamily="34" charset="0"/>
              </a:rPr>
              <a:t>ngineering</a:t>
            </a:r>
            <a:endParaRPr lang="en-TZ" sz="2400" dirty="0">
              <a:effectLst/>
              <a:latin typeface="Arial" panose="020B0604020202020204" pitchFamily="34" charset="0"/>
              <a:ea typeface="Arial" panose="020B0604020202020204" pitchFamily="34" charset="0"/>
            </a:endParaRPr>
          </a:p>
        </p:txBody>
      </p:sp>
      <p:sp>
        <p:nvSpPr>
          <p:cNvPr id="11" name="TextBox 10">
            <a:extLst>
              <a:ext uri="{FF2B5EF4-FFF2-40B4-BE49-F238E27FC236}">
                <a16:creationId xmlns:a16="http://schemas.microsoft.com/office/drawing/2014/main" id="{B290586E-9468-608A-94E9-3C4254347531}"/>
              </a:ext>
            </a:extLst>
          </p:cNvPr>
          <p:cNvSpPr txBox="1"/>
          <p:nvPr/>
        </p:nvSpPr>
        <p:spPr>
          <a:xfrm>
            <a:off x="3295650" y="2489731"/>
            <a:ext cx="6107906" cy="1233158"/>
          </a:xfrm>
          <a:prstGeom prst="rect">
            <a:avLst/>
          </a:prstGeom>
          <a:noFill/>
        </p:spPr>
        <p:txBody>
          <a:bodyPr wrap="square">
            <a:spAutoFit/>
          </a:bodyPr>
          <a:lstStyle/>
          <a:p>
            <a:pPr marL="0" marR="0" algn="ctr">
              <a:lnSpc>
                <a:spcPct val="150000"/>
              </a:lnSpc>
              <a:spcAft>
                <a:spcPts val="800"/>
              </a:spcAft>
              <a:buNone/>
            </a:pPr>
            <a:r>
              <a:rPr lang="en-TZ" sz="2400" b="1" kern="100" dirty="0">
                <a:solidFill>
                  <a:schemeClr val="accent1"/>
                </a:solidFill>
                <a:effectLst/>
                <a:latin typeface="Tahoma" panose="020B0604030504040204" pitchFamily="34" charset="0"/>
                <a:ea typeface="Aptos" panose="020B0004020202020204" pitchFamily="34" charset="0"/>
              </a:rPr>
              <a:t>D</a:t>
            </a:r>
            <a:r>
              <a:rPr lang="en-US" sz="2400" b="1" kern="100" dirty="0">
                <a:solidFill>
                  <a:schemeClr val="accent1"/>
                </a:solidFill>
                <a:effectLst/>
                <a:latin typeface="Tahoma" panose="020B0604030504040204" pitchFamily="34" charset="0"/>
                <a:ea typeface="Aptos" panose="020B0004020202020204" pitchFamily="34" charset="0"/>
              </a:rPr>
              <a:t>iscrete Structure </a:t>
            </a:r>
          </a:p>
          <a:p>
            <a:pPr marL="0" marR="0" algn="ctr">
              <a:lnSpc>
                <a:spcPct val="150000"/>
              </a:lnSpc>
              <a:spcAft>
                <a:spcPts val="800"/>
              </a:spcAft>
              <a:buNone/>
            </a:pPr>
            <a:r>
              <a:rPr lang="en-US" sz="2400" b="1" kern="100" dirty="0">
                <a:solidFill>
                  <a:schemeClr val="accent1"/>
                </a:solidFill>
                <a:effectLst/>
                <a:latin typeface="Tahoma" panose="020B0604030504040204" pitchFamily="34" charset="0"/>
                <a:ea typeface="Aptos" panose="020B0004020202020204" pitchFamily="34" charset="0"/>
              </a:rPr>
              <a:t>(IS 143)</a:t>
            </a:r>
            <a:endParaRPr lang="en-TZ" sz="2400" dirty="0">
              <a:solidFill>
                <a:schemeClr val="accent1"/>
              </a:solidFill>
              <a:effectLst/>
              <a:latin typeface="Arial" panose="020B0604020202020204" pitchFamily="34" charset="0"/>
              <a:ea typeface="Arial" panose="020B0604020202020204" pitchFamily="34" charset="0"/>
            </a:endParaRPr>
          </a:p>
        </p:txBody>
      </p:sp>
      <p:sp>
        <p:nvSpPr>
          <p:cNvPr id="13" name="TextBox 12">
            <a:extLst>
              <a:ext uri="{FF2B5EF4-FFF2-40B4-BE49-F238E27FC236}">
                <a16:creationId xmlns:a16="http://schemas.microsoft.com/office/drawing/2014/main" id="{E219AA71-8D7D-7139-C880-0C30C660AABF}"/>
              </a:ext>
            </a:extLst>
          </p:cNvPr>
          <p:cNvSpPr txBox="1"/>
          <p:nvPr/>
        </p:nvSpPr>
        <p:spPr>
          <a:xfrm>
            <a:off x="1880212" y="4130714"/>
            <a:ext cx="8938781" cy="576568"/>
          </a:xfrm>
          <a:prstGeom prst="rect">
            <a:avLst/>
          </a:prstGeom>
          <a:noFill/>
        </p:spPr>
        <p:txBody>
          <a:bodyPr wrap="square">
            <a:spAutoFit/>
          </a:bodyPr>
          <a:lstStyle/>
          <a:p>
            <a:pPr marL="0" marR="0" algn="ctr">
              <a:lnSpc>
                <a:spcPct val="150000"/>
              </a:lnSpc>
              <a:spcAft>
                <a:spcPts val="800"/>
              </a:spcAft>
              <a:buNone/>
            </a:pPr>
            <a:r>
              <a:rPr lang="en-US" sz="2400" b="1" kern="100" dirty="0">
                <a:solidFill>
                  <a:schemeClr val="accent1"/>
                </a:solidFill>
                <a:latin typeface="Tahoma" panose="020B0604030504040204" pitchFamily="34" charset="0"/>
                <a:ea typeface="Arial" panose="020B0604020202020204" pitchFamily="34" charset="0"/>
              </a:rPr>
              <a:t>Presentation on Sets Theory</a:t>
            </a:r>
            <a:endParaRPr lang="en-TZ" sz="2400" dirty="0">
              <a:solidFill>
                <a:schemeClr val="accent1"/>
              </a:solidFill>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426836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07B6C2-1B33-AB06-7BF8-C4B0E9444A9D}"/>
              </a:ext>
            </a:extLst>
          </p:cNvPr>
          <p:cNvSpPr txBox="1"/>
          <p:nvPr/>
        </p:nvSpPr>
        <p:spPr>
          <a:xfrm>
            <a:off x="138989" y="178467"/>
            <a:ext cx="2604211" cy="455574"/>
          </a:xfrm>
          <a:prstGeom prst="rect">
            <a:avLst/>
          </a:prstGeom>
          <a:noFill/>
        </p:spPr>
        <p:txBody>
          <a:bodyPr wrap="square">
            <a:spAutoFit/>
          </a:bodyPr>
          <a:lstStyle/>
          <a:p>
            <a:pPr marL="0" marR="0">
              <a:lnSpc>
                <a:spcPct val="150000"/>
              </a:lnSpc>
              <a:spcAft>
                <a:spcPts val="800"/>
              </a:spcAft>
              <a:buNone/>
            </a:pPr>
            <a:r>
              <a:rPr lang="en-US" b="1" kern="100" dirty="0">
                <a:solidFill>
                  <a:srgbClr val="C00000"/>
                </a:solidFill>
                <a:latin typeface="Tahoma" panose="020B0604030504040204" pitchFamily="34" charset="0"/>
                <a:ea typeface="Arial" panose="020B0604020202020204" pitchFamily="34" charset="0"/>
              </a:rPr>
              <a:t>Group Members</a:t>
            </a:r>
            <a:endParaRPr lang="en-TZ" dirty="0">
              <a:solidFill>
                <a:srgbClr val="C00000"/>
              </a:solidFill>
              <a:effectLst/>
              <a:latin typeface="Arial" panose="020B0604020202020204" pitchFamily="34" charset="0"/>
              <a:ea typeface="Arial" panose="020B0604020202020204" pitchFamily="34" charset="0"/>
            </a:endParaRPr>
          </a:p>
        </p:txBody>
      </p:sp>
      <p:sp>
        <p:nvSpPr>
          <p:cNvPr id="5" name="TextBox 4">
            <a:extLst>
              <a:ext uri="{FF2B5EF4-FFF2-40B4-BE49-F238E27FC236}">
                <a16:creationId xmlns:a16="http://schemas.microsoft.com/office/drawing/2014/main" id="{CE1A8F5A-D947-3B80-B5B0-167E0147C184}"/>
              </a:ext>
            </a:extLst>
          </p:cNvPr>
          <p:cNvSpPr txBox="1"/>
          <p:nvPr/>
        </p:nvSpPr>
        <p:spPr>
          <a:xfrm>
            <a:off x="51206" y="953610"/>
            <a:ext cx="5372100" cy="1877117"/>
          </a:xfrm>
          <a:prstGeom prst="rect">
            <a:avLst/>
          </a:prstGeom>
          <a:noFill/>
        </p:spPr>
        <p:txBody>
          <a:bodyPr wrap="square">
            <a:spAutoFit/>
          </a:bodyPr>
          <a:lstStyle/>
          <a:p>
            <a:pPr marL="0" marR="0">
              <a:lnSpc>
                <a:spcPct val="150000"/>
              </a:lnSpc>
              <a:spcAft>
                <a:spcPts val="800"/>
              </a:spcAft>
              <a:buNone/>
            </a:pPr>
            <a:r>
              <a:rPr lang="en-US" kern="100" dirty="0">
                <a:latin typeface="Tahoma" panose="020B0604030504040204" pitchFamily="34" charset="0"/>
                <a:ea typeface="Arial" panose="020B0604020202020204" pitchFamily="34" charset="0"/>
              </a:rPr>
              <a:t>Student name:      SHIMBO, Hadija Abdulrahmani</a:t>
            </a:r>
          </a:p>
          <a:p>
            <a:pPr marL="0" marR="0">
              <a:lnSpc>
                <a:spcPct val="150000"/>
              </a:lnSpc>
              <a:spcAft>
                <a:spcPts val="800"/>
              </a:spcAft>
              <a:buNone/>
            </a:pPr>
            <a:r>
              <a:rPr lang="en-US" sz="1600" kern="100" dirty="0">
                <a:effectLst/>
                <a:latin typeface="Tahoma" panose="020B0604030504040204" pitchFamily="34" charset="0"/>
                <a:ea typeface="Arial" panose="020B0604020202020204" pitchFamily="34" charset="0"/>
              </a:rPr>
              <a:t>Programme:            Computer Science</a:t>
            </a:r>
          </a:p>
          <a:p>
            <a:pPr marL="0" marR="0">
              <a:lnSpc>
                <a:spcPct val="150000"/>
              </a:lnSpc>
              <a:spcAft>
                <a:spcPts val="800"/>
              </a:spcAft>
              <a:buNone/>
            </a:pPr>
            <a:r>
              <a:rPr lang="en-US" sz="1600" kern="100" dirty="0">
                <a:latin typeface="Tahoma" panose="020B0604030504040204" pitchFamily="34" charset="0"/>
                <a:ea typeface="Arial" panose="020B0604020202020204" pitchFamily="34" charset="0"/>
              </a:rPr>
              <a:t>Registration no:       2025-04-10727</a:t>
            </a:r>
          </a:p>
          <a:p>
            <a:pPr marL="0" marR="0">
              <a:lnSpc>
                <a:spcPct val="150000"/>
              </a:lnSpc>
              <a:spcAft>
                <a:spcPts val="800"/>
              </a:spcAft>
              <a:buNone/>
            </a:pPr>
            <a:r>
              <a:rPr lang="en-US" sz="1600" kern="100" dirty="0">
                <a:effectLst/>
                <a:latin typeface="Tahoma" panose="020B0604030504040204" pitchFamily="34" charset="0"/>
                <a:ea typeface="Arial" panose="020B0604020202020204" pitchFamily="34" charset="0"/>
              </a:rPr>
              <a:t>Gender:                  Female.</a:t>
            </a:r>
            <a:endParaRPr lang="en-TZ" sz="1600" dirty="0">
              <a:effectLst/>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64286BE0-1864-CA9C-9EAC-BBBF311F924B}"/>
              </a:ext>
            </a:extLst>
          </p:cNvPr>
          <p:cNvSpPr txBox="1"/>
          <p:nvPr/>
        </p:nvSpPr>
        <p:spPr>
          <a:xfrm>
            <a:off x="0" y="3256665"/>
            <a:ext cx="5372100" cy="1877117"/>
          </a:xfrm>
          <a:prstGeom prst="rect">
            <a:avLst/>
          </a:prstGeom>
          <a:noFill/>
        </p:spPr>
        <p:txBody>
          <a:bodyPr wrap="square">
            <a:spAutoFit/>
          </a:bodyPr>
          <a:lstStyle/>
          <a:p>
            <a:pPr marL="0" marR="0">
              <a:lnSpc>
                <a:spcPct val="150000"/>
              </a:lnSpc>
              <a:spcAft>
                <a:spcPts val="800"/>
              </a:spcAft>
              <a:buNone/>
            </a:pPr>
            <a:r>
              <a:rPr lang="en-US" kern="100" dirty="0">
                <a:latin typeface="Tahoma" panose="020B0604030504040204" pitchFamily="34" charset="0"/>
                <a:ea typeface="Arial" panose="020B0604020202020204" pitchFamily="34" charset="0"/>
              </a:rPr>
              <a:t>Student name:     IDDI, Abdul Mtugani</a:t>
            </a:r>
          </a:p>
          <a:p>
            <a:pPr marL="0" marR="0">
              <a:lnSpc>
                <a:spcPct val="150000"/>
              </a:lnSpc>
              <a:spcAft>
                <a:spcPts val="800"/>
              </a:spcAft>
              <a:buNone/>
            </a:pPr>
            <a:r>
              <a:rPr lang="en-US" sz="1600" kern="100" dirty="0">
                <a:effectLst/>
                <a:latin typeface="Tahoma" panose="020B0604030504040204" pitchFamily="34" charset="0"/>
                <a:ea typeface="Arial" panose="020B0604020202020204" pitchFamily="34" charset="0"/>
              </a:rPr>
              <a:t>Programme:            Computer Science</a:t>
            </a:r>
          </a:p>
          <a:p>
            <a:pPr marL="0" marR="0">
              <a:lnSpc>
                <a:spcPct val="150000"/>
              </a:lnSpc>
              <a:spcAft>
                <a:spcPts val="800"/>
              </a:spcAft>
              <a:buNone/>
            </a:pPr>
            <a:r>
              <a:rPr lang="en-US" sz="1600" kern="100" dirty="0">
                <a:latin typeface="Tahoma" panose="020B0604030504040204" pitchFamily="34" charset="0"/>
                <a:ea typeface="Arial" panose="020B0604020202020204" pitchFamily="34" charset="0"/>
              </a:rPr>
              <a:t>Registration no:       2025-04-02451</a:t>
            </a:r>
          </a:p>
          <a:p>
            <a:pPr marL="0" marR="0">
              <a:lnSpc>
                <a:spcPct val="150000"/>
              </a:lnSpc>
              <a:spcAft>
                <a:spcPts val="800"/>
              </a:spcAft>
              <a:buNone/>
            </a:pPr>
            <a:r>
              <a:rPr lang="en-US" sz="1600" kern="100" dirty="0">
                <a:effectLst/>
                <a:latin typeface="Tahoma" panose="020B0604030504040204" pitchFamily="34" charset="0"/>
                <a:ea typeface="Arial" panose="020B0604020202020204" pitchFamily="34" charset="0"/>
              </a:rPr>
              <a:t>Gender:                  Male</a:t>
            </a:r>
            <a:endParaRPr lang="en-TZ" sz="1600" dirty="0">
              <a:effectLst/>
              <a:latin typeface="Arial" panose="020B0604020202020204" pitchFamily="34" charset="0"/>
              <a:ea typeface="Arial" panose="020B0604020202020204" pitchFamily="34" charset="0"/>
            </a:endParaRPr>
          </a:p>
        </p:txBody>
      </p:sp>
      <p:sp>
        <p:nvSpPr>
          <p:cNvPr id="7" name="TextBox 6">
            <a:extLst>
              <a:ext uri="{FF2B5EF4-FFF2-40B4-BE49-F238E27FC236}">
                <a16:creationId xmlns:a16="http://schemas.microsoft.com/office/drawing/2014/main" id="{83AD35E0-29D0-900C-ABEC-4C61B9236F68}"/>
              </a:ext>
            </a:extLst>
          </p:cNvPr>
          <p:cNvSpPr txBox="1"/>
          <p:nvPr/>
        </p:nvSpPr>
        <p:spPr>
          <a:xfrm>
            <a:off x="7940866" y="886839"/>
            <a:ext cx="4911939" cy="1877117"/>
          </a:xfrm>
          <a:prstGeom prst="rect">
            <a:avLst/>
          </a:prstGeom>
          <a:noFill/>
        </p:spPr>
        <p:txBody>
          <a:bodyPr wrap="square">
            <a:spAutoFit/>
          </a:bodyPr>
          <a:lstStyle/>
          <a:p>
            <a:pPr marL="0" marR="0">
              <a:lnSpc>
                <a:spcPct val="150000"/>
              </a:lnSpc>
              <a:spcAft>
                <a:spcPts val="800"/>
              </a:spcAft>
              <a:buNone/>
            </a:pPr>
            <a:r>
              <a:rPr lang="en-US" kern="100" dirty="0">
                <a:latin typeface="Tahoma" panose="020B0604030504040204" pitchFamily="34" charset="0"/>
                <a:ea typeface="Arial" panose="020B0604020202020204" pitchFamily="34" charset="0"/>
              </a:rPr>
              <a:t>Student name:         ALLY, Ally Awadh</a:t>
            </a:r>
          </a:p>
          <a:p>
            <a:pPr marL="0" marR="0">
              <a:lnSpc>
                <a:spcPct val="150000"/>
              </a:lnSpc>
              <a:spcAft>
                <a:spcPts val="800"/>
              </a:spcAft>
              <a:buNone/>
            </a:pPr>
            <a:r>
              <a:rPr lang="en-US" sz="1600" kern="100" dirty="0">
                <a:effectLst/>
                <a:latin typeface="Tahoma" panose="020B0604030504040204" pitchFamily="34" charset="0"/>
                <a:ea typeface="Arial" panose="020B0604020202020204" pitchFamily="34" charset="0"/>
              </a:rPr>
              <a:t>Programme:                Computer Science</a:t>
            </a:r>
          </a:p>
          <a:p>
            <a:pPr marL="0" marR="0">
              <a:lnSpc>
                <a:spcPct val="150000"/>
              </a:lnSpc>
              <a:spcAft>
                <a:spcPts val="800"/>
              </a:spcAft>
              <a:buNone/>
            </a:pPr>
            <a:r>
              <a:rPr lang="en-US" sz="1600" kern="100" dirty="0">
                <a:latin typeface="Tahoma" panose="020B0604030504040204" pitchFamily="34" charset="0"/>
                <a:ea typeface="Arial" panose="020B0604020202020204" pitchFamily="34" charset="0"/>
              </a:rPr>
              <a:t>Registration no:           2025-04-00303</a:t>
            </a:r>
          </a:p>
          <a:p>
            <a:pPr marL="0" marR="0">
              <a:lnSpc>
                <a:spcPct val="150000"/>
              </a:lnSpc>
              <a:spcAft>
                <a:spcPts val="800"/>
              </a:spcAft>
              <a:buNone/>
            </a:pPr>
            <a:r>
              <a:rPr lang="en-US" sz="1600" kern="100" dirty="0">
                <a:effectLst/>
                <a:latin typeface="Tahoma" panose="020B0604030504040204" pitchFamily="34" charset="0"/>
                <a:ea typeface="Arial" panose="020B0604020202020204" pitchFamily="34" charset="0"/>
              </a:rPr>
              <a:t>Gender:                       </a:t>
            </a:r>
            <a:r>
              <a:rPr lang="en-US" sz="1600" kern="100" dirty="0">
                <a:latin typeface="Tahoma" panose="020B0604030504040204" pitchFamily="34" charset="0"/>
                <a:ea typeface="Arial" panose="020B0604020202020204" pitchFamily="34" charset="0"/>
              </a:rPr>
              <a:t>M</a:t>
            </a:r>
            <a:r>
              <a:rPr lang="en-US" sz="1600" kern="100" dirty="0">
                <a:effectLst/>
                <a:latin typeface="Tahoma" panose="020B0604030504040204" pitchFamily="34" charset="0"/>
                <a:ea typeface="Arial" panose="020B0604020202020204" pitchFamily="34" charset="0"/>
              </a:rPr>
              <a:t>ale</a:t>
            </a:r>
            <a:endParaRPr lang="en-TZ" sz="1600" dirty="0">
              <a:effectLst/>
              <a:latin typeface="Arial" panose="020B0604020202020204" pitchFamily="34" charset="0"/>
              <a:ea typeface="Arial" panose="020B0604020202020204" pitchFamily="34" charset="0"/>
            </a:endParaRPr>
          </a:p>
        </p:txBody>
      </p:sp>
      <p:sp>
        <p:nvSpPr>
          <p:cNvPr id="8" name="TextBox 7">
            <a:extLst>
              <a:ext uri="{FF2B5EF4-FFF2-40B4-BE49-F238E27FC236}">
                <a16:creationId xmlns:a16="http://schemas.microsoft.com/office/drawing/2014/main" id="{D591B14D-B5FA-CD92-CD47-0B66A732031A}"/>
              </a:ext>
            </a:extLst>
          </p:cNvPr>
          <p:cNvSpPr txBox="1"/>
          <p:nvPr/>
        </p:nvSpPr>
        <p:spPr>
          <a:xfrm>
            <a:off x="7859136" y="3345600"/>
            <a:ext cx="6531768" cy="1877117"/>
          </a:xfrm>
          <a:prstGeom prst="rect">
            <a:avLst/>
          </a:prstGeom>
          <a:noFill/>
        </p:spPr>
        <p:txBody>
          <a:bodyPr wrap="square">
            <a:spAutoFit/>
          </a:bodyPr>
          <a:lstStyle/>
          <a:p>
            <a:pPr marL="0" marR="0">
              <a:lnSpc>
                <a:spcPct val="150000"/>
              </a:lnSpc>
              <a:spcAft>
                <a:spcPts val="800"/>
              </a:spcAft>
              <a:buNone/>
            </a:pPr>
            <a:r>
              <a:rPr lang="en-US" kern="100" dirty="0">
                <a:latin typeface="Tahoma" panose="020B0604030504040204" pitchFamily="34" charset="0"/>
                <a:ea typeface="Arial" panose="020B0604020202020204" pitchFamily="34" charset="0"/>
              </a:rPr>
              <a:t>Student name:           SULEIMANI, Abdulrahmani ahmada</a:t>
            </a:r>
          </a:p>
          <a:p>
            <a:pPr marL="0" marR="0">
              <a:lnSpc>
                <a:spcPct val="150000"/>
              </a:lnSpc>
              <a:spcAft>
                <a:spcPts val="800"/>
              </a:spcAft>
              <a:buNone/>
            </a:pPr>
            <a:r>
              <a:rPr lang="en-US" sz="1600" kern="100" dirty="0">
                <a:effectLst/>
                <a:latin typeface="Tahoma" panose="020B0604030504040204" pitchFamily="34" charset="0"/>
                <a:ea typeface="Arial" panose="020B0604020202020204" pitchFamily="34" charset="0"/>
              </a:rPr>
              <a:t>Programme:                   Computer Science</a:t>
            </a:r>
          </a:p>
          <a:p>
            <a:pPr marL="0" marR="0">
              <a:lnSpc>
                <a:spcPct val="150000"/>
              </a:lnSpc>
              <a:spcAft>
                <a:spcPts val="800"/>
              </a:spcAft>
              <a:buNone/>
            </a:pPr>
            <a:r>
              <a:rPr lang="en-US" sz="1600" kern="100" dirty="0">
                <a:latin typeface="Tahoma" panose="020B0604030504040204" pitchFamily="34" charset="0"/>
                <a:ea typeface="Arial" panose="020B0604020202020204" pitchFamily="34" charset="0"/>
              </a:rPr>
              <a:t>Registration no:              2025-04-11026</a:t>
            </a:r>
          </a:p>
          <a:p>
            <a:pPr marL="0" marR="0">
              <a:lnSpc>
                <a:spcPct val="150000"/>
              </a:lnSpc>
              <a:spcAft>
                <a:spcPts val="800"/>
              </a:spcAft>
              <a:buNone/>
            </a:pPr>
            <a:r>
              <a:rPr lang="en-US" sz="1600" kern="100" dirty="0">
                <a:effectLst/>
                <a:latin typeface="Tahoma" panose="020B0604030504040204" pitchFamily="34" charset="0"/>
                <a:ea typeface="Arial" panose="020B0604020202020204" pitchFamily="34" charset="0"/>
              </a:rPr>
              <a:t>Gender:                         Male</a:t>
            </a:r>
            <a:endParaRPr lang="en-TZ" sz="16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084143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06F02-471E-4322-3F9F-881960475313}"/>
              </a:ext>
            </a:extLst>
          </p:cNvPr>
          <p:cNvSpPr>
            <a:spLocks noGrp="1"/>
          </p:cNvSpPr>
          <p:nvPr>
            <p:ph type="title"/>
          </p:nvPr>
        </p:nvSpPr>
        <p:spPr/>
        <p:txBody>
          <a:bodyPr/>
          <a:lstStyle/>
          <a:p>
            <a:r>
              <a:rPr lang="en-US" dirty="0">
                <a:solidFill>
                  <a:srgbClr val="FF0000"/>
                </a:solidFill>
                <a:latin typeface="Times New Roman" panose="02020603050405020304" pitchFamily="18" charset="0"/>
                <a:cs typeface="Times New Roman" panose="02020603050405020304" pitchFamily="18" charset="0"/>
              </a:rPr>
              <a:t>Contents</a:t>
            </a:r>
            <a:endParaRPr lang="en-TZ"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39C383-1F6C-7CA3-3665-D0B295D8DDCF}"/>
              </a:ext>
            </a:extLst>
          </p:cNvPr>
          <p:cNvSpPr>
            <a:spLocks noGrp="1"/>
          </p:cNvSpPr>
          <p:nvPr>
            <p:ph idx="1"/>
          </p:nvPr>
        </p:nvSpPr>
        <p:spPr>
          <a:xfrm>
            <a:off x="838200" y="1825625"/>
            <a:ext cx="10515600" cy="4480582"/>
          </a:xfrm>
        </p:spPr>
        <p:txBody>
          <a:bodyPr>
            <a:normAutofit/>
          </a:bodyPr>
          <a:lstStyle/>
          <a:p>
            <a:r>
              <a:rPr lang="en-US" dirty="0">
                <a:latin typeface="Times New Roman" panose="02020603050405020304" pitchFamily="18" charset="0"/>
                <a:cs typeface="Times New Roman" panose="02020603050405020304" pitchFamily="18" charset="0"/>
              </a:rPr>
              <a:t>Historical Background of Set Theory in Computer Science</a:t>
            </a:r>
          </a:p>
          <a:p>
            <a:r>
              <a:rPr lang="en-US" dirty="0">
                <a:solidFill>
                  <a:srgbClr val="1A1A2E"/>
                </a:solidFill>
                <a:latin typeface="Times New Roman" panose="02020603050405020304" pitchFamily="18" charset="0"/>
                <a:ea typeface="Calibri" pitchFamily="34" charset="-122"/>
                <a:cs typeface="Times New Roman" panose="02020603050405020304" pitchFamily="18" charset="0"/>
              </a:rPr>
              <a:t>Sets and Their Properties</a:t>
            </a:r>
            <a:endParaRPr lang="en-US" dirty="0">
              <a:latin typeface="Times New Roman" panose="02020603050405020304" pitchFamily="18" charset="0"/>
              <a:cs typeface="Times New Roman" panose="02020603050405020304" pitchFamily="18" charset="0"/>
            </a:endParaRPr>
          </a:p>
          <a:p>
            <a:r>
              <a:rPr lang="en-US" dirty="0">
                <a:solidFill>
                  <a:srgbClr val="1A1A2E"/>
                </a:solidFill>
                <a:latin typeface="Times New Roman" panose="02020603050405020304" pitchFamily="18" charset="0"/>
                <a:ea typeface="Calibri" pitchFamily="34" charset="-122"/>
                <a:cs typeface="Times New Roman" panose="02020603050405020304" pitchFamily="18" charset="0"/>
              </a:rPr>
              <a:t>Set Operations</a:t>
            </a:r>
            <a:endParaRPr lang="en-US" dirty="0">
              <a:latin typeface="Times New Roman" panose="02020603050405020304" pitchFamily="18" charset="0"/>
              <a:cs typeface="Times New Roman" panose="02020603050405020304" pitchFamily="18" charset="0"/>
            </a:endParaRPr>
          </a:p>
          <a:p>
            <a:r>
              <a:rPr lang="en-US" dirty="0">
                <a:solidFill>
                  <a:srgbClr val="1A1A2E"/>
                </a:solidFill>
                <a:latin typeface="Times New Roman" panose="02020603050405020304" pitchFamily="18" charset="0"/>
                <a:ea typeface="Calibri" pitchFamily="34" charset="-122"/>
                <a:cs typeface="Times New Roman" panose="02020603050405020304" pitchFamily="18" charset="0"/>
              </a:rPr>
              <a:t>How Venn Diagrams are used in Set Theory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Relation between </a:t>
            </a:r>
            <a:r>
              <a:rPr lang="en-US" dirty="0">
                <a:solidFill>
                  <a:srgbClr val="1A1A2E"/>
                </a:solidFill>
                <a:latin typeface="Times New Roman" panose="02020603050405020304" pitchFamily="18" charset="0"/>
                <a:ea typeface="Calibri" pitchFamily="34" charset="-122"/>
                <a:cs typeface="Times New Roman" panose="02020603050405020304" pitchFamily="18" charset="0"/>
              </a:rPr>
              <a:t>Set Theory, Boolean Algebra,Propositional Logic and their applications in computer science.</a:t>
            </a:r>
          </a:p>
          <a:p>
            <a:r>
              <a:rPr lang="en-US" dirty="0">
                <a:solidFill>
                  <a:srgbClr val="1A1A2E"/>
                </a:solidFill>
                <a:latin typeface="Times New Roman" panose="02020603050405020304" pitchFamily="18" charset="0"/>
                <a:cs typeface="Times New Roman" panose="02020603050405020304" pitchFamily="18" charset="0"/>
              </a:rPr>
              <a:t>How </a:t>
            </a:r>
            <a:r>
              <a:rPr lang="en-US" dirty="0">
                <a:solidFill>
                  <a:srgbClr val="1A1A2E"/>
                </a:solidFill>
                <a:latin typeface="Calibri" pitchFamily="34" charset="0"/>
                <a:ea typeface="Calibri" pitchFamily="34" charset="-122"/>
                <a:cs typeface="Calibri" pitchFamily="34" charset="-120"/>
              </a:rPr>
              <a:t>Structural Induction is used to prove properties of sets and  recursive data structures.</a:t>
            </a:r>
          </a:p>
          <a:p>
            <a:r>
              <a:rPr lang="en-US" dirty="0">
                <a:solidFill>
                  <a:srgbClr val="1A1A2E"/>
                </a:solidFill>
                <a:latin typeface="Calibri" pitchFamily="34" charset="0"/>
                <a:ea typeface="Calibri" pitchFamily="34" charset="-122"/>
                <a:cs typeface="Calibri" pitchFamily="34" charset="-120"/>
              </a:rPr>
              <a:t>Applications of Sets in Computer Science and Engineering</a:t>
            </a:r>
            <a:endParaRPr lang="en-US" dirty="0"/>
          </a:p>
          <a:p>
            <a:endParaRPr lang="en-US" dirty="0"/>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0619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8824B-CDA3-599C-3665-61955DDAB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C37A5F-9045-595E-8B25-CF06379F7B16}"/>
              </a:ext>
            </a:extLst>
          </p:cNvPr>
          <p:cNvSpPr>
            <a:spLocks noGrp="1"/>
          </p:cNvSpPr>
          <p:nvPr>
            <p:ph type="title"/>
          </p:nvPr>
        </p:nvSpPr>
        <p:spPr/>
        <p:txBody>
          <a:bodyPr/>
          <a:lstStyle/>
          <a:p>
            <a:r>
              <a:rPr lang="en-US" dirty="0">
                <a:solidFill>
                  <a:srgbClr val="FF0000"/>
                </a:solidFill>
                <a:latin typeface="Times New Roman" panose="02020603050405020304" pitchFamily="18" charset="0"/>
                <a:cs typeface="Times New Roman" panose="02020603050405020304" pitchFamily="18" charset="0"/>
              </a:rPr>
              <a:t>Contents...</a:t>
            </a:r>
            <a:endParaRPr lang="en-TZ"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FA62E2-C0DC-66C3-07BD-3570054D4CC3}"/>
              </a:ext>
            </a:extLst>
          </p:cNvPr>
          <p:cNvSpPr>
            <a:spLocks noGrp="1"/>
          </p:cNvSpPr>
          <p:nvPr>
            <p:ph idx="1"/>
          </p:nvPr>
        </p:nvSpPr>
        <p:spPr>
          <a:xfrm>
            <a:off x="838200" y="1825625"/>
            <a:ext cx="10515600" cy="4480582"/>
          </a:xfrm>
        </p:spPr>
        <p:txBody>
          <a:bodyPr>
            <a:normAutofit/>
          </a:bodyPr>
          <a:lstStyle/>
          <a:p>
            <a:r>
              <a:rPr lang="en-US" dirty="0">
                <a:solidFill>
                  <a:srgbClr val="1A1A2E"/>
                </a:solidFill>
                <a:latin typeface="Times New Roman" panose="02020603050405020304" pitchFamily="18" charset="0"/>
                <a:ea typeface="Calibri" pitchFamily="34" charset="-122"/>
                <a:cs typeface="Times New Roman" panose="02020603050405020304" pitchFamily="18" charset="0"/>
              </a:rPr>
              <a:t>Examples of data types suitable for sets in computer programming</a:t>
            </a:r>
          </a:p>
          <a:p>
            <a:r>
              <a:rPr lang="en-US" dirty="0">
                <a:solidFill>
                  <a:srgbClr val="1A1A2E"/>
                </a:solidFill>
                <a:latin typeface="Times New Roman" panose="02020603050405020304" pitchFamily="18" charset="0"/>
                <a:ea typeface="Calibri" pitchFamily="34" charset="-122"/>
                <a:cs typeface="Times New Roman" panose="02020603050405020304" pitchFamily="18" charset="0"/>
              </a:rPr>
              <a:t>Advantages of Sets on their application in Computer Science</a:t>
            </a:r>
          </a:p>
          <a:p>
            <a:r>
              <a:rPr lang="en-US" dirty="0" err="1">
                <a:solidFill>
                  <a:srgbClr val="1A1A2E"/>
                </a:solidFill>
                <a:latin typeface="Times New Roman" panose="02020603050405020304" pitchFamily="18" charset="0"/>
                <a:ea typeface="Calibri" pitchFamily="34" charset="-122"/>
                <a:cs typeface="Times New Roman" panose="02020603050405020304" pitchFamily="18" charset="0"/>
              </a:rPr>
              <a:t>Disdvantages</a:t>
            </a:r>
            <a:r>
              <a:rPr lang="en-US" dirty="0">
                <a:solidFill>
                  <a:srgbClr val="1A1A2E"/>
                </a:solidFill>
                <a:latin typeface="Times New Roman" panose="02020603050405020304" pitchFamily="18" charset="0"/>
                <a:ea typeface="Calibri" pitchFamily="34" charset="-122"/>
                <a:cs typeface="Times New Roman" panose="02020603050405020304" pitchFamily="18" charset="0"/>
              </a:rPr>
              <a:t> of Sets on their application in Computer Science</a:t>
            </a:r>
          </a:p>
          <a:p>
            <a:r>
              <a:rPr lang="en-US" dirty="0">
                <a:solidFill>
                  <a:srgbClr val="1A1A2E"/>
                </a:solidFill>
                <a:latin typeface="Times New Roman" panose="02020603050405020304" pitchFamily="18" charset="0"/>
                <a:ea typeface="Calibri" pitchFamily="34" charset="-122"/>
                <a:cs typeface="Times New Roman" panose="02020603050405020304" pitchFamily="18" charset="0"/>
              </a:rPr>
              <a:t>Limitations of Set Theory in Computer Science and Engineering</a:t>
            </a:r>
            <a:endParaRPr lang="en-US" dirty="0">
              <a:latin typeface="Times New Roman" panose="02020603050405020304" pitchFamily="18" charset="0"/>
              <a:cs typeface="Times New Roman" panose="02020603050405020304" pitchFamily="18" charset="0"/>
            </a:endParaRPr>
          </a:p>
          <a:p>
            <a:endParaRPr lang="en-US" dirty="0">
              <a:solidFill>
                <a:srgbClr val="1A1A2E"/>
              </a:solidFill>
              <a:latin typeface="Times New Roman" panose="02020603050405020304" pitchFamily="18" charset="0"/>
              <a:ea typeface="Calibri" pitchFamily="34" charset="-122"/>
              <a:cs typeface="Times New Roman" panose="02020603050405020304" pitchFamily="18" charset="0"/>
            </a:endParaRPr>
          </a:p>
          <a:p>
            <a:endParaRPr lang="en-US" dirty="0">
              <a:solidFill>
                <a:srgbClr val="1A1A2E"/>
              </a:solidFill>
              <a:latin typeface="Times New Roman" panose="02020603050405020304" pitchFamily="18" charset="0"/>
              <a:ea typeface="Calibri" pitchFamily="34" charset="-122"/>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1514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D77C4-1077-CB87-8D05-3A612B657BE3}"/>
              </a:ext>
            </a:extLst>
          </p:cNvPr>
          <p:cNvSpPr>
            <a:spLocks noGrp="1"/>
          </p:cNvSpPr>
          <p:nvPr>
            <p:ph type="title"/>
          </p:nvPr>
        </p:nvSpPr>
        <p:spPr>
          <a:xfrm>
            <a:off x="641268" y="543255"/>
            <a:ext cx="11198430" cy="1404298"/>
          </a:xfrm>
        </p:spPr>
        <p:txBody>
          <a:bodyPr>
            <a:normAutofit fontScale="90000"/>
          </a:bodyPr>
          <a:lstStyle/>
          <a:p>
            <a:r>
              <a:rPr lang="en-US" b="1" dirty="0">
                <a:solidFill>
                  <a:srgbClr val="FFFFFF"/>
                </a:solidFill>
                <a:latin typeface="Georgia" pitchFamily="34" charset="0"/>
                <a:ea typeface="Georgia" pitchFamily="34" charset="-122"/>
                <a:cs typeface="Georgia" pitchFamily="34" charset="-120"/>
              </a:rPr>
              <a:t>Georg Cantor: The Father of Set Theory </a:t>
            </a:r>
            <a:r>
              <a:rPr lang="en-US" dirty="0">
                <a:solidFill>
                  <a:srgbClr val="FF0000"/>
                </a:solidFill>
                <a:latin typeface="Times New Roman" panose="02020603050405020304" pitchFamily="18" charset="0"/>
                <a:cs typeface="Times New Roman" panose="02020603050405020304" pitchFamily="18" charset="0"/>
              </a:rPr>
              <a:t>Historical Background of Set Theory in Computer Science</a:t>
            </a:r>
            <a:br>
              <a:rPr lang="en-US" dirty="0">
                <a:latin typeface="Times New Roman" panose="02020603050405020304" pitchFamily="18" charset="0"/>
                <a:cs typeface="Times New Roman" panose="02020603050405020304" pitchFamily="18" charset="0"/>
              </a:rPr>
            </a:br>
            <a:r>
              <a:rPr lang="en-US" b="1" dirty="0">
                <a:solidFill>
                  <a:srgbClr val="FFFFFF"/>
                </a:solidFill>
                <a:latin typeface="Georgia" pitchFamily="34" charset="0"/>
                <a:ea typeface="Georgia" pitchFamily="34" charset="-122"/>
                <a:cs typeface="Georgia" pitchFamily="34" charset="-120"/>
              </a:rPr>
              <a:t>1918)</a:t>
            </a:r>
            <a:br>
              <a:rPr lang="en-US" dirty="0"/>
            </a:br>
            <a:r>
              <a:rPr lang="en-US" b="1" dirty="0">
                <a:latin typeface="Times New Roman" panose="02020603050405020304" pitchFamily="18" charset="0"/>
                <a:cs typeface="Times New Roman" panose="02020603050405020304" pitchFamily="18" charset="0"/>
              </a:rPr>
              <a:t>The Father of Set Theory (1874–1897)</a:t>
            </a:r>
            <a:endParaRPr lang="en-T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AE1E7D-7426-C105-80B1-4C342B2DFEB3}"/>
              </a:ext>
            </a:extLst>
          </p:cNvPr>
          <p:cNvSpPr>
            <a:spLocks noGrp="1"/>
          </p:cNvSpPr>
          <p:nvPr>
            <p:ph idx="1"/>
          </p:nvPr>
        </p:nvSpPr>
        <p:spPr>
          <a:xfrm>
            <a:off x="641268" y="3036093"/>
            <a:ext cx="11033165" cy="3658137"/>
          </a:xfrm>
        </p:spPr>
        <p:txBody>
          <a:bodyPr>
            <a:normAutofit/>
          </a:bodyPr>
          <a:lstStyle/>
          <a:p>
            <a:r>
              <a:rPr lang="en-US" dirty="0"/>
              <a:t>A German mathematician called</a:t>
            </a:r>
            <a:r>
              <a:rPr lang="en-US" b="1" dirty="0"/>
              <a:t> Georg cantor </a:t>
            </a:r>
            <a:r>
              <a:rPr lang="en-US" dirty="0"/>
              <a:t>who single-handedly created Set Theory between 1874 and 1897.</a:t>
            </a:r>
          </a:p>
          <a:p>
            <a:r>
              <a:rPr lang="en-US" dirty="0"/>
              <a:t>Key Contributions </a:t>
            </a:r>
          </a:p>
          <a:p>
            <a:pPr lvl="1">
              <a:buFont typeface="Wingdings" panose="05000000000000000000" pitchFamily="2" charset="2"/>
              <a:buChar char="§"/>
            </a:pPr>
            <a:r>
              <a:rPr lang="en-US" dirty="0"/>
              <a:t>Defined the concept of a set as a collection of distinct objects.</a:t>
            </a:r>
          </a:p>
          <a:p>
            <a:pPr lvl="1">
              <a:buFont typeface="Wingdings" panose="05000000000000000000" pitchFamily="2" charset="2"/>
              <a:buChar char="§"/>
            </a:pPr>
            <a:r>
              <a:rPr lang="en-US" dirty="0"/>
              <a:t>Proved that infinite sets have different sizes (cardinalities)</a:t>
            </a:r>
          </a:p>
          <a:p>
            <a:pPr lvl="1">
              <a:buFont typeface="Wingdings" panose="05000000000000000000" pitchFamily="2" charset="2"/>
              <a:buChar char="§"/>
            </a:pPr>
            <a:r>
              <a:rPr lang="en-US" dirty="0"/>
              <a:t>Introduced the concept of 1-to-1 correspondence</a:t>
            </a:r>
          </a:p>
          <a:p>
            <a:pPr lvl="1">
              <a:buFont typeface="Wingdings" panose="05000000000000000000" pitchFamily="2" charset="2"/>
              <a:buChar char="§"/>
            </a:pPr>
            <a:r>
              <a:rPr lang="en-US" dirty="0"/>
              <a:t>Proved the real numbers are uncountable (Cantor's diagonal argument)</a:t>
            </a:r>
          </a:p>
          <a:p>
            <a:pPr lvl="1">
              <a:buFont typeface="Wingdings" panose="05000000000000000000" pitchFamily="2" charset="2"/>
              <a:buChar char="§"/>
            </a:pPr>
            <a:r>
              <a:rPr lang="en-US" dirty="0"/>
              <a:t>Defined transfinite numbers and cardinal arithmetic</a:t>
            </a:r>
          </a:p>
          <a:p>
            <a:pPr marL="0" indent="0">
              <a:buNone/>
            </a:pPr>
            <a:endParaRPr lang="en-TZ" dirty="0"/>
          </a:p>
        </p:txBody>
      </p:sp>
    </p:spTree>
    <p:extLst>
      <p:ext uri="{BB962C8B-B14F-4D97-AF65-F5344CB8AC3E}">
        <p14:creationId xmlns:p14="http://schemas.microsoft.com/office/powerpoint/2010/main" val="4071569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7EAF4-987C-0E25-BBB2-37D1C11F3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99035-EC3D-8876-F689-5BAF870329AC}"/>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Russell's Paradox and the Crisis of Set Theory</a:t>
            </a:r>
            <a:br>
              <a:rPr lang="en-US" b="1" dirty="0">
                <a:latin typeface="Times New Roman" panose="02020603050405020304" pitchFamily="18" charset="0"/>
                <a:cs typeface="Times New Roman" panose="02020603050405020304" pitchFamily="18" charset="0"/>
              </a:rPr>
            </a:br>
            <a:endParaRPr lang="en-T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05845F-6371-97E6-93E1-210081DC9A6D}"/>
              </a:ext>
            </a:extLst>
          </p:cNvPr>
          <p:cNvSpPr>
            <a:spLocks noGrp="1"/>
          </p:cNvSpPr>
          <p:nvPr>
            <p:ph idx="1"/>
          </p:nvPr>
        </p:nvSpPr>
        <p:spPr/>
        <p:txBody>
          <a:bodyPr/>
          <a:lstStyle/>
          <a:p>
            <a:r>
              <a:rPr lang="en-US" i="1" dirty="0">
                <a:solidFill>
                  <a:srgbClr val="1A1A2E"/>
                </a:solidFill>
                <a:latin typeface="Calibri" pitchFamily="34" charset="0"/>
                <a:ea typeface="Calibri" pitchFamily="34" charset="-122"/>
                <a:cs typeface="Calibri" pitchFamily="34" charset="-120"/>
              </a:rPr>
              <a:t>In 1901, philosopher Bertrand Russell discovered a fundamental problem in Cantor's naive set theory.</a:t>
            </a:r>
          </a:p>
          <a:p>
            <a:pPr marL="0" indent="0">
              <a:buNone/>
            </a:pPr>
            <a:endParaRPr lang="en-US" i="1" dirty="0">
              <a:solidFill>
                <a:srgbClr val="1A1A2E"/>
              </a:solidFill>
              <a:latin typeface="Calibri" pitchFamily="34" charset="0"/>
              <a:ea typeface="Calibri" pitchFamily="34" charset="-122"/>
              <a:cs typeface="Calibri" pitchFamily="34" charset="-120"/>
            </a:endParaRPr>
          </a:p>
          <a:p>
            <a:r>
              <a:rPr lang="en-US" b="1" dirty="0">
                <a:latin typeface="Georgia" pitchFamily="34" charset="0"/>
                <a:ea typeface="Georgia" pitchFamily="34" charset="-122"/>
                <a:cs typeface="Georgia" pitchFamily="34" charset="-120"/>
              </a:rPr>
              <a:t>Russell's Paradox stated that;</a:t>
            </a:r>
          </a:p>
          <a:p>
            <a:pPr marL="457200" lvl="1" indent="0">
              <a:buNone/>
            </a:pPr>
            <a:r>
              <a:rPr lang="en-US" dirty="0"/>
              <a:t>Consider the set R of all sets that do NOT contain themselves as members.</a:t>
            </a:r>
          </a:p>
          <a:p>
            <a:pPr marL="457200" lvl="1" indent="0">
              <a:buNone/>
            </a:pPr>
            <a:r>
              <a:rPr lang="en-US" dirty="0"/>
              <a:t>Does R contain itself? If YES, it shouldn't. If NO, it </a:t>
            </a:r>
            <a:r>
              <a:rPr lang="en-US" dirty="0" err="1"/>
              <a:t>should.Contradiction</a:t>
            </a:r>
            <a:r>
              <a:rPr lang="en-US" dirty="0"/>
              <a:t>!</a:t>
            </a:r>
          </a:p>
          <a:p>
            <a:pPr marL="0" indent="0">
              <a:buNone/>
            </a:pPr>
            <a:endParaRPr lang="en-US" dirty="0"/>
          </a:p>
          <a:p>
            <a:endParaRPr lang="en-US" dirty="0"/>
          </a:p>
          <a:p>
            <a:endParaRPr lang="en-TZ" dirty="0"/>
          </a:p>
        </p:txBody>
      </p:sp>
    </p:spTree>
    <p:extLst>
      <p:ext uri="{BB962C8B-B14F-4D97-AF65-F5344CB8AC3E}">
        <p14:creationId xmlns:p14="http://schemas.microsoft.com/office/powerpoint/2010/main" val="3351012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0F8CB-2007-66FC-65A6-059606A73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C0AAE-1ABF-ADDA-343B-69584121250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The Resolution</a:t>
            </a:r>
            <a:endParaRPr lang="en-T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0D19CE-2519-CBF9-83CD-60F99C0EA19A}"/>
              </a:ext>
            </a:extLst>
          </p:cNvPr>
          <p:cNvSpPr>
            <a:spLocks noGrp="1"/>
          </p:cNvSpPr>
          <p:nvPr>
            <p:ph idx="1"/>
          </p:nvPr>
        </p:nvSpPr>
        <p:spPr/>
        <p:txBody>
          <a:bodyP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Zermelo-Fraenkel (ZF) Axioms</a:t>
            </a:r>
            <a:endParaRPr lang="en-US" dirty="0">
              <a:latin typeface="Times New Roman" panose="02020603050405020304" pitchFamily="18" charset="0"/>
              <a:ea typeface="Calibri" pitchFamily="34" charset="-122"/>
              <a:cs typeface="Times New Roman" panose="02020603050405020304" pitchFamily="18" charset="0"/>
            </a:endParaRPr>
          </a:p>
          <a:p>
            <a:r>
              <a:rPr lang="en-US" dirty="0">
                <a:latin typeface="Times New Roman" panose="02020603050405020304" pitchFamily="18" charset="0"/>
                <a:ea typeface="Calibri" pitchFamily="34" charset="-122"/>
                <a:cs typeface="Times New Roman" panose="02020603050405020304" pitchFamily="18" charset="0"/>
              </a:rPr>
              <a:t>Ernst </a:t>
            </a:r>
            <a:r>
              <a:rPr lang="en-US" dirty="0" err="1">
                <a:latin typeface="Times New Roman" panose="02020603050405020304" pitchFamily="18" charset="0"/>
                <a:ea typeface="Calibri" pitchFamily="34" charset="-122"/>
                <a:cs typeface="Times New Roman" panose="02020603050405020304" pitchFamily="18" charset="0"/>
              </a:rPr>
              <a:t>Zermelo</a:t>
            </a:r>
            <a:r>
              <a:rPr lang="en-US" dirty="0">
                <a:latin typeface="Times New Roman" panose="02020603050405020304" pitchFamily="18" charset="0"/>
                <a:ea typeface="Calibri" pitchFamily="34" charset="-122"/>
                <a:cs typeface="Times New Roman" panose="02020603050405020304" pitchFamily="18" charset="0"/>
              </a:rPr>
              <a:t> (1908) and Abraham Fraenkel restructured set theory with strict axioms, eliminating paradoxes by restricting how sets can be formed.</a:t>
            </a: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Calibri" pitchFamily="34" charset="0"/>
                <a:ea typeface="Calibri" pitchFamily="34" charset="-122"/>
                <a:cs typeface="Calibri" pitchFamily="34" charset="-120"/>
              </a:rPr>
              <a:t>Type Theory (Russell/Whitehead)</a:t>
            </a:r>
            <a:endParaRPr lang="en-US" dirty="0"/>
          </a:p>
          <a:p>
            <a:pPr marL="0" indent="0">
              <a:buNone/>
            </a:pPr>
            <a:r>
              <a:rPr lang="en-US" dirty="0">
                <a:latin typeface="Calibri" pitchFamily="34" charset="0"/>
                <a:ea typeface="Calibri" pitchFamily="34" charset="-122"/>
                <a:cs typeface="Calibri" pitchFamily="34" charset="-120"/>
              </a:rPr>
              <a:t>Russell's own response , he hierarchies of types prevent a set from referring to itself.</a:t>
            </a:r>
            <a:endParaRPr lang="en-US" dirty="0"/>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2296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EFFB6-0DAE-5B46-7D08-45E3C8F22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A0A24-9582-45ED-9CCC-8DD0F39CE1BA}"/>
              </a:ext>
            </a:extLst>
          </p:cNvPr>
          <p:cNvSpPr>
            <a:spLocks noGrp="1"/>
          </p:cNvSpPr>
          <p:nvPr>
            <p:ph type="title"/>
          </p:nvPr>
        </p:nvSpPr>
        <p:spPr/>
        <p:txBody>
          <a:bodyPr/>
          <a:lstStyle/>
          <a:p>
            <a:r>
              <a:rPr lang="sw-KE" b="1" dirty="0">
                <a:latin typeface="Times New Roman" panose="02020603050405020304" pitchFamily="18" charset="0"/>
                <a:cs typeface="Times New Roman" panose="02020603050405020304" pitchFamily="18" charset="0"/>
              </a:rPr>
              <a:t>Zermelo-Fraenkel Axiomatic Set Theory</a:t>
            </a:r>
            <a:br>
              <a:rPr lang="sw-KE" b="1" dirty="0">
                <a:latin typeface="Times New Roman" panose="02020603050405020304" pitchFamily="18" charset="0"/>
                <a:cs typeface="Times New Roman" panose="02020603050405020304" pitchFamily="18" charset="0"/>
              </a:rPr>
            </a:br>
            <a:endParaRPr lang="en-T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4E4750-B9B8-4B41-9EEC-A7B5FB423010}"/>
              </a:ext>
            </a:extLst>
          </p:cNvPr>
          <p:cNvSpPr>
            <a:spLocks noGrp="1"/>
          </p:cNvSpPr>
          <p:nvPr>
            <p:ph idx="1"/>
          </p:nvPr>
        </p:nvSpPr>
        <p:spPr/>
        <p:txBody>
          <a:bodyPr>
            <a:normAutofit/>
          </a:bodyPr>
          <a:lstStyle/>
          <a:p>
            <a:r>
              <a:rPr lang="en-US" dirty="0">
                <a:solidFill>
                  <a:srgbClr val="1A1A2E"/>
                </a:solidFill>
                <a:latin typeface="Calibri" pitchFamily="34" charset="0"/>
                <a:ea typeface="Calibri" pitchFamily="34" charset="-122"/>
                <a:cs typeface="Calibri" pitchFamily="34" charset="-120"/>
              </a:rPr>
              <a:t>ZF set theory (with the Axiom of Choice = ZFC) is the standard foundation for all modern mathematics and CS.</a:t>
            </a:r>
          </a:p>
          <a:p>
            <a:pPr lvl="1"/>
            <a:r>
              <a:rPr lang="en-US" dirty="0">
                <a:solidFill>
                  <a:srgbClr val="1A1A2E"/>
                </a:solidFill>
                <a:latin typeface="Calibri" pitchFamily="34" charset="0"/>
                <a:cs typeface="Calibri" pitchFamily="34" charset="-120"/>
              </a:rPr>
              <a:t>Extensionality</a:t>
            </a:r>
          </a:p>
          <a:p>
            <a:pPr lvl="1"/>
            <a:r>
              <a:rPr lang="en-US" dirty="0">
                <a:solidFill>
                  <a:srgbClr val="1A1A2E"/>
                </a:solidFill>
                <a:latin typeface="Calibri" pitchFamily="34" charset="0"/>
                <a:cs typeface="Calibri" pitchFamily="34" charset="-120"/>
              </a:rPr>
              <a:t>Empty set</a:t>
            </a:r>
          </a:p>
          <a:p>
            <a:pPr lvl="1"/>
            <a:r>
              <a:rPr lang="en-US" dirty="0">
                <a:solidFill>
                  <a:srgbClr val="1A1A2E"/>
                </a:solidFill>
                <a:latin typeface="Calibri" pitchFamily="34" charset="0"/>
                <a:cs typeface="Calibri" pitchFamily="34" charset="-120"/>
              </a:rPr>
              <a:t>Pairing</a:t>
            </a:r>
          </a:p>
          <a:p>
            <a:pPr lvl="1"/>
            <a:r>
              <a:rPr lang="en-US" dirty="0">
                <a:solidFill>
                  <a:srgbClr val="1A1A2E"/>
                </a:solidFill>
                <a:latin typeface="Calibri" pitchFamily="34" charset="0"/>
                <a:cs typeface="Calibri" pitchFamily="34" charset="-120"/>
              </a:rPr>
              <a:t>Union</a:t>
            </a:r>
          </a:p>
          <a:p>
            <a:pPr lvl="1"/>
            <a:r>
              <a:rPr lang="en-US" dirty="0">
                <a:solidFill>
                  <a:srgbClr val="1A1A2E"/>
                </a:solidFill>
                <a:latin typeface="Calibri" pitchFamily="34" charset="0"/>
                <a:cs typeface="Calibri" pitchFamily="34" charset="-120"/>
              </a:rPr>
              <a:t>Power set</a:t>
            </a:r>
          </a:p>
          <a:p>
            <a:pPr lvl="1"/>
            <a:r>
              <a:rPr lang="en-US" dirty="0">
                <a:solidFill>
                  <a:srgbClr val="1A1A2E"/>
                </a:solidFill>
                <a:latin typeface="Calibri" pitchFamily="34" charset="0"/>
                <a:cs typeface="Calibri" pitchFamily="34" charset="-120"/>
              </a:rPr>
              <a:t>Infinity</a:t>
            </a:r>
          </a:p>
          <a:p>
            <a:pPr lvl="1"/>
            <a:r>
              <a:rPr lang="en-US" dirty="0">
                <a:solidFill>
                  <a:srgbClr val="1A1A2E"/>
                </a:solidFill>
                <a:latin typeface="Calibri" pitchFamily="34" charset="0"/>
                <a:cs typeface="Calibri" pitchFamily="34" charset="-120"/>
              </a:rPr>
              <a:t>Regularity</a:t>
            </a:r>
            <a:endParaRPr lang="en-TZ" dirty="0"/>
          </a:p>
        </p:txBody>
      </p:sp>
    </p:spTree>
    <p:extLst>
      <p:ext uri="{BB962C8B-B14F-4D97-AF65-F5344CB8AC3E}">
        <p14:creationId xmlns:p14="http://schemas.microsoft.com/office/powerpoint/2010/main" val="2312559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BB740-497B-563E-C06D-688F19922A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16DB0-1462-5C68-0A50-9D4D9C52650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Set Theory enters Computer Science</a:t>
            </a:r>
            <a:br>
              <a:rPr lang="en-US" b="1" dirty="0">
                <a:latin typeface="Times New Roman" panose="02020603050405020304" pitchFamily="18" charset="0"/>
                <a:cs typeface="Times New Roman" panose="02020603050405020304" pitchFamily="18" charset="0"/>
              </a:rPr>
            </a:br>
            <a:endParaRPr lang="en-T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C4EEF00-4F41-B115-52C3-91F1692B9486}"/>
              </a:ext>
            </a:extLst>
          </p:cNvPr>
          <p:cNvSpPr>
            <a:spLocks noGrp="1"/>
          </p:cNvSpPr>
          <p:nvPr>
            <p:ph idx="1"/>
          </p:nvPr>
        </p:nvSpPr>
        <p:spPr/>
        <p:txBody>
          <a:bodyPr>
            <a:normAutofit/>
          </a:bodyPr>
          <a:lstStyle/>
          <a:p>
            <a:r>
              <a:rPr lang="en-US" i="1" dirty="0">
                <a:latin typeface="Times New Roman" panose="02020603050405020304" pitchFamily="18" charset="0"/>
                <a:ea typeface="Calibri" pitchFamily="34" charset="-122"/>
                <a:cs typeface="Times New Roman" panose="02020603050405020304" pitchFamily="18" charset="0"/>
              </a:rPr>
              <a:t>Set Theory became central to Computer Science in the 20th century through multiple pathways:</a:t>
            </a:r>
          </a:p>
          <a:p>
            <a:r>
              <a:rPr lang="en-US" dirty="0">
                <a:latin typeface="Times New Roman" panose="02020603050405020304" pitchFamily="18" charset="0"/>
                <a:ea typeface="Calibri" pitchFamily="34" charset="-122"/>
                <a:cs typeface="Times New Roman" panose="02020603050405020304" pitchFamily="18" charset="0"/>
              </a:rPr>
              <a:t>1930s , Alan Turing &amp; Kurt Gödel.</a:t>
            </a:r>
          </a:p>
          <a:p>
            <a:pPr marL="0" indent="0">
              <a:buNone/>
            </a:pPr>
            <a:r>
              <a:rPr lang="en-US" dirty="0">
                <a:latin typeface="Times New Roman" panose="02020603050405020304" pitchFamily="18" charset="0"/>
                <a:ea typeface="Calibri" pitchFamily="34" charset="-122"/>
                <a:cs typeface="Times New Roman" panose="02020603050405020304" pitchFamily="18" charset="0"/>
              </a:rPr>
              <a:t>Gödel's incompleteness theorems used sets of formal statements. Turing's model of computation was built on set-theoretic foundations.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ea typeface="Calibri" pitchFamily="34" charset="-122"/>
              <a:cs typeface="Times New Roman" panose="02020603050405020304" pitchFamily="18" charset="0"/>
            </a:endParaRPr>
          </a:p>
          <a:p>
            <a:r>
              <a:rPr lang="en-US" dirty="0">
                <a:latin typeface="Times New Roman" panose="02020603050405020304" pitchFamily="18" charset="0"/>
                <a:ea typeface="Calibri" pitchFamily="34" charset="-122"/>
                <a:cs typeface="Times New Roman" panose="02020603050405020304" pitchFamily="18" charset="0"/>
              </a:rPr>
              <a:t>1940s, john Von Neumann.</a:t>
            </a:r>
          </a:p>
          <a:p>
            <a:pPr marL="0" indent="0">
              <a:buNone/>
            </a:pPr>
            <a:r>
              <a:rPr lang="en-US" dirty="0">
                <a:latin typeface="Times New Roman" panose="02020603050405020304" pitchFamily="18" charset="0"/>
                <a:ea typeface="Calibri" pitchFamily="34" charset="-122"/>
                <a:cs typeface="Times New Roman" panose="02020603050405020304" pitchFamily="18" charset="0"/>
              </a:rPr>
              <a:t>Designed computer architecture based on sets of instructions and data. Also contributed to axiomatic set theory.</a:t>
            </a:r>
          </a:p>
          <a:p>
            <a:endParaRPr lang="en-US" dirty="0">
              <a:latin typeface="Times New Roman" panose="02020603050405020304" pitchFamily="18" charset="0"/>
              <a:ea typeface="Calibri" pitchFamily="34" charset="-122"/>
              <a:cs typeface="Times New Roman" panose="02020603050405020304" pitchFamily="18" charset="0"/>
            </a:endParaRP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1761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AABAD-2757-053C-EF5A-99B38AF282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FDCDE7-CC23-5856-CEC2-564B0BF05EF1}"/>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6AEAD9B6-4551-0ECF-32F4-0E798F99B0C5}"/>
              </a:ext>
            </a:extLst>
          </p:cNvPr>
          <p:cNvSpPr>
            <a:spLocks noGrp="1"/>
          </p:cNvSpPr>
          <p:nvPr>
            <p:ph idx="1"/>
          </p:nvPr>
        </p:nvSpPr>
        <p:spPr/>
        <p:txBody>
          <a:bodyPr/>
          <a:lstStyle/>
          <a:p>
            <a:r>
              <a:rPr lang="en-US" dirty="0">
                <a:latin typeface="Times New Roman" panose="02020603050405020304" pitchFamily="18" charset="0"/>
                <a:ea typeface="Calibri" pitchFamily="34" charset="-122"/>
                <a:cs typeface="Times New Roman" panose="02020603050405020304" pitchFamily="18" charset="0"/>
              </a:rPr>
              <a:t>1950s, Database theory.</a:t>
            </a:r>
          </a:p>
          <a:p>
            <a:pPr marL="0" indent="0">
              <a:buNone/>
            </a:pPr>
            <a:r>
              <a:rPr lang="en-US" dirty="0">
                <a:latin typeface="Times New Roman" panose="02020603050405020304" pitchFamily="18" charset="0"/>
                <a:ea typeface="Calibri" pitchFamily="34" charset="-122"/>
                <a:cs typeface="Times New Roman" panose="02020603050405020304" pitchFamily="18" charset="0"/>
              </a:rPr>
              <a:t>Edgar Codd (IBM) founded relational database theory using sets — every database table IS a set of tuples.</a:t>
            </a:r>
          </a:p>
          <a:p>
            <a:r>
              <a:rPr lang="en-US" dirty="0">
                <a:latin typeface="Times New Roman" panose="02020603050405020304" pitchFamily="18" charset="0"/>
                <a:ea typeface="Calibri" pitchFamily="34" charset="-122"/>
                <a:cs typeface="Times New Roman" panose="02020603050405020304" pitchFamily="18" charset="0"/>
              </a:rPr>
              <a:t>1960s, Programming Languages.</a:t>
            </a:r>
          </a:p>
          <a:p>
            <a:pPr marL="0" indent="0">
              <a:buNone/>
            </a:pPr>
            <a:r>
              <a:rPr lang="en-US" dirty="0">
                <a:latin typeface="Times New Roman" panose="02020603050405020304" pitchFamily="18" charset="0"/>
                <a:ea typeface="Calibri" pitchFamily="34" charset="-122"/>
                <a:cs typeface="Times New Roman" panose="02020603050405020304" pitchFamily="18" charset="0"/>
              </a:rPr>
              <a:t>Type systems in programming languages are based on set theory. A data type defines the SET of valid values a variable can hold.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ea typeface="Calibri" pitchFamily="34" charset="-122"/>
                <a:cs typeface="Times New Roman" panose="02020603050405020304" pitchFamily="18" charset="0"/>
              </a:rPr>
              <a:t>1970s ,Formal Verification.</a:t>
            </a:r>
          </a:p>
          <a:p>
            <a:pPr marL="0" indent="0">
              <a:buNone/>
            </a:pPr>
            <a:r>
              <a:rPr lang="en-US" dirty="0">
                <a:latin typeface="Times New Roman" panose="02020603050405020304" pitchFamily="18" charset="0"/>
                <a:ea typeface="Calibri" pitchFamily="34" charset="-122"/>
                <a:cs typeface="Times New Roman" panose="02020603050405020304" pitchFamily="18" charset="0"/>
              </a:rPr>
              <a:t>CS researchers used sets and logic to formally prove programs correct, building on Cantor and </a:t>
            </a:r>
            <a:r>
              <a:rPr lang="en-US" dirty="0" err="1">
                <a:latin typeface="Times New Roman" panose="02020603050405020304" pitchFamily="18" charset="0"/>
                <a:ea typeface="Calibri" pitchFamily="34" charset="-122"/>
                <a:cs typeface="Times New Roman" panose="02020603050405020304" pitchFamily="18" charset="0"/>
              </a:rPr>
              <a:t>Zermelo's</a:t>
            </a:r>
            <a:r>
              <a:rPr lang="en-US" dirty="0">
                <a:latin typeface="Times New Roman" panose="02020603050405020304" pitchFamily="18" charset="0"/>
                <a:ea typeface="Calibri" pitchFamily="34" charset="-122"/>
                <a:cs typeface="Times New Roman" panose="02020603050405020304" pitchFamily="18" charset="0"/>
              </a:rPr>
              <a:t> foundations.</a:t>
            </a:r>
            <a:endParaRPr lang="en-US" dirty="0">
              <a:latin typeface="Times New Roman" panose="02020603050405020304" pitchFamily="18" charset="0"/>
              <a:cs typeface="Times New Roman" panose="02020603050405020304" pitchFamily="18" charset="0"/>
            </a:endParaRP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00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BD84E-D051-53CB-557B-1271032C5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416A3-2DEB-993E-60A2-2C7E5F6CB9CF}"/>
              </a:ext>
            </a:extLst>
          </p:cNvPr>
          <p:cNvSpPr>
            <a:spLocks noGrp="1"/>
          </p:cNvSpPr>
          <p:nvPr>
            <p:ph type="title"/>
          </p:nvPr>
        </p:nvSpPr>
        <p:spPr/>
        <p:txBody>
          <a:bodyPr/>
          <a:lstStyle/>
          <a:p>
            <a:r>
              <a:rPr lang="en-US" dirty="0">
                <a:solidFill>
                  <a:srgbClr val="FF0000"/>
                </a:solidFill>
                <a:latin typeface="Times New Roman" panose="02020603050405020304" pitchFamily="18" charset="0"/>
                <a:ea typeface="Calibri" pitchFamily="34" charset="-122"/>
                <a:cs typeface="Times New Roman" panose="02020603050405020304" pitchFamily="18" charset="0"/>
              </a:rPr>
              <a:t>Sets and Their Properties</a:t>
            </a:r>
            <a:endParaRPr lang="en-TZ" dirty="0">
              <a:solidFill>
                <a:srgbClr val="FF0000"/>
              </a:solidFill>
            </a:endParaRPr>
          </a:p>
        </p:txBody>
      </p:sp>
      <p:sp>
        <p:nvSpPr>
          <p:cNvPr id="3" name="Content Placeholder 2">
            <a:extLst>
              <a:ext uri="{FF2B5EF4-FFF2-40B4-BE49-F238E27FC236}">
                <a16:creationId xmlns:a16="http://schemas.microsoft.com/office/drawing/2014/main" id="{7D7B67B1-55E9-6708-99FB-966590A04BB3}"/>
              </a:ext>
            </a:extLst>
          </p:cNvPr>
          <p:cNvSpPr>
            <a:spLocks noGrp="1"/>
          </p:cNvSpPr>
          <p:nvPr>
            <p:ph idx="1"/>
          </p:nvPr>
        </p:nvSpPr>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What is a Set?</a:t>
            </a:r>
          </a:p>
          <a:p>
            <a:pPr marL="0" indent="0">
              <a:buNone/>
            </a:pPr>
            <a:r>
              <a:rPr lang="en-US" b="1" dirty="0">
                <a:latin typeface="Times New Roman" panose="02020603050405020304" pitchFamily="18" charset="0"/>
                <a:cs typeface="Times New Roman" panose="02020603050405020304" pitchFamily="18" charset="0"/>
              </a:rPr>
              <a:t> Definition:</a:t>
            </a:r>
          </a:p>
          <a:p>
            <a:pPr marL="0" indent="0">
              <a:buNone/>
            </a:pPr>
            <a:r>
              <a:rPr lang="en-US" dirty="0">
                <a:latin typeface="Times New Roman" panose="02020603050405020304" pitchFamily="18" charset="0"/>
                <a:cs typeface="Times New Roman" panose="02020603050405020304" pitchFamily="18" charset="0"/>
              </a:rPr>
              <a:t>A set is a well-defined, unordered collection of distinct objects. These objects are called the elements or members of the set.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ea typeface="Calibri" pitchFamily="34" charset="-122"/>
                <a:cs typeface="Times New Roman" panose="02020603050405020304" pitchFamily="18" charset="0"/>
              </a:rPr>
              <a:t>Key Properties of a Set.</a:t>
            </a:r>
          </a:p>
          <a:p>
            <a:pPr marL="0" indent="0">
              <a:buNone/>
            </a:pPr>
            <a:r>
              <a:rPr lang="en-US" dirty="0">
                <a:latin typeface="Times New Roman" panose="02020603050405020304" pitchFamily="18" charset="0"/>
                <a:cs typeface="Times New Roman" panose="02020603050405020304" pitchFamily="18" charset="0"/>
              </a:rPr>
              <a:t>1.Well-defined.</a:t>
            </a:r>
          </a:p>
          <a:p>
            <a:pPr marL="0" indent="0">
              <a:buNone/>
            </a:pPr>
            <a:r>
              <a:rPr lang="en-US" dirty="0">
                <a:latin typeface="Times New Roman" panose="02020603050405020304" pitchFamily="18" charset="0"/>
                <a:ea typeface="Calibri" pitchFamily="34" charset="-122"/>
                <a:cs typeface="Times New Roman" panose="02020603050405020304" pitchFamily="18" charset="0"/>
              </a:rPr>
              <a:t>Every object either belongs to the set or it doesn't — no ambiguity. Example: 'Even integers less than 10' is well-defined; 'tall people' is NOT.</a:t>
            </a:r>
            <a:endParaRPr lang="en-US"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TZ"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0108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D5BA8-5BE5-1295-65B4-189B826B92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0E7BF-5740-5794-A181-6D1A65880B4D}"/>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53D67F11-89C5-0F8D-9B21-A1AAF38129E1}"/>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2.Unordered.</a:t>
            </a:r>
          </a:p>
          <a:p>
            <a:pPr marL="0" indent="0">
              <a:buNone/>
            </a:pPr>
            <a:r>
              <a:rPr lang="en-US" dirty="0">
                <a:latin typeface="Times New Roman" panose="02020603050405020304" pitchFamily="18" charset="0"/>
                <a:cs typeface="Times New Roman" panose="02020603050405020304" pitchFamily="18" charset="0"/>
              </a:rPr>
              <a:t>{1, 2, 3} = {3, 1, 2} = {2, 3, 1}. The order of elements does not matter in a set.</a:t>
            </a:r>
          </a:p>
          <a:p>
            <a:pPr marL="0" indent="0">
              <a:buNone/>
            </a:pPr>
            <a:r>
              <a:rPr lang="en-US" dirty="0">
                <a:latin typeface="Times New Roman" panose="02020603050405020304" pitchFamily="18" charset="0"/>
                <a:cs typeface="Times New Roman" panose="02020603050405020304" pitchFamily="18" charset="0"/>
              </a:rPr>
              <a:t>3.Distinct.</a:t>
            </a:r>
          </a:p>
          <a:p>
            <a:pPr marL="0" indent="0">
              <a:buNone/>
            </a:pPr>
            <a:r>
              <a:rPr lang="en-US" dirty="0">
                <a:latin typeface="Times New Roman" panose="02020603050405020304" pitchFamily="18" charset="0"/>
                <a:ea typeface="Calibri" pitchFamily="34" charset="-122"/>
                <a:cs typeface="Times New Roman" panose="02020603050405020304" pitchFamily="18" charset="0"/>
              </a:rPr>
              <a:t>No element appears more than once. {1, 1, 2, 3} is the same as {1, 2, 3} because duplicates are ignored.</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4.Any object</a:t>
            </a:r>
          </a:p>
          <a:p>
            <a:pPr marL="0" indent="0">
              <a:buNone/>
            </a:pPr>
            <a:r>
              <a:rPr lang="en-US" dirty="0">
                <a:latin typeface="Times New Roman" panose="02020603050405020304" pitchFamily="18" charset="0"/>
                <a:ea typeface="Calibri" pitchFamily="34" charset="-122"/>
                <a:cs typeface="Times New Roman" panose="02020603050405020304" pitchFamily="18" charset="0"/>
              </a:rPr>
              <a:t>A set can contain numbers, letters, people, other sets, or even nothing: {a, 2, Fred, New Jersey} is a valid set.</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6638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8D1E1-0AD3-9F78-3522-7AD338C90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E1901-2535-E4C9-227E-B627AAC0A659}"/>
              </a:ext>
            </a:extLst>
          </p:cNvPr>
          <p:cNvSpPr>
            <a:spLocks noGrp="1"/>
          </p:cNvSpPr>
          <p:nvPr>
            <p:ph type="title"/>
          </p:nvPr>
        </p:nvSpPr>
        <p:spPr/>
        <p:txBody>
          <a:bodyPr/>
          <a:lstStyle/>
          <a:p>
            <a:r>
              <a:rPr lang="sw-KE" dirty="0">
                <a:latin typeface="Times New Roman" panose="02020603050405020304" pitchFamily="18" charset="0"/>
                <a:cs typeface="Times New Roman" panose="02020603050405020304" pitchFamily="18" charset="0"/>
              </a:rPr>
              <a:t>Set Notation and Representation</a:t>
            </a:r>
            <a:br>
              <a:rPr lang="sw-KE" dirty="0">
                <a:latin typeface="Times New Roman" panose="02020603050405020304" pitchFamily="18" charset="0"/>
                <a:cs typeface="Times New Roman" panose="02020603050405020304" pitchFamily="18" charset="0"/>
              </a:rPr>
            </a:br>
            <a:endParaRPr lang="en-TZ"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403C27-1818-15EC-E439-14BDBAE6C2F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Sets can be written in three main ways.</a:t>
            </a:r>
          </a:p>
          <a:p>
            <a:pPr marL="0" indent="0">
              <a:buNone/>
            </a:pPr>
            <a:r>
              <a:rPr lang="en-US" dirty="0" err="1">
                <a:latin typeface="Times New Roman" panose="02020603050405020304" pitchFamily="18" charset="0"/>
                <a:cs typeface="Times New Roman" panose="02020603050405020304" pitchFamily="18" charset="0"/>
              </a:rPr>
              <a:t>i.Roster</a:t>
            </a:r>
            <a:r>
              <a:rPr lang="en-US" dirty="0">
                <a:latin typeface="Times New Roman" panose="02020603050405020304" pitchFamily="18" charset="0"/>
                <a:cs typeface="Times New Roman" panose="02020603050405020304" pitchFamily="18" charset="0"/>
              </a:rPr>
              <a:t>(Tabular) method.</a:t>
            </a:r>
          </a:p>
          <a:p>
            <a:pPr marL="0" indent="0">
              <a:buNone/>
            </a:pPr>
            <a:r>
              <a:rPr lang="en-US" dirty="0">
                <a:latin typeface="Times New Roman" panose="02020603050405020304" pitchFamily="18" charset="0"/>
                <a:cs typeface="Times New Roman" panose="02020603050405020304" pitchFamily="18" charset="0"/>
              </a:rPr>
              <a:t>List all elements between curly braces.</a:t>
            </a:r>
          </a:p>
          <a:p>
            <a:pPr marL="0" indent="0">
              <a:buNone/>
            </a:pPr>
            <a:r>
              <a:rPr lang="en-US" dirty="0">
                <a:latin typeface="Times New Roman" panose="02020603050405020304" pitchFamily="18" charset="0"/>
                <a:cs typeface="Times New Roman" panose="02020603050405020304" pitchFamily="18" charset="0"/>
              </a:rPr>
              <a:t>Examples:  A = {1, 2, 3, 4, 5}     B = {a, e,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o, u}     C = {1, 2, 3, ..., 99}</a:t>
            </a:r>
          </a:p>
          <a:p>
            <a:pPr marL="0" indent="0">
              <a:buNone/>
            </a:pPr>
            <a:r>
              <a:rPr lang="en-US" dirty="0" err="1">
                <a:latin typeface="Times New Roman" panose="02020603050405020304" pitchFamily="18" charset="0"/>
                <a:cs typeface="Times New Roman" panose="02020603050405020304" pitchFamily="18" charset="0"/>
              </a:rPr>
              <a:t>ii.Set</a:t>
            </a:r>
            <a:r>
              <a:rPr lang="en-US" dirty="0">
                <a:latin typeface="Times New Roman" panose="02020603050405020304" pitchFamily="18" charset="0"/>
                <a:cs typeface="Times New Roman" panose="02020603050405020304" pitchFamily="18" charset="0"/>
              </a:rPr>
              <a:t>-Builder notation.</a:t>
            </a:r>
          </a:p>
          <a:p>
            <a:pPr marL="0" indent="0">
              <a:buNone/>
            </a:pPr>
            <a:r>
              <a:rPr lang="en-US" dirty="0">
                <a:latin typeface="Times New Roman" panose="02020603050405020304" pitchFamily="18" charset="0"/>
                <a:cs typeface="Times New Roman" panose="02020603050405020304" pitchFamily="18" charset="0"/>
              </a:rPr>
              <a:t>Describe elements by their properties.</a:t>
            </a:r>
          </a:p>
          <a:p>
            <a:pPr marL="0" indent="0">
              <a:buNone/>
            </a:pPr>
            <a:r>
              <a:rPr lang="en-US" dirty="0">
                <a:latin typeface="Times New Roman" panose="02020603050405020304" pitchFamily="18" charset="0"/>
                <a:cs typeface="Times New Roman" panose="02020603050405020304" pitchFamily="18" charset="0"/>
              </a:rPr>
              <a:t>Examples:  O = {x | x is odd and x &lt; 10}     Q+ = {x ∈ R | x = p/q, for positive integers p, q}</a:t>
            </a: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862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FE2A3-C792-410C-673D-DA024463A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65A17-6FA3-2C54-AEA3-13FD33917B0F}"/>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5E2484EC-F525-6640-86ED-F80DA55A75C2}"/>
              </a:ext>
            </a:extLst>
          </p:cNvPr>
          <p:cNvSpPr>
            <a:spLocks noGrp="1"/>
          </p:cNvSpPr>
          <p:nvPr>
            <p:ph idx="1"/>
          </p:nvPr>
        </p:nvSpPr>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iii. 3. Interval Notation (for numeric sets).</a:t>
            </a:r>
          </a:p>
          <a:p>
            <a:pPr marL="0" indent="0">
              <a:buNone/>
            </a:pPr>
            <a:r>
              <a:rPr lang="en-US" dirty="0">
                <a:latin typeface="Times New Roman" panose="02020603050405020304" pitchFamily="18" charset="0"/>
                <a:cs typeface="Times New Roman" panose="02020603050405020304" pitchFamily="18" charset="0"/>
              </a:rPr>
              <a:t>Examples:  [1, 5] = {x | 1 ≤ x ≤ 5}     (0, ∞) = {x | x &gt; 0}</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Important Number Sets in Mathematics.</a:t>
            </a:r>
          </a:p>
          <a:p>
            <a:pPr marL="571500" indent="-571500">
              <a:buFont typeface="+mj-lt"/>
              <a:buAutoNum type="romanLcPeriod"/>
            </a:pPr>
            <a:r>
              <a:rPr lang="en-US" b="1" dirty="0">
                <a:latin typeface="Times New Roman" panose="02020603050405020304" pitchFamily="18" charset="0"/>
                <a:cs typeface="Times New Roman" panose="02020603050405020304" pitchFamily="18" charset="0"/>
              </a:rPr>
              <a:t>N : </a:t>
            </a:r>
            <a:r>
              <a:rPr lang="en-US" dirty="0">
                <a:solidFill>
                  <a:srgbClr val="1A1A2E"/>
                </a:solidFill>
                <a:latin typeface="Times New Roman" panose="02020603050405020304" pitchFamily="18" charset="0"/>
                <a:ea typeface="Calibri" pitchFamily="34" charset="-122"/>
                <a:cs typeface="Times New Roman" panose="02020603050405020304" pitchFamily="18" charset="0"/>
              </a:rPr>
              <a:t>Natural Numbers  {0, 1, 2, 3, ...}.</a:t>
            </a:r>
            <a:endParaRPr lang="en-US" dirty="0">
              <a:latin typeface="Times New Roman" panose="02020603050405020304" pitchFamily="18" charset="0"/>
              <a:cs typeface="Times New Roman" panose="02020603050405020304" pitchFamily="18" charset="0"/>
            </a:endParaRPr>
          </a:p>
          <a:p>
            <a:pPr marL="571500" indent="-571500">
              <a:buFont typeface="+mj-lt"/>
              <a:buAutoNum type="romanLcPeriod"/>
            </a:pPr>
            <a:r>
              <a:rPr lang="en-US" b="1" dirty="0">
                <a:latin typeface="Times New Roman" panose="02020603050405020304" pitchFamily="18" charset="0"/>
                <a:cs typeface="Times New Roman" panose="02020603050405020304" pitchFamily="18" charset="0"/>
              </a:rPr>
              <a:t>Z: </a:t>
            </a:r>
            <a:r>
              <a:rPr lang="en-US" dirty="0">
                <a:solidFill>
                  <a:srgbClr val="1A1A2E"/>
                </a:solidFill>
                <a:latin typeface="Times New Roman" panose="02020603050405020304" pitchFamily="18" charset="0"/>
                <a:ea typeface="Calibri" pitchFamily="34" charset="-122"/>
                <a:cs typeface="Times New Roman" panose="02020603050405020304" pitchFamily="18" charset="0"/>
              </a:rPr>
              <a:t>Integers  {..., -2, -1, 0, 1, 2, ...}.</a:t>
            </a:r>
            <a:endParaRPr lang="en-US" dirty="0">
              <a:latin typeface="Times New Roman" panose="02020603050405020304" pitchFamily="18" charset="0"/>
              <a:cs typeface="Times New Roman" panose="02020603050405020304" pitchFamily="18" charset="0"/>
            </a:endParaRPr>
          </a:p>
          <a:p>
            <a:pPr marL="571500" indent="-571500">
              <a:buFont typeface="+mj-lt"/>
              <a:buAutoNum type="romanLcPeriod"/>
            </a:pPr>
            <a:r>
              <a:rPr lang="en-US" b="1" dirty="0">
                <a:latin typeface="Times New Roman" panose="02020603050405020304" pitchFamily="18" charset="0"/>
                <a:cs typeface="Times New Roman" panose="02020603050405020304" pitchFamily="18" charset="0"/>
              </a:rPr>
              <a:t>Z+ : </a:t>
            </a:r>
            <a:r>
              <a:rPr lang="en-US" dirty="0">
                <a:solidFill>
                  <a:srgbClr val="1A1A2E"/>
                </a:solidFill>
                <a:latin typeface="Times New Roman" panose="02020603050405020304" pitchFamily="18" charset="0"/>
                <a:ea typeface="Calibri" pitchFamily="34" charset="-122"/>
                <a:cs typeface="Times New Roman" panose="02020603050405020304" pitchFamily="18" charset="0"/>
              </a:rPr>
              <a:t>Positive Integers  {1, 2, 3, ...}.</a:t>
            </a:r>
            <a:endParaRPr lang="en-US" dirty="0">
              <a:latin typeface="Times New Roman" panose="02020603050405020304" pitchFamily="18" charset="0"/>
              <a:cs typeface="Times New Roman" panose="02020603050405020304" pitchFamily="18" charset="0"/>
            </a:endParaRPr>
          </a:p>
          <a:p>
            <a:pPr marL="571500" indent="-571500">
              <a:buFont typeface="+mj-lt"/>
              <a:buAutoNum type="romanLcPeriod"/>
            </a:pPr>
            <a:r>
              <a:rPr lang="en-US" b="1" dirty="0">
                <a:latin typeface="Times New Roman" panose="02020603050405020304" pitchFamily="18" charset="0"/>
                <a:cs typeface="Times New Roman" panose="02020603050405020304" pitchFamily="18" charset="0"/>
              </a:rPr>
              <a:t>Q: </a:t>
            </a:r>
            <a:r>
              <a:rPr lang="en-US" dirty="0">
                <a:solidFill>
                  <a:srgbClr val="1A1A2E"/>
                </a:solidFill>
                <a:latin typeface="Times New Roman" panose="02020603050405020304" pitchFamily="18" charset="0"/>
                <a:ea typeface="Calibri" pitchFamily="34" charset="-122"/>
                <a:cs typeface="Times New Roman" panose="02020603050405020304" pitchFamily="18" charset="0"/>
              </a:rPr>
              <a:t>Rational Numbers  {p/q | p, q ∈ Z, q ≠ 0}.</a:t>
            </a:r>
            <a:endParaRPr lang="en-US" dirty="0">
              <a:latin typeface="Times New Roman" panose="02020603050405020304" pitchFamily="18" charset="0"/>
              <a:cs typeface="Times New Roman" panose="02020603050405020304" pitchFamily="18" charset="0"/>
            </a:endParaRPr>
          </a:p>
          <a:p>
            <a:pPr marL="571500" indent="-571500">
              <a:buFont typeface="+mj-lt"/>
              <a:buAutoNum type="romanLcPeriod"/>
            </a:pPr>
            <a:r>
              <a:rPr lang="en-US" b="1" dirty="0">
                <a:latin typeface="Times New Roman" panose="02020603050405020304" pitchFamily="18" charset="0"/>
                <a:cs typeface="Times New Roman" panose="02020603050405020304" pitchFamily="18" charset="0"/>
              </a:rPr>
              <a:t>R: </a:t>
            </a:r>
            <a:r>
              <a:rPr lang="en-US" dirty="0">
                <a:solidFill>
                  <a:srgbClr val="1A1A2E"/>
                </a:solidFill>
                <a:latin typeface="Times New Roman" panose="02020603050405020304" pitchFamily="18" charset="0"/>
                <a:ea typeface="Calibri" pitchFamily="34" charset="-122"/>
                <a:cs typeface="Times New Roman" panose="02020603050405020304" pitchFamily="18" charset="0"/>
              </a:rPr>
              <a:t>Real Numbers  all rational and irrational numbers.</a:t>
            </a:r>
          </a:p>
          <a:p>
            <a:pPr marL="571500" indent="-571500">
              <a:buFont typeface="+mj-lt"/>
              <a:buAutoNum type="romanLcPeriod"/>
            </a:pPr>
            <a:r>
              <a:rPr lang="en-US" b="1" dirty="0">
                <a:latin typeface="Times New Roman" panose="02020603050405020304" pitchFamily="18" charset="0"/>
                <a:cs typeface="Times New Roman" panose="02020603050405020304" pitchFamily="18" charset="0"/>
              </a:rPr>
              <a:t>C : </a:t>
            </a:r>
            <a:r>
              <a:rPr lang="en-US" dirty="0">
                <a:solidFill>
                  <a:srgbClr val="1A1A2E"/>
                </a:solidFill>
                <a:latin typeface="Times New Roman" panose="02020603050405020304" pitchFamily="18" charset="0"/>
                <a:ea typeface="Calibri" pitchFamily="34" charset="-122"/>
                <a:cs typeface="Times New Roman" panose="02020603050405020304" pitchFamily="18" charset="0"/>
              </a:rPr>
              <a:t>Complex Numbers  {a + bi | a, b ∈ R}</a:t>
            </a:r>
            <a:endParaRPr lang="en-US"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571500" indent="-571500">
              <a:buFont typeface="+mj-lt"/>
              <a:buAutoNum type="romanLcPeriod"/>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1739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C5984-9021-1F25-3667-E2BAE9311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EC9C25-78A6-4EC5-3557-DA84CC2FD04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Types of sets</a:t>
            </a:r>
            <a:endParaRPr lang="en-T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0B730F-9EDD-FA92-1132-D208AEE46450}"/>
              </a:ext>
            </a:extLst>
          </p:cNvPr>
          <p:cNvSpPr>
            <a:spLocks noGrp="1"/>
          </p:cNvSpPr>
          <p:nvPr>
            <p:ph idx="1"/>
          </p:nvPr>
        </p:nvSpPr>
        <p:spPr/>
        <p:txBody>
          <a:bodyPr/>
          <a:lstStyle/>
          <a:p>
            <a:pPr marL="571500" indent="-571500">
              <a:buAutoNum type="romanLcPeriod"/>
            </a:pPr>
            <a:r>
              <a:rPr lang="en-US" dirty="0">
                <a:latin typeface="Times New Roman" panose="02020603050405020304" pitchFamily="18" charset="0"/>
                <a:ea typeface="Calibri" pitchFamily="34" charset="-122"/>
                <a:cs typeface="Times New Roman" panose="02020603050405020304" pitchFamily="18" charset="0"/>
              </a:rPr>
              <a:t>Empty Set (∅)</a:t>
            </a:r>
          </a:p>
          <a:p>
            <a:pPr marL="0" indent="0">
              <a:buNone/>
            </a:pPr>
            <a:r>
              <a:rPr lang="en-US" dirty="0">
                <a:latin typeface="Times New Roman" panose="02020603050405020304" pitchFamily="18" charset="0"/>
                <a:cs typeface="Times New Roman" panose="02020603050405020304" pitchFamily="18" charset="0"/>
              </a:rPr>
              <a:t>A set with NO elements. |∅| = 0.</a:t>
            </a:r>
          </a:p>
          <a:p>
            <a:pPr marL="0" indent="0">
              <a:buNone/>
            </a:pPr>
            <a:r>
              <a:rPr lang="en-US" dirty="0">
                <a:latin typeface="Times New Roman" panose="02020603050405020304" pitchFamily="18" charset="0"/>
                <a:cs typeface="Times New Roman" panose="02020603050405020304" pitchFamily="18" charset="0"/>
              </a:rPr>
              <a:t>Example: {x | x is a month with 6 Sundays} =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ii. Singleton set</a:t>
            </a:r>
          </a:p>
          <a:p>
            <a:pPr marL="0" indent="0">
              <a:buNone/>
            </a:pPr>
            <a:r>
              <a:rPr lang="en-US" dirty="0">
                <a:latin typeface="Times New Roman" panose="02020603050405020304" pitchFamily="18" charset="0"/>
                <a:cs typeface="Times New Roman" panose="02020603050405020304" pitchFamily="18" charset="0"/>
              </a:rPr>
              <a:t>A set with exactly ONE element.</a:t>
            </a:r>
          </a:p>
          <a:p>
            <a:pPr marL="0" indent="0">
              <a:buNone/>
            </a:pPr>
            <a:r>
              <a:rPr lang="en-US" dirty="0">
                <a:latin typeface="Times New Roman" panose="02020603050405020304" pitchFamily="18" charset="0"/>
                <a:cs typeface="Times New Roman" panose="02020603050405020304" pitchFamily="18" charset="0"/>
              </a:rPr>
              <a:t>Example: {0}, {∅}, {42}</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3582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ED61F-B05B-2F79-539B-56A264392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26C41-1B9F-5B9E-A453-655929C123AC}"/>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9097C672-17A9-B8EA-B3F1-7C8EA2CA54CA}"/>
              </a:ext>
            </a:extLst>
          </p:cNvPr>
          <p:cNvSpPr>
            <a:spLocks noGrp="1"/>
          </p:cNvSpPr>
          <p:nvPr>
            <p:ph idx="1"/>
          </p:nvPr>
        </p:nvSpPr>
        <p:spPr/>
        <p:txBody>
          <a:bodyPr/>
          <a:lstStyle/>
          <a:p>
            <a:pPr marL="0" indent="0">
              <a:buNone/>
            </a:pPr>
            <a:r>
              <a:rPr lang="en-US" dirty="0"/>
              <a:t>iii. Finite set.</a:t>
            </a:r>
          </a:p>
          <a:p>
            <a:pPr marL="0" indent="0">
              <a:buNone/>
            </a:pPr>
            <a:r>
              <a:rPr lang="en-US" dirty="0"/>
              <a:t>A set with a countable, limited number of elements.</a:t>
            </a:r>
          </a:p>
          <a:p>
            <a:pPr marL="0" indent="0">
              <a:buNone/>
            </a:pPr>
            <a:r>
              <a:rPr lang="en-US" dirty="0"/>
              <a:t>Example: {1, 2, 3, 4, 5}, |A| = 5</a:t>
            </a:r>
          </a:p>
          <a:p>
            <a:pPr marL="0" indent="0">
              <a:buNone/>
            </a:pPr>
            <a:endParaRPr lang="en-US" dirty="0"/>
          </a:p>
          <a:p>
            <a:pPr marL="0" indent="0">
              <a:buNone/>
            </a:pPr>
            <a:r>
              <a:rPr lang="en-US" dirty="0" err="1"/>
              <a:t>iv.Infinite</a:t>
            </a:r>
            <a:r>
              <a:rPr lang="en-US" dirty="0"/>
              <a:t> set</a:t>
            </a:r>
          </a:p>
          <a:p>
            <a:pPr marL="0" indent="0">
              <a:buNone/>
            </a:pPr>
            <a:r>
              <a:rPr lang="en-US" dirty="0"/>
              <a:t>A set with unlimited elements.</a:t>
            </a:r>
          </a:p>
          <a:p>
            <a:pPr marL="0" indent="0">
              <a:buNone/>
            </a:pPr>
            <a:r>
              <a:rPr lang="en-US" dirty="0"/>
              <a:t>Example: N = {0, 1, 2, 3, ...}</a:t>
            </a:r>
          </a:p>
          <a:p>
            <a:pPr marL="0" indent="0">
              <a:buNone/>
            </a:pPr>
            <a:endParaRPr lang="en-TZ" dirty="0"/>
          </a:p>
        </p:txBody>
      </p:sp>
    </p:spTree>
    <p:extLst>
      <p:ext uri="{BB962C8B-B14F-4D97-AF65-F5344CB8AC3E}">
        <p14:creationId xmlns:p14="http://schemas.microsoft.com/office/powerpoint/2010/main" val="4183550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F094B-8088-73E7-7B21-79FCE9B07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FEDA2-B173-E0A8-25A0-62EEDB53D0D3}"/>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BDCD01D4-5952-E854-0085-D72EF1013988}"/>
              </a:ext>
            </a:extLst>
          </p:cNvPr>
          <p:cNvSpPr>
            <a:spLocks noGrp="1"/>
          </p:cNvSpPr>
          <p:nvPr>
            <p:ph idx="1"/>
          </p:nvPr>
        </p:nvSpPr>
        <p:spPr/>
        <p:txBody>
          <a:bodyPr/>
          <a:lstStyle/>
          <a:p>
            <a:pPr marL="0" indent="0">
              <a:buNone/>
            </a:pPr>
            <a:r>
              <a:rPr lang="en-US" dirty="0" err="1"/>
              <a:t>v.Equal</a:t>
            </a:r>
            <a:r>
              <a:rPr lang="en-US" dirty="0"/>
              <a:t> sets.</a:t>
            </a:r>
          </a:p>
          <a:p>
            <a:pPr marL="0" indent="0">
              <a:buNone/>
            </a:pPr>
            <a:r>
              <a:rPr lang="en-US" dirty="0"/>
              <a:t>Two sets are equal if they have exactly the same elements.</a:t>
            </a:r>
          </a:p>
          <a:p>
            <a:pPr marL="0" indent="0">
              <a:buNone/>
            </a:pPr>
            <a:r>
              <a:rPr lang="en-US" dirty="0"/>
              <a:t>Example.</a:t>
            </a:r>
          </a:p>
          <a:p>
            <a:pPr marL="0" indent="0">
              <a:buNone/>
            </a:pPr>
            <a:r>
              <a:rPr lang="en-US" dirty="0"/>
              <a:t>{1,2,3} = {3,2,1}  , these two sets are equal regardless their order, meaning  does NOT matter.</a:t>
            </a:r>
          </a:p>
          <a:p>
            <a:pPr marL="0" indent="0">
              <a:buNone/>
            </a:pPr>
            <a:r>
              <a:rPr lang="en-US" dirty="0" err="1"/>
              <a:t>vi.Universal</a:t>
            </a:r>
            <a:r>
              <a:rPr lang="en-US" dirty="0"/>
              <a:t> set.</a:t>
            </a:r>
          </a:p>
          <a:p>
            <a:pPr marL="0" indent="0">
              <a:buNone/>
            </a:pPr>
            <a:r>
              <a:rPr lang="en-US" dirty="0"/>
              <a:t>The set containing ALL objects under consideration in a given context.</a:t>
            </a:r>
          </a:p>
          <a:p>
            <a:pPr marL="0" indent="0">
              <a:buNone/>
            </a:pPr>
            <a:r>
              <a:rPr lang="en-US" dirty="0"/>
              <a:t>All other sets are subsets of Universal (U).</a:t>
            </a:r>
          </a:p>
          <a:p>
            <a:pPr marL="0" indent="0">
              <a:buNone/>
            </a:pPr>
            <a:endParaRPr lang="en-TZ" dirty="0"/>
          </a:p>
        </p:txBody>
      </p:sp>
    </p:spTree>
    <p:extLst>
      <p:ext uri="{BB962C8B-B14F-4D97-AF65-F5344CB8AC3E}">
        <p14:creationId xmlns:p14="http://schemas.microsoft.com/office/powerpoint/2010/main" val="2483509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06C89-FA33-8F82-A2A6-40B86FA78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F2E5AA-4044-C3E6-FDEF-9B35C1E0E2A5}"/>
              </a:ext>
            </a:extLst>
          </p:cNvPr>
          <p:cNvSpPr>
            <a:spLocks noGrp="1"/>
          </p:cNvSpPr>
          <p:nvPr>
            <p:ph type="title"/>
          </p:nvPr>
        </p:nvSpPr>
        <p:spPr/>
        <p:txBody>
          <a:bodyPr/>
          <a:lstStyle/>
          <a:p>
            <a:endParaRPr lang="en-T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3C3A13-C121-FB37-06BC-91AE5566E49D}"/>
              </a:ext>
            </a:extLst>
          </p:cNvPr>
          <p:cNvSpPr>
            <a:spLocks noGrp="1"/>
          </p:cNvSpPr>
          <p:nvPr>
            <p:ph idx="1"/>
          </p:nvPr>
        </p:nvSpPr>
        <p:spPr/>
        <p:txBody>
          <a:bodyPr>
            <a:normAutofit lnSpcReduction="10000"/>
          </a:bodyP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Subset  (A ⊆ B)</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 is a subset of B if every element of A is also in B.</a:t>
            </a:r>
          </a:p>
          <a:p>
            <a:pPr marL="0" indent="0">
              <a:buNone/>
            </a:pPr>
            <a:r>
              <a:rPr lang="en-US" dirty="0">
                <a:latin typeface="Times New Roman" panose="02020603050405020304" pitchFamily="18" charset="0"/>
                <a:cs typeface="Times New Roman" panose="02020603050405020304" pitchFamily="18" charset="0"/>
              </a:rPr>
              <a:t>∀x(x ∈ A → x ∈ B)</a:t>
            </a:r>
          </a:p>
          <a:p>
            <a:pPr marL="0" indent="0">
              <a:buNone/>
            </a:pPr>
            <a:r>
              <a:rPr lang="en-US" dirty="0">
                <a:latin typeface="Times New Roman" panose="02020603050405020304" pitchFamily="18" charset="0"/>
                <a:cs typeface="Times New Roman" panose="02020603050405020304" pitchFamily="18" charset="0"/>
              </a:rPr>
              <a:t>Example: {1,2} ⊆ {1,2,3,4}.</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ea typeface="Calibri" pitchFamily="34" charset="-122"/>
                <a:cs typeface="Times New Roman" panose="02020603050405020304" pitchFamily="18" charset="0"/>
              </a:rPr>
              <a:t>Superset  (B ⊇ A)</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B is a superset of A if A ⊆ B.</a:t>
            </a:r>
          </a:p>
          <a:p>
            <a:pPr marL="0" indent="0">
              <a:buNone/>
            </a:pPr>
            <a:r>
              <a:rPr lang="en-US" dirty="0">
                <a:latin typeface="Times New Roman" panose="02020603050405020304" pitchFamily="18" charset="0"/>
                <a:cs typeface="Times New Roman" panose="02020603050405020304" pitchFamily="18" charset="0"/>
              </a:rPr>
              <a:t>B contains all elements of A.</a:t>
            </a:r>
          </a:p>
          <a:p>
            <a:pPr marL="0" indent="0">
              <a:buNone/>
            </a:pPr>
            <a:r>
              <a:rPr lang="en-US" dirty="0">
                <a:latin typeface="Times New Roman" panose="02020603050405020304" pitchFamily="18" charset="0"/>
                <a:cs typeface="Times New Roman" panose="02020603050405020304" pitchFamily="18" charset="0"/>
              </a:rPr>
              <a:t>Example: {1,2,3} ⊇ {1,2}</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2680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3CC28-F609-8E39-3210-E5754F4A3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319147-81D4-907E-D4FA-3F7992CCCC38}"/>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4F970BCB-2F5D-ADD3-B848-8244F798E275}"/>
              </a:ext>
            </a:extLst>
          </p:cNvPr>
          <p:cNvSpPr>
            <a:spLocks noGrp="1"/>
          </p:cNvSpPr>
          <p:nvPr>
            <p:ph idx="1"/>
          </p:nvPr>
        </p:nvSpPr>
        <p:spPr/>
        <p:txBody>
          <a:bodyP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Proper Subset  (A ⊂ B)</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 is a proper subset of B if A ⊆ B AND A ≠ B.(B has at least one element not in A).</a:t>
            </a:r>
          </a:p>
          <a:p>
            <a:pPr marL="0" indent="0">
              <a:buNone/>
            </a:pPr>
            <a:r>
              <a:rPr lang="en-US" dirty="0">
                <a:latin typeface="Times New Roman" panose="02020603050405020304" pitchFamily="18" charset="0"/>
                <a:cs typeface="Times New Roman" panose="02020603050405020304" pitchFamily="18" charset="0"/>
              </a:rPr>
              <a:t>Example: {1,2} ⊂ {1,2,3}.</a:t>
            </a: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032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21D17-B0BD-5ADC-8822-2E6B9E2B0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0F5F2-998A-4B08-06CE-7565280C6473}"/>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951C2B0D-D624-34E1-25C8-794DC5EE8B27}"/>
              </a:ext>
            </a:extLst>
          </p:cNvPr>
          <p:cNvSpPr>
            <a:spLocks noGrp="1"/>
          </p:cNvSpPr>
          <p:nvPr>
            <p:ph idx="1"/>
          </p:nvPr>
        </p:nvSpPr>
        <p:spPr>
          <a:xfrm>
            <a:off x="118753" y="1825624"/>
            <a:ext cx="11235047" cy="5032375"/>
          </a:xfrm>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Power set P(S).</a:t>
            </a:r>
          </a:p>
          <a:p>
            <a:r>
              <a:rPr lang="sw-KE" dirty="0">
                <a:latin typeface="Times New Roman" panose="02020603050405020304" pitchFamily="18" charset="0"/>
                <a:cs typeface="Times New Roman" panose="02020603050405020304" pitchFamily="18" charset="0"/>
              </a:rPr>
              <a:t>The power set of S is the set of ALL subsets of S, including the empty set and S itself.</a:t>
            </a:r>
          </a:p>
          <a:p>
            <a:endParaRPr lang="sw-KE" dirty="0">
              <a:latin typeface="Times New Roman" panose="02020603050405020304" pitchFamily="18" charset="0"/>
              <a:cs typeface="Times New Roman" panose="02020603050405020304" pitchFamily="18" charset="0"/>
            </a:endParaRPr>
          </a:p>
          <a:p>
            <a:r>
              <a:rPr lang="sw-KE" dirty="0">
                <a:latin typeface="Times New Roman" panose="02020603050405020304" pitchFamily="18" charset="0"/>
                <a:cs typeface="Times New Roman" panose="02020603050405020304" pitchFamily="18" charset="0"/>
              </a:rPr>
              <a:t>If |S| = n, then |P(S)| = 2ⁿ</a:t>
            </a:r>
          </a:p>
          <a:p>
            <a:endParaRPr lang="sw-KE" dirty="0">
              <a:latin typeface="Times New Roman" panose="02020603050405020304" pitchFamily="18" charset="0"/>
              <a:cs typeface="Times New Roman" panose="02020603050405020304" pitchFamily="18" charset="0"/>
            </a:endParaRPr>
          </a:p>
          <a:p>
            <a:r>
              <a:rPr lang="sw-KE" dirty="0">
                <a:latin typeface="Times New Roman" panose="02020603050405020304" pitchFamily="18" charset="0"/>
                <a:cs typeface="Times New Roman" panose="02020603050405020304" pitchFamily="18" charset="0"/>
              </a:rPr>
              <a:t>Example:</a:t>
            </a:r>
          </a:p>
          <a:p>
            <a:r>
              <a:rPr lang="sw-KE" dirty="0">
                <a:latin typeface="Times New Roman" panose="02020603050405020304" pitchFamily="18" charset="0"/>
                <a:cs typeface="Times New Roman" panose="02020603050405020304" pitchFamily="18" charset="0"/>
              </a:rPr>
              <a:t>S = {a, b}</a:t>
            </a:r>
          </a:p>
          <a:p>
            <a:r>
              <a:rPr lang="sw-KE" dirty="0">
                <a:latin typeface="Times New Roman" panose="02020603050405020304" pitchFamily="18" charset="0"/>
                <a:cs typeface="Times New Roman" panose="02020603050405020304" pitchFamily="18" charset="0"/>
              </a:rPr>
              <a:t>P(S) = { ∅, {a}, {b}, {a,b} }</a:t>
            </a:r>
          </a:p>
          <a:p>
            <a:r>
              <a:rPr lang="sw-KE" dirty="0">
                <a:latin typeface="Times New Roman" panose="02020603050405020304" pitchFamily="18" charset="0"/>
                <a:cs typeface="Times New Roman" panose="02020603050405020304" pitchFamily="18" charset="0"/>
              </a:rPr>
              <a:t>|P(S)| = 2² = 4</a:t>
            </a:r>
          </a:p>
          <a:p>
            <a:endParaRPr lang="sw-KE" dirty="0">
              <a:latin typeface="Times New Roman" panose="02020603050405020304" pitchFamily="18" charset="0"/>
              <a:cs typeface="Times New Roman" panose="02020603050405020304" pitchFamily="18" charset="0"/>
            </a:endParaRPr>
          </a:p>
          <a:p>
            <a:r>
              <a:rPr lang="sw-KE" dirty="0">
                <a:latin typeface="Times New Roman" panose="02020603050405020304" pitchFamily="18" charset="0"/>
                <a:cs typeface="Times New Roman" panose="02020603050405020304" pitchFamily="18" charset="0"/>
              </a:rPr>
              <a:t>S = {1,2,3}</a:t>
            </a:r>
          </a:p>
          <a:p>
            <a:r>
              <a:rPr lang="sw-KE" dirty="0">
                <a:latin typeface="Times New Roman" panose="02020603050405020304" pitchFamily="18" charset="0"/>
                <a:cs typeface="Times New Roman" panose="02020603050405020304" pitchFamily="18" charset="0"/>
              </a:rPr>
              <a:t>P(S) = { ∅, {1},{2},{3},{1,2},{1,3},{2,3},{1,2,3} }</a:t>
            </a:r>
          </a:p>
          <a:p>
            <a:r>
              <a:rPr lang="sw-KE" dirty="0">
                <a:latin typeface="Times New Roman" panose="02020603050405020304" pitchFamily="18" charset="0"/>
                <a:cs typeface="Times New Roman" panose="02020603050405020304" pitchFamily="18" charset="0"/>
              </a:rPr>
              <a:t>|P(S)| = 2³ = 8</a:t>
            </a: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2321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AE92-706F-9812-F45B-950D5B885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2D4A7-4F64-C206-667E-11444EF25850}"/>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21262E71-9312-99E6-1111-621ADC63855C}"/>
              </a:ext>
            </a:extLst>
          </p:cNvPr>
          <p:cNvSpPr>
            <a:spLocks noGrp="1"/>
          </p:cNvSpPr>
          <p:nvPr>
            <p:ph idx="1"/>
          </p:nvPr>
        </p:nvSpPr>
        <p:spPr>
          <a:xfrm>
            <a:off x="617517" y="1883455"/>
            <a:ext cx="11574483" cy="4907685"/>
          </a:xfrm>
        </p:spPr>
        <p:txBody>
          <a:bodyPr>
            <a:normAutofit fontScale="92500" lnSpcReduction="10000"/>
          </a:bodyPr>
          <a:lstStyle/>
          <a:p>
            <a:pPr marL="0" indent="0">
              <a:buNone/>
            </a:pPr>
            <a:r>
              <a:rPr lang="en-US" b="1" dirty="0" err="1"/>
              <a:t>Cardinality|A</a:t>
            </a:r>
            <a:r>
              <a:rPr lang="en-US" b="1" dirty="0"/>
              <a:t>|.</a:t>
            </a:r>
          </a:p>
          <a:p>
            <a:pPr marL="0" indent="0">
              <a:buNone/>
            </a:pPr>
            <a:r>
              <a:rPr lang="sw-KE" dirty="0"/>
              <a:t>The cardinality of a set is the number of elements it contains.</a:t>
            </a:r>
          </a:p>
          <a:p>
            <a:pPr marL="0" indent="0">
              <a:buNone/>
            </a:pPr>
            <a:r>
              <a:rPr lang="sw-KE" dirty="0"/>
              <a:t>Finite sets:</a:t>
            </a:r>
          </a:p>
          <a:p>
            <a:pPr marL="0" indent="0">
              <a:buNone/>
            </a:pPr>
            <a:r>
              <a:rPr lang="sw-KE" dirty="0"/>
              <a:t>|{a, b, c}| = 3</a:t>
            </a:r>
          </a:p>
          <a:p>
            <a:pPr marL="0" indent="0">
              <a:buNone/>
            </a:pPr>
            <a:r>
              <a:rPr lang="sw-KE" dirty="0"/>
              <a:t>|∅| = 0</a:t>
            </a:r>
          </a:p>
          <a:p>
            <a:pPr marL="0" indent="0">
              <a:buNone/>
            </a:pPr>
            <a:r>
              <a:rPr lang="sw-KE" dirty="0"/>
              <a:t>Infinite sets:</a:t>
            </a:r>
          </a:p>
          <a:p>
            <a:pPr marL="0" indent="0">
              <a:buNone/>
            </a:pPr>
            <a:r>
              <a:rPr lang="sw-KE" dirty="0"/>
              <a:t>|N| = ℵ₀ (aleph-null)</a:t>
            </a:r>
          </a:p>
          <a:p>
            <a:pPr marL="0" indent="0">
              <a:buNone/>
            </a:pPr>
            <a:r>
              <a:rPr lang="sw-KE" dirty="0"/>
              <a:t>|R| = c (uncountable)</a:t>
            </a:r>
          </a:p>
          <a:p>
            <a:pPr marL="0" indent="0">
              <a:buNone/>
            </a:pPr>
            <a:r>
              <a:rPr lang="sw-KE" dirty="0"/>
              <a:t>NB:</a:t>
            </a:r>
          </a:p>
          <a:p>
            <a:pPr marL="0" indent="0">
              <a:buNone/>
            </a:pPr>
            <a:r>
              <a:rPr lang="sw-KE" dirty="0"/>
              <a:t>|A ∪ B| = |A| + |B| - |A ∩ B|</a:t>
            </a:r>
          </a:p>
          <a:p>
            <a:pPr marL="0" indent="0">
              <a:buNone/>
            </a:pPr>
            <a:r>
              <a:rPr lang="sw-KE" dirty="0"/>
              <a:t>(Inclusion-Exclusion Principle).</a:t>
            </a:r>
          </a:p>
          <a:p>
            <a:pPr marL="0" indent="0">
              <a:buNone/>
            </a:pPr>
            <a:endParaRPr lang="en-TZ" dirty="0"/>
          </a:p>
        </p:txBody>
      </p:sp>
    </p:spTree>
    <p:extLst>
      <p:ext uri="{BB962C8B-B14F-4D97-AF65-F5344CB8AC3E}">
        <p14:creationId xmlns:p14="http://schemas.microsoft.com/office/powerpoint/2010/main" val="1536276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9EE17-9D6C-D41A-BC66-16130E9CD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ACCBEA-674B-61FF-463E-7CA508F03B28}"/>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C9523BFF-12AD-ACE5-469E-EE6704CC185F}"/>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Uncountable Set.</a:t>
            </a:r>
          </a:p>
          <a:p>
            <a:r>
              <a:rPr lang="en-US" dirty="0">
                <a:latin typeface="Times New Roman" panose="02020603050405020304" pitchFamily="18" charset="0"/>
                <a:cs typeface="Times New Roman" panose="02020603050405020304" pitchFamily="18" charset="0"/>
              </a:rPr>
              <a:t>A set is uncountable if its elements CANNOT be listed — too many to count, even with infinite time.</a:t>
            </a:r>
          </a:p>
          <a:p>
            <a:r>
              <a:rPr lang="en-US" dirty="0">
                <a:latin typeface="Times New Roman" panose="02020603050405020304" pitchFamily="18" charset="0"/>
                <a:cs typeface="Times New Roman" panose="02020603050405020304" pitchFamily="18" charset="0"/>
              </a:rPr>
              <a:t>Example: R (real numbers), proven by Cantor's diagonal argument</a:t>
            </a:r>
          </a:p>
          <a:p>
            <a:r>
              <a:rPr lang="en-US" dirty="0">
                <a:latin typeface="Times New Roman" panose="02020603050405020304" pitchFamily="18" charset="0"/>
                <a:cs typeface="Times New Roman" panose="02020603050405020304" pitchFamily="18" charset="0"/>
              </a:rPr>
              <a:t>|R| = c  (cardinality of the continuum, larger than ℵ₀)</a:t>
            </a: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60250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84204-1C0F-6461-8F88-EE02056ED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3A4318-0198-0211-2B77-B4498CFB8552}"/>
              </a:ext>
            </a:extLst>
          </p:cNvPr>
          <p:cNvSpPr>
            <a:spLocks noGrp="1"/>
          </p:cNvSpPr>
          <p:nvPr>
            <p:ph type="title"/>
          </p:nvPr>
        </p:nvSpPr>
        <p:spPr/>
        <p:txBody>
          <a:bodyPr/>
          <a:lstStyle/>
          <a:p>
            <a:r>
              <a:rPr lang="en-US" dirty="0">
                <a:solidFill>
                  <a:srgbClr val="C00000"/>
                </a:solidFill>
                <a:latin typeface="Times New Roman" panose="02020603050405020304" pitchFamily="18" charset="0"/>
                <a:cs typeface="Times New Roman" panose="02020603050405020304" pitchFamily="18" charset="0"/>
              </a:rPr>
              <a:t>Set Operations</a:t>
            </a:r>
            <a:endParaRPr lang="en-TZ"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4A6D6E-4F0D-499D-B3B6-35D1E3DAAA99}"/>
              </a:ext>
            </a:extLst>
          </p:cNvPr>
          <p:cNvSpPr>
            <a:spLocks noGrp="1"/>
          </p:cNvSpPr>
          <p:nvPr>
            <p:ph idx="1"/>
          </p:nvPr>
        </p:nvSpPr>
        <p:spPr>
          <a:xfrm>
            <a:off x="83127" y="1825624"/>
            <a:ext cx="11270673" cy="5032375"/>
          </a:xfrm>
        </p:spPr>
        <p:txBody>
          <a:bodyPr>
            <a:normAutofit lnSpcReduction="10000"/>
          </a:bodyPr>
          <a:lstStyle/>
          <a:p>
            <a:pPr marL="0" indent="0">
              <a:buNone/>
            </a:pPr>
            <a:r>
              <a:rPr lang="en-US" i="1" dirty="0">
                <a:latin typeface="Times New Roman" panose="02020603050405020304" pitchFamily="18" charset="0"/>
                <a:ea typeface="Calibri" pitchFamily="34" charset="-122"/>
                <a:cs typeface="Times New Roman" panose="02020603050405020304" pitchFamily="18" charset="0"/>
              </a:rPr>
              <a:t>Set operations combine or relate sets to produce new sets.</a:t>
            </a:r>
            <a:endParaRPr lang="en-US" dirty="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i.</a:t>
            </a:r>
            <a:r>
              <a:rPr lang="en-US" b="1" dirty="0" err="1">
                <a:latin typeface="Times New Roman" panose="02020603050405020304" pitchFamily="18" charset="0"/>
                <a:cs typeface="Times New Roman" panose="02020603050405020304" pitchFamily="18" charset="0"/>
              </a:rPr>
              <a:t>Union</a:t>
            </a:r>
            <a:r>
              <a:rPr lang="en-US" b="1" dirty="0">
                <a:latin typeface="Times New Roman" panose="02020603050405020304" pitchFamily="18" charset="0"/>
                <a:cs typeface="Times New Roman" panose="02020603050405020304" pitchFamily="18" charset="0"/>
              </a:rPr>
              <a:t> of sets (U).</a:t>
            </a:r>
          </a:p>
          <a:p>
            <a:pPr marL="0" indent="0">
              <a:buNone/>
            </a:pPr>
            <a:r>
              <a:rPr lang="en-US" dirty="0">
                <a:solidFill>
                  <a:srgbClr val="1A1A2E"/>
                </a:solidFill>
                <a:latin typeface="Times New Roman" panose="02020603050405020304" pitchFamily="18" charset="0"/>
                <a:ea typeface="Calibri" pitchFamily="34" charset="-122"/>
                <a:cs typeface="Times New Roman" panose="02020603050405020304" pitchFamily="18" charset="0"/>
              </a:rPr>
              <a:t>A ∪ B = {x | x ∈ A  OR  x ∈ B}</a:t>
            </a:r>
            <a:endParaRPr lang="en-US" dirty="0">
              <a:latin typeface="Times New Roman" panose="02020603050405020304" pitchFamily="18" charset="0"/>
              <a:cs typeface="Times New Roman" panose="02020603050405020304" pitchFamily="18" charset="0"/>
            </a:endParaRPr>
          </a:p>
          <a:p>
            <a:pPr marL="0" indent="0">
              <a:buNone/>
            </a:pPr>
            <a:r>
              <a:rPr lang="en-US" dirty="0">
                <a:solidFill>
                  <a:srgbClr val="1A1A2E"/>
                </a:solidFill>
                <a:latin typeface="Times New Roman" panose="02020603050405020304" pitchFamily="18" charset="0"/>
                <a:ea typeface="Calibri" pitchFamily="34" charset="-122"/>
                <a:cs typeface="Times New Roman" panose="02020603050405020304" pitchFamily="18" charset="0"/>
              </a:rPr>
              <a:t>The union contains every element that belongs to at least one of the sets.</a:t>
            </a:r>
            <a:endParaRPr lang="en-US" dirty="0">
              <a:latin typeface="Times New Roman" panose="02020603050405020304" pitchFamily="18" charset="0"/>
              <a:cs typeface="Times New Roman" panose="02020603050405020304" pitchFamily="18" charset="0"/>
            </a:endParaRPr>
          </a:p>
          <a:p>
            <a:pPr marL="0" indent="0">
              <a:buNone/>
            </a:pPr>
            <a:r>
              <a:rPr lang="en-US" dirty="0">
                <a:solidFill>
                  <a:srgbClr val="1A1A2E"/>
                </a:solidFill>
                <a:latin typeface="Times New Roman" panose="02020603050405020304" pitchFamily="18" charset="0"/>
                <a:ea typeface="Calibri" pitchFamily="34" charset="-122"/>
                <a:cs typeface="Times New Roman" panose="02020603050405020304" pitchFamily="18" charset="0"/>
              </a:rPr>
              <a:t>Examples.</a:t>
            </a:r>
            <a:endParaRPr lang="en-US" dirty="0">
              <a:latin typeface="Times New Roman" panose="02020603050405020304" pitchFamily="18" charset="0"/>
              <a:cs typeface="Times New Roman" panose="02020603050405020304" pitchFamily="18" charset="0"/>
            </a:endParaRPr>
          </a:p>
          <a:p>
            <a:pPr marL="0" indent="0">
              <a:buNone/>
            </a:pPr>
            <a:r>
              <a:rPr lang="en-US" dirty="0">
                <a:solidFill>
                  <a:srgbClr val="1A1A2E"/>
                </a:solidFill>
                <a:latin typeface="Times New Roman" panose="02020603050405020304" pitchFamily="18" charset="0"/>
                <a:ea typeface="Calibri" pitchFamily="34" charset="-122"/>
                <a:cs typeface="Times New Roman" panose="02020603050405020304" pitchFamily="18" charset="0"/>
              </a:rPr>
              <a:t>{1,3,5} ∪ {1,2,3} = {1,2,3,5}.</a:t>
            </a:r>
            <a:endParaRPr lang="en-US" dirty="0">
              <a:latin typeface="Times New Roman" panose="02020603050405020304" pitchFamily="18" charset="0"/>
              <a:cs typeface="Times New Roman" panose="02020603050405020304" pitchFamily="18" charset="0"/>
            </a:endParaRPr>
          </a:p>
          <a:p>
            <a:pPr marL="0" indent="0">
              <a:buNone/>
            </a:pPr>
            <a:r>
              <a:rPr lang="en-US" dirty="0">
                <a:solidFill>
                  <a:srgbClr val="1A1A2E"/>
                </a:solidFill>
                <a:latin typeface="Times New Roman" panose="02020603050405020304" pitchFamily="18" charset="0"/>
                <a:ea typeface="Calibri" pitchFamily="34" charset="-122"/>
                <a:cs typeface="Times New Roman" panose="02020603050405020304" pitchFamily="18" charset="0"/>
              </a:rPr>
              <a:t>{</a:t>
            </a:r>
            <a:r>
              <a:rPr lang="en-US" dirty="0" err="1">
                <a:solidFill>
                  <a:srgbClr val="1A1A2E"/>
                </a:solidFill>
                <a:latin typeface="Times New Roman" panose="02020603050405020304" pitchFamily="18" charset="0"/>
                <a:ea typeface="Calibri" pitchFamily="34" charset="-122"/>
                <a:cs typeface="Times New Roman" panose="02020603050405020304" pitchFamily="18" charset="0"/>
              </a:rPr>
              <a:t>a,b,c</a:t>
            </a:r>
            <a:r>
              <a:rPr lang="en-US" dirty="0">
                <a:solidFill>
                  <a:srgbClr val="1A1A2E"/>
                </a:solidFill>
                <a:latin typeface="Times New Roman" panose="02020603050405020304" pitchFamily="18" charset="0"/>
                <a:ea typeface="Calibri" pitchFamily="34" charset="-122"/>
                <a:cs typeface="Times New Roman" panose="02020603050405020304" pitchFamily="18" charset="0"/>
              </a:rPr>
              <a:t>} ∪ {</a:t>
            </a:r>
            <a:r>
              <a:rPr lang="en-US" dirty="0" err="1">
                <a:solidFill>
                  <a:srgbClr val="1A1A2E"/>
                </a:solidFill>
                <a:latin typeface="Times New Roman" panose="02020603050405020304" pitchFamily="18" charset="0"/>
                <a:ea typeface="Calibri" pitchFamily="34" charset="-122"/>
                <a:cs typeface="Times New Roman" panose="02020603050405020304" pitchFamily="18" charset="0"/>
              </a:rPr>
              <a:t>d,e,f</a:t>
            </a:r>
            <a:r>
              <a:rPr lang="en-US" dirty="0">
                <a:solidFill>
                  <a:srgbClr val="1A1A2E"/>
                </a:solidFill>
                <a:latin typeface="Times New Roman" panose="02020603050405020304" pitchFamily="18" charset="0"/>
                <a:ea typeface="Calibri" pitchFamily="34" charset="-122"/>
                <a:cs typeface="Times New Roman" panose="02020603050405020304" pitchFamily="18" charset="0"/>
              </a:rPr>
              <a:t>} = {</a:t>
            </a:r>
            <a:r>
              <a:rPr lang="en-US" dirty="0" err="1">
                <a:solidFill>
                  <a:srgbClr val="1A1A2E"/>
                </a:solidFill>
                <a:latin typeface="Times New Roman" panose="02020603050405020304" pitchFamily="18" charset="0"/>
                <a:ea typeface="Calibri" pitchFamily="34" charset="-122"/>
                <a:cs typeface="Times New Roman" panose="02020603050405020304" pitchFamily="18" charset="0"/>
              </a:rPr>
              <a:t>a,b,c,d,e,f</a:t>
            </a:r>
            <a:r>
              <a:rPr lang="en-US" dirty="0">
                <a:solidFill>
                  <a:srgbClr val="1A1A2E"/>
                </a:solidFill>
                <a:latin typeface="Times New Roman" panose="02020603050405020304" pitchFamily="18" charset="0"/>
                <a:ea typeface="Calibri"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a:solidFill>
                  <a:srgbClr val="1A1A2E"/>
                </a:solidFill>
                <a:latin typeface="Times New Roman" panose="02020603050405020304" pitchFamily="18" charset="0"/>
                <a:ea typeface="Calibri" pitchFamily="34" charset="-122"/>
                <a:cs typeface="Times New Roman" panose="02020603050405020304" pitchFamily="18" charset="0"/>
              </a:rPr>
              <a:t>{1,2} ∪ ∅ = {1,2}.</a:t>
            </a:r>
            <a:endParaRPr lang="en-US" dirty="0">
              <a:latin typeface="Times New Roman" panose="02020603050405020304" pitchFamily="18" charset="0"/>
              <a:cs typeface="Times New Roman" panose="02020603050405020304" pitchFamily="18" charset="0"/>
            </a:endParaRPr>
          </a:p>
          <a:p>
            <a:pPr marL="0" indent="0">
              <a:buNone/>
            </a:pPr>
            <a:r>
              <a:rPr lang="en-US" dirty="0">
                <a:solidFill>
                  <a:srgbClr val="1A1A2E"/>
                </a:solidFill>
                <a:latin typeface="Times New Roman" panose="02020603050405020304" pitchFamily="18" charset="0"/>
                <a:ea typeface="Calibri" pitchFamily="34" charset="-122"/>
                <a:cs typeface="Times New Roman" panose="02020603050405020304" pitchFamily="18" charset="0"/>
              </a:rPr>
              <a:t>|A ∪ B| = |A| + |B| - |A ∩ B|</a:t>
            </a:r>
            <a:endParaRPr lang="en-US" dirty="0">
              <a:latin typeface="Times New Roman" panose="02020603050405020304" pitchFamily="18" charset="0"/>
              <a:cs typeface="Times New Roman" panose="02020603050405020304" pitchFamily="18" charset="0"/>
            </a:endParaRPr>
          </a:p>
          <a:p>
            <a:pPr marL="0" indent="0">
              <a:buNone/>
            </a:pPr>
            <a:r>
              <a:rPr lang="en-US" dirty="0">
                <a:solidFill>
                  <a:srgbClr val="1A1A2E"/>
                </a:solidFill>
                <a:latin typeface="Times New Roman" panose="02020603050405020304" pitchFamily="18" charset="0"/>
                <a:ea typeface="Calibri" pitchFamily="34" charset="-122"/>
                <a:cs typeface="Times New Roman" panose="02020603050405020304" pitchFamily="18" charset="0"/>
              </a:rPr>
              <a:t>(Inclusion-Exclusion Principle)</a:t>
            </a:r>
            <a:endParaRPr lang="en-US"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8201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A2A5B-F6D3-A73C-6830-F08C973A8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A95FB-5900-2625-8E1A-443F98196773}"/>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6230B2A9-C673-D6B7-E3E9-74312EBF1161}"/>
              </a:ext>
            </a:extLst>
          </p:cNvPr>
          <p:cNvSpPr>
            <a:spLocks noGrp="1"/>
          </p:cNvSpPr>
          <p:nvPr>
            <p:ph idx="1"/>
          </p:nvPr>
        </p:nvSpPr>
        <p:spPr/>
        <p:txBody>
          <a:bodyPr>
            <a:normAutofit/>
          </a:bodyPr>
          <a:lstStyle/>
          <a:p>
            <a:pPr marL="0" indent="0">
              <a:buNone/>
            </a:pPr>
            <a:r>
              <a:rPr lang="en-US" dirty="0" err="1">
                <a:latin typeface="Times New Roman" panose="02020603050405020304" pitchFamily="18" charset="0"/>
                <a:cs typeface="Times New Roman" panose="02020603050405020304" pitchFamily="18" charset="0"/>
              </a:rPr>
              <a:t>ii.</a:t>
            </a:r>
            <a:r>
              <a:rPr lang="en-US" b="1" dirty="0" err="1">
                <a:latin typeface="Times New Roman" panose="02020603050405020304" pitchFamily="18" charset="0"/>
                <a:cs typeface="Times New Roman" panose="02020603050405020304" pitchFamily="18" charset="0"/>
              </a:rPr>
              <a:t>Difference</a:t>
            </a:r>
            <a:r>
              <a:rPr lang="en-US" b="1" dirty="0">
                <a:latin typeface="Times New Roman" panose="02020603050405020304" pitchFamily="18" charset="0"/>
                <a:cs typeface="Times New Roman" panose="02020603050405020304" pitchFamily="18" charset="0"/>
              </a:rPr>
              <a:t>(A-B).</a:t>
            </a:r>
          </a:p>
          <a:p>
            <a:pPr marL="0" indent="0">
              <a:buNone/>
            </a:pPr>
            <a:r>
              <a:rPr lang="en-US" dirty="0">
                <a:latin typeface="Times New Roman" panose="02020603050405020304" pitchFamily="18" charset="0"/>
                <a:cs typeface="Times New Roman" panose="02020603050405020304" pitchFamily="18" charset="0"/>
              </a:rPr>
              <a:t>A − B = {x | x ∈ A  AND  x ∉ B}</a:t>
            </a:r>
          </a:p>
          <a:p>
            <a:pPr marL="0" indent="0">
              <a:buNone/>
            </a:pPr>
            <a:r>
              <a:rPr lang="en-US" dirty="0">
                <a:latin typeface="Times New Roman" panose="02020603050405020304" pitchFamily="18" charset="0"/>
                <a:cs typeface="Times New Roman" panose="02020603050405020304" pitchFamily="18" charset="0"/>
              </a:rPr>
              <a:t>Elements in A but NOT in B.</a:t>
            </a:r>
          </a:p>
          <a:p>
            <a:pPr marL="0" indent="0">
              <a:buNone/>
            </a:pPr>
            <a:r>
              <a:rPr lang="en-US" dirty="0">
                <a:latin typeface="Times New Roman" panose="02020603050405020304" pitchFamily="18" charset="0"/>
                <a:cs typeface="Times New Roman" panose="02020603050405020304" pitchFamily="18" charset="0"/>
              </a:rPr>
              <a:t>{1,3,5} − {1,2,3} = {5}</a:t>
            </a:r>
          </a:p>
          <a:p>
            <a:pPr marL="0" indent="0">
              <a:buNone/>
            </a:pPr>
            <a:r>
              <a:rPr lang="en-US" dirty="0">
                <a:latin typeface="Times New Roman" panose="02020603050405020304" pitchFamily="18" charset="0"/>
                <a:cs typeface="Times New Roman" panose="02020603050405020304" pitchFamily="18" charset="0"/>
              </a:rPr>
              <a:t>{1,2,3} − {1,3,5} = {2}</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38854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A5483-C8AF-5E63-F142-1B00BDF70DE8}"/>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20F1579A-DCEC-A6D9-6A5B-02BAF63B9914}"/>
              </a:ext>
            </a:extLst>
          </p:cNvPr>
          <p:cNvSpPr>
            <a:spLocks noGrp="1"/>
          </p:cNvSpPr>
          <p:nvPr>
            <p:ph idx="1"/>
          </p:nvPr>
        </p:nvSpPr>
        <p:spPr>
          <a:xfrm>
            <a:off x="213756" y="1825624"/>
            <a:ext cx="11978244" cy="5032376"/>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iii. </a:t>
            </a:r>
            <a:r>
              <a:rPr lang="en-US" b="1" dirty="0">
                <a:latin typeface="Times New Roman" panose="02020603050405020304" pitchFamily="18" charset="0"/>
                <a:cs typeface="Times New Roman" panose="02020603050405020304" pitchFamily="18" charset="0"/>
              </a:rPr>
              <a:t>Intersection (</a:t>
            </a:r>
            <a:r>
              <a:rPr lang="en-US" b="1" dirty="0">
                <a:latin typeface="Times New Roman" panose="02020603050405020304" pitchFamily="18" charset="0"/>
                <a:ea typeface="Calibri" pitchFamily="34" charset="-122"/>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a:t>
            </a:r>
          </a:p>
          <a:p>
            <a:pPr marL="0" indent="0">
              <a:buNone/>
            </a:pPr>
            <a:r>
              <a:rPr lang="en-US" dirty="0">
                <a:solidFill>
                  <a:srgbClr val="1A1A2E"/>
                </a:solidFill>
                <a:latin typeface="Calibri" pitchFamily="34" charset="0"/>
                <a:ea typeface="Calibri" pitchFamily="34" charset="-122"/>
                <a:cs typeface="Calibri" pitchFamily="34" charset="-120"/>
              </a:rPr>
              <a:t>A ∩ B = {x | x ∈ A  AND  x ∈ B}</a:t>
            </a:r>
            <a:endParaRPr lang="en-US" dirty="0"/>
          </a:p>
          <a:p>
            <a:pPr marL="0" indent="0">
              <a:buNone/>
            </a:pPr>
            <a:r>
              <a:rPr lang="en-US" dirty="0">
                <a:solidFill>
                  <a:srgbClr val="1A1A2E"/>
                </a:solidFill>
                <a:latin typeface="Calibri" pitchFamily="34" charset="0"/>
                <a:ea typeface="Calibri" pitchFamily="34" charset="-122"/>
                <a:cs typeface="Calibri" pitchFamily="34" charset="-120"/>
              </a:rPr>
              <a:t>The intersection contains only elements belonging to BOTH sets simultaneously.</a:t>
            </a:r>
            <a:endParaRPr lang="en-US" dirty="0"/>
          </a:p>
          <a:p>
            <a:pPr marL="0" indent="0">
              <a:buNone/>
            </a:pPr>
            <a:r>
              <a:rPr lang="en-US" dirty="0">
                <a:solidFill>
                  <a:srgbClr val="1A1A2E"/>
                </a:solidFill>
                <a:latin typeface="Calibri" pitchFamily="34" charset="0"/>
                <a:ea typeface="Calibri" pitchFamily="34" charset="-122"/>
                <a:cs typeface="Calibri" pitchFamily="34" charset="-120"/>
              </a:rPr>
              <a:t>Examples:</a:t>
            </a:r>
            <a:endParaRPr lang="en-US" dirty="0"/>
          </a:p>
          <a:p>
            <a:pPr marL="0" indent="0">
              <a:buNone/>
            </a:pPr>
            <a:r>
              <a:rPr lang="en-US" dirty="0">
                <a:solidFill>
                  <a:srgbClr val="1A1A2E"/>
                </a:solidFill>
                <a:latin typeface="Calibri" pitchFamily="34" charset="0"/>
                <a:ea typeface="Calibri" pitchFamily="34" charset="-122"/>
                <a:cs typeface="Calibri" pitchFamily="34" charset="-120"/>
              </a:rPr>
              <a:t>{1,3,5} ∩ {1,2,3} = {1,3}</a:t>
            </a:r>
            <a:endParaRPr lang="en-US" dirty="0"/>
          </a:p>
          <a:p>
            <a:pPr marL="0" indent="0">
              <a:buNone/>
            </a:pPr>
            <a:r>
              <a:rPr lang="en-US" dirty="0">
                <a:solidFill>
                  <a:srgbClr val="1A1A2E"/>
                </a:solidFill>
                <a:latin typeface="Calibri" pitchFamily="34" charset="0"/>
                <a:ea typeface="Calibri" pitchFamily="34" charset="-122"/>
                <a:cs typeface="Calibri" pitchFamily="34" charset="-120"/>
              </a:rPr>
              <a:t>{</a:t>
            </a:r>
            <a:r>
              <a:rPr lang="en-US" dirty="0" err="1">
                <a:solidFill>
                  <a:srgbClr val="1A1A2E"/>
                </a:solidFill>
                <a:latin typeface="Calibri" pitchFamily="34" charset="0"/>
                <a:ea typeface="Calibri" pitchFamily="34" charset="-122"/>
                <a:cs typeface="Calibri" pitchFamily="34" charset="-120"/>
              </a:rPr>
              <a:t>a,b,c</a:t>
            </a:r>
            <a:r>
              <a:rPr lang="en-US" dirty="0">
                <a:solidFill>
                  <a:srgbClr val="1A1A2E"/>
                </a:solidFill>
                <a:latin typeface="Calibri" pitchFamily="34" charset="0"/>
                <a:ea typeface="Calibri" pitchFamily="34" charset="-122"/>
                <a:cs typeface="Calibri" pitchFamily="34" charset="-120"/>
              </a:rPr>
              <a:t>} ∩ {</a:t>
            </a:r>
            <a:r>
              <a:rPr lang="en-US" dirty="0" err="1">
                <a:solidFill>
                  <a:srgbClr val="1A1A2E"/>
                </a:solidFill>
                <a:latin typeface="Calibri" pitchFamily="34" charset="0"/>
                <a:ea typeface="Calibri" pitchFamily="34" charset="-122"/>
                <a:cs typeface="Calibri" pitchFamily="34" charset="-120"/>
              </a:rPr>
              <a:t>d,e,f</a:t>
            </a:r>
            <a:r>
              <a:rPr lang="en-US" dirty="0">
                <a:solidFill>
                  <a:srgbClr val="1A1A2E"/>
                </a:solidFill>
                <a:latin typeface="Calibri" pitchFamily="34" charset="0"/>
                <a:ea typeface="Calibri" pitchFamily="34" charset="-122"/>
                <a:cs typeface="Calibri" pitchFamily="34" charset="-120"/>
              </a:rPr>
              <a:t>} = ∅  (disjoint sets)</a:t>
            </a:r>
            <a:endParaRPr lang="en-US" dirty="0"/>
          </a:p>
          <a:p>
            <a:pPr marL="0" indent="0">
              <a:buNone/>
            </a:pPr>
            <a:r>
              <a:rPr lang="en-US" dirty="0">
                <a:solidFill>
                  <a:srgbClr val="1A1A2E"/>
                </a:solidFill>
                <a:latin typeface="Calibri" pitchFamily="34" charset="0"/>
                <a:ea typeface="Calibri" pitchFamily="34" charset="-122"/>
                <a:cs typeface="Calibri" pitchFamily="34" charset="-120"/>
              </a:rPr>
              <a:t>{1,2,3} ∩ {1,2,3} = {1,2,3}.</a:t>
            </a:r>
            <a:endParaRPr lang="en-US" dirty="0"/>
          </a:p>
          <a:p>
            <a:pPr marL="0" indent="0">
              <a:buNone/>
            </a:pPr>
            <a:r>
              <a:rPr lang="en-US" dirty="0">
                <a:solidFill>
                  <a:srgbClr val="1A1A2E"/>
                </a:solidFill>
                <a:latin typeface="Calibri" pitchFamily="34" charset="0"/>
                <a:ea typeface="Calibri" pitchFamily="34" charset="-122"/>
                <a:cs typeface="Calibri" pitchFamily="34" charset="-120"/>
              </a:rPr>
              <a:t>Disjoint Sets:</a:t>
            </a:r>
            <a:endParaRPr lang="en-US" dirty="0"/>
          </a:p>
          <a:p>
            <a:pPr marL="0" indent="0">
              <a:buNone/>
            </a:pPr>
            <a:r>
              <a:rPr lang="en-US" dirty="0">
                <a:solidFill>
                  <a:srgbClr val="1A1A2E"/>
                </a:solidFill>
                <a:latin typeface="Calibri" pitchFamily="34" charset="0"/>
                <a:ea typeface="Calibri" pitchFamily="34" charset="-122"/>
                <a:cs typeface="Calibri" pitchFamily="34" charset="-120"/>
              </a:rPr>
              <a:t>If A ∩ B = ∅, then A and B share no common elements.</a:t>
            </a:r>
            <a:endParaRPr lang="en-US" dirty="0"/>
          </a:p>
          <a:p>
            <a:endParaRPr lang="en-TZ" dirty="0"/>
          </a:p>
        </p:txBody>
      </p:sp>
    </p:spTree>
    <p:extLst>
      <p:ext uri="{BB962C8B-B14F-4D97-AF65-F5344CB8AC3E}">
        <p14:creationId xmlns:p14="http://schemas.microsoft.com/office/powerpoint/2010/main" val="3523643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F27BF-AC7F-CF3B-7A66-EC190D724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7B210-081A-4C4C-51FF-E430F6026C81}"/>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66A7F594-78EB-10EA-8B46-78D903E5C2A9}"/>
              </a:ext>
            </a:extLst>
          </p:cNvPr>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iv.</a:t>
            </a:r>
            <a:r>
              <a:rPr lang="en-US" b="1" dirty="0">
                <a:latin typeface="Times New Roman" panose="02020603050405020304" pitchFamily="18" charset="0"/>
                <a:ea typeface="Calibri" pitchFamily="34" charset="-122"/>
                <a:cs typeface="Times New Roman" panose="02020603050405020304" pitchFamily="18" charset="0"/>
              </a:rPr>
              <a:t> Complement  Ā</a:t>
            </a:r>
          </a:p>
          <a:p>
            <a:pPr marL="0" indent="0">
              <a:buNone/>
            </a:pPr>
            <a:r>
              <a:rPr lang="en-US" dirty="0">
                <a:latin typeface="Times New Roman" panose="02020603050405020304" pitchFamily="18" charset="0"/>
                <a:cs typeface="Times New Roman" panose="02020603050405020304" pitchFamily="18" charset="0"/>
              </a:rPr>
              <a:t>Ā = {x ∈ U | x ∉ A}</a:t>
            </a:r>
          </a:p>
          <a:p>
            <a:pPr marL="0" indent="0">
              <a:buNone/>
            </a:pPr>
            <a:r>
              <a:rPr lang="en-US" dirty="0">
                <a:latin typeface="Times New Roman" panose="02020603050405020304" pitchFamily="18" charset="0"/>
                <a:cs typeface="Times New Roman" panose="02020603050405020304" pitchFamily="18" charset="0"/>
              </a:rPr>
              <a:t>All elements NOT in A relative to universal set U.</a:t>
            </a:r>
          </a:p>
          <a:p>
            <a:pPr marL="0" indent="0">
              <a:buNone/>
            </a:pPr>
            <a:r>
              <a:rPr lang="en-US" dirty="0">
                <a:latin typeface="Times New Roman" panose="02020603050405020304" pitchFamily="18" charset="0"/>
                <a:cs typeface="Times New Roman" panose="02020603050405020304" pitchFamily="18" charset="0"/>
              </a:rPr>
              <a:t>U = {1..10}, A = {1,2,3}</a:t>
            </a:r>
          </a:p>
          <a:p>
            <a:pPr marL="0" indent="0">
              <a:buNone/>
            </a:pPr>
            <a:r>
              <a:rPr lang="en-US" dirty="0">
                <a:latin typeface="Times New Roman" panose="02020603050405020304" pitchFamily="18" charset="0"/>
                <a:cs typeface="Times New Roman" panose="02020603050405020304" pitchFamily="18" charset="0"/>
              </a:rPr>
              <a:t>Ā = {4,5,6,7,8,9,10}</a:t>
            </a:r>
          </a:p>
          <a:p>
            <a:pPr marL="0" indent="0">
              <a:buNone/>
            </a:pPr>
            <a:endParaRPr lang="en-US" dirty="0">
              <a:latin typeface="Times New Roman" panose="02020603050405020304" pitchFamily="18" charset="0"/>
              <a:cs typeface="Times New Roman" panose="02020603050405020304" pitchFamily="18" charset="0"/>
            </a:endParaRPr>
          </a:p>
          <a:p>
            <a:endParaRPr lang="en-TZ" dirty="0"/>
          </a:p>
        </p:txBody>
      </p:sp>
    </p:spTree>
    <p:extLst>
      <p:ext uri="{BB962C8B-B14F-4D97-AF65-F5344CB8AC3E}">
        <p14:creationId xmlns:p14="http://schemas.microsoft.com/office/powerpoint/2010/main" val="4071861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4785D-464E-36D8-1E07-DD061BEF4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B6FF55-0D69-1BF8-C745-2A69DC02DAC7}"/>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8BD22986-38F1-17BA-8088-369697ED7983}"/>
              </a:ext>
            </a:extLst>
          </p:cNvPr>
          <p:cNvSpPr>
            <a:spLocks noGrp="1"/>
          </p:cNvSpPr>
          <p:nvPr>
            <p:ph idx="1"/>
          </p:nvPr>
        </p:nvSpPr>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All elements NOT in A (relative to U)</a:t>
            </a:r>
          </a:p>
          <a:p>
            <a:pPr marL="0" indent="0">
              <a:buNone/>
            </a:pPr>
            <a:r>
              <a:rPr lang="en-US" dirty="0">
                <a:latin typeface="Times New Roman" panose="02020603050405020304" pitchFamily="18" charset="0"/>
                <a:cs typeface="Times New Roman" panose="02020603050405020304" pitchFamily="18" charset="0"/>
              </a:rPr>
              <a:t>v. </a:t>
            </a:r>
            <a:r>
              <a:rPr lang="en-US" b="1" dirty="0">
                <a:latin typeface="Times New Roman" panose="02020603050405020304" pitchFamily="18" charset="0"/>
                <a:ea typeface="Calibri" pitchFamily="34" charset="-122"/>
                <a:cs typeface="Times New Roman" panose="02020603050405020304" pitchFamily="18" charset="0"/>
              </a:rPr>
              <a:t>Cartesian Product (A×B).</a:t>
            </a:r>
          </a:p>
          <a:p>
            <a:pPr marL="0" indent="0">
              <a:buNone/>
            </a:pPr>
            <a:r>
              <a:rPr lang="en-US" dirty="0">
                <a:latin typeface="Times New Roman" panose="02020603050405020304" pitchFamily="18" charset="0"/>
                <a:cs typeface="Times New Roman" panose="02020603050405020304" pitchFamily="18" charset="0"/>
              </a:rPr>
              <a:t>Definition: The Cartesian Product A × B is the set of ALL ordered pairs (a, b) where a ∈ A and b ∈ B.</a:t>
            </a:r>
          </a:p>
          <a:p>
            <a:r>
              <a:rPr lang="en-US" b="1" dirty="0">
                <a:latin typeface="Times New Roman" panose="02020603050405020304" pitchFamily="18" charset="0"/>
                <a:ea typeface="Calibri" pitchFamily="34" charset="-122"/>
                <a:cs typeface="Times New Roman" panose="02020603050405020304" pitchFamily="18" charset="0"/>
              </a:rPr>
              <a:t>A × B = {(</a:t>
            </a:r>
            <a:r>
              <a:rPr lang="en-US" b="1" dirty="0" err="1">
                <a:latin typeface="Times New Roman" panose="02020603050405020304" pitchFamily="18" charset="0"/>
                <a:ea typeface="Calibri" pitchFamily="34" charset="-122"/>
                <a:cs typeface="Times New Roman" panose="02020603050405020304" pitchFamily="18" charset="0"/>
              </a:rPr>
              <a:t>a,b</a:t>
            </a:r>
            <a:r>
              <a:rPr lang="en-US" b="1" dirty="0">
                <a:latin typeface="Times New Roman" panose="02020603050405020304" pitchFamily="18" charset="0"/>
                <a:ea typeface="Calibri" pitchFamily="34" charset="-122"/>
                <a:cs typeface="Times New Roman" panose="02020603050405020304" pitchFamily="18" charset="0"/>
              </a:rPr>
              <a:t>) | a ∈ A  and  b ∈ B}       and       |A × B| = |A| × |B|</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Example:</a:t>
            </a:r>
          </a:p>
          <a:p>
            <a:pPr marL="0" indent="0">
              <a:buNone/>
            </a:pPr>
            <a:r>
              <a:rPr lang="en-US" dirty="0">
                <a:latin typeface="Times New Roman" panose="02020603050405020304" pitchFamily="18" charset="0"/>
                <a:ea typeface="Calibri" pitchFamily="34" charset="-122"/>
                <a:cs typeface="Times New Roman" panose="02020603050405020304" pitchFamily="18" charset="0"/>
              </a:rPr>
              <a:t>A = {1, 2}    B = {a, b, c}</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ea typeface="Calibri" pitchFamily="34" charset="-122"/>
                <a:cs typeface="Times New Roman" panose="02020603050405020304" pitchFamily="18" charset="0"/>
              </a:rPr>
              <a:t>A × B = {(1,a), (1,b), (1,c), (2,a), (2,b), (2,c)}</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ea typeface="Calibri" pitchFamily="34" charset="-122"/>
                <a:cs typeface="Times New Roman" panose="02020603050405020304" pitchFamily="18" charset="0"/>
              </a:rPr>
              <a:t>B × A = {(a,1), (a,2), (b,1), (b,2), (c,1), (c,2)}     Note: A × B ≠ B × A</a:t>
            </a:r>
            <a:endParaRPr lang="en-US" dirty="0">
              <a:latin typeface="Times New Roman" panose="02020603050405020304" pitchFamily="18" charset="0"/>
              <a:cs typeface="Times New Roman" panose="02020603050405020304" pitchFamily="18" charset="0"/>
            </a:endParaRPr>
          </a:p>
          <a:p>
            <a:pPr marL="0" indent="0">
              <a:buNone/>
            </a:pPr>
            <a:endParaRPr lang="en-TZ" dirty="0"/>
          </a:p>
        </p:txBody>
      </p:sp>
    </p:spTree>
    <p:extLst>
      <p:ext uri="{BB962C8B-B14F-4D97-AF65-F5344CB8AC3E}">
        <p14:creationId xmlns:p14="http://schemas.microsoft.com/office/powerpoint/2010/main" val="75894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7EE4F-2344-1905-5C66-6479393A3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3ED64-244F-6095-C16A-600A3CACAE06}"/>
              </a:ext>
            </a:extLst>
          </p:cNvPr>
          <p:cNvSpPr>
            <a:spLocks noGrp="1"/>
          </p:cNvSpPr>
          <p:nvPr>
            <p:ph type="title"/>
          </p:nvPr>
        </p:nvSpPr>
        <p:spPr/>
        <p:txBody>
          <a:bodyPr/>
          <a:lstStyle/>
          <a:p>
            <a:r>
              <a:rPr lang="en-US" b="1" dirty="0"/>
              <a:t>Set identities and Laws</a:t>
            </a:r>
            <a:endParaRPr lang="en-TZ" b="1" dirty="0"/>
          </a:p>
        </p:txBody>
      </p:sp>
      <p:pic>
        <p:nvPicPr>
          <p:cNvPr id="5" name="Content Placeholder 4">
            <a:extLst>
              <a:ext uri="{FF2B5EF4-FFF2-40B4-BE49-F238E27FC236}">
                <a16:creationId xmlns:a16="http://schemas.microsoft.com/office/drawing/2014/main" id="{8A9B000B-4DA7-5217-9C43-926D46BEA7BC}"/>
              </a:ext>
            </a:extLst>
          </p:cNvPr>
          <p:cNvPicPr>
            <a:picLocks noGrp="1" noChangeAspect="1"/>
          </p:cNvPicPr>
          <p:nvPr>
            <p:ph idx="1"/>
          </p:nvPr>
        </p:nvPicPr>
        <p:blipFill>
          <a:blip r:embed="rId2"/>
          <a:stretch>
            <a:fillRect/>
          </a:stretch>
        </p:blipFill>
        <p:spPr>
          <a:xfrm>
            <a:off x="478361" y="1816925"/>
            <a:ext cx="10516140" cy="4583190"/>
          </a:xfrm>
          <a:prstGeom prst="rect">
            <a:avLst/>
          </a:prstGeom>
        </p:spPr>
      </p:pic>
    </p:spTree>
    <p:extLst>
      <p:ext uri="{BB962C8B-B14F-4D97-AF65-F5344CB8AC3E}">
        <p14:creationId xmlns:p14="http://schemas.microsoft.com/office/powerpoint/2010/main" val="24770568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F3F40-F10B-2217-619F-00A92196B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916EF-18A0-5B40-CCA9-302EA50F991E}"/>
              </a:ext>
            </a:extLst>
          </p:cNvPr>
          <p:cNvSpPr>
            <a:spLocks noGrp="1"/>
          </p:cNvSpPr>
          <p:nvPr>
            <p:ph type="title"/>
          </p:nvPr>
        </p:nvSpPr>
        <p:spPr/>
        <p:txBody>
          <a:bodyPr/>
          <a:lstStyle/>
          <a:p>
            <a:r>
              <a:rPr lang="en-US" b="1" dirty="0">
                <a:solidFill>
                  <a:srgbClr val="C00000"/>
                </a:solidFill>
                <a:latin typeface="Times New Roman" panose="02020603050405020304" pitchFamily="18" charset="0"/>
                <a:ea typeface="Calibri" pitchFamily="34" charset="-122"/>
                <a:cs typeface="Times New Roman" panose="02020603050405020304" pitchFamily="18" charset="0"/>
              </a:rPr>
              <a:t>How Venn Diagrams are used in Set Theory</a:t>
            </a:r>
            <a:endParaRPr lang="en-TZ" b="1" dirty="0">
              <a:solidFill>
                <a:srgbClr val="C00000"/>
              </a:solidFill>
            </a:endParaRPr>
          </a:p>
        </p:txBody>
      </p:sp>
      <p:sp>
        <p:nvSpPr>
          <p:cNvPr id="3" name="Content Placeholder 2">
            <a:extLst>
              <a:ext uri="{FF2B5EF4-FFF2-40B4-BE49-F238E27FC236}">
                <a16:creationId xmlns:a16="http://schemas.microsoft.com/office/drawing/2014/main" id="{57AAA81A-E604-628E-246D-CCC580B82576}"/>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What are </a:t>
            </a:r>
            <a:r>
              <a:rPr lang="en-US" dirty="0" err="1">
                <a:latin typeface="Times New Roman" panose="02020603050405020304" pitchFamily="18" charset="0"/>
                <a:cs typeface="Times New Roman" panose="02020603050405020304" pitchFamily="18" charset="0"/>
              </a:rPr>
              <a:t>venn</a:t>
            </a:r>
            <a:r>
              <a:rPr lang="en-US" dirty="0">
                <a:latin typeface="Times New Roman" panose="02020603050405020304" pitchFamily="18" charset="0"/>
                <a:cs typeface="Times New Roman" panose="02020603050405020304" pitchFamily="18" charset="0"/>
              </a:rPr>
              <a:t> diagrams? </a:t>
            </a:r>
          </a:p>
          <a:p>
            <a:pPr marL="0" indent="0">
              <a:buNone/>
            </a:pPr>
            <a:r>
              <a:rPr lang="en-US" dirty="0">
                <a:latin typeface="Times New Roman" panose="02020603050405020304" pitchFamily="18" charset="0"/>
                <a:cs typeface="Times New Roman" panose="02020603050405020304" pitchFamily="18" charset="0"/>
              </a:rPr>
              <a:t>Definition: Venn diagrams, introduced by English mathematician John Venn in 1881, graphically represent sets as circles or ovals within a rectangle that represents the universal set U.</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9417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B8151-FD61-6FD5-7134-12B3117592EC}"/>
              </a:ext>
            </a:extLst>
          </p:cNvPr>
          <p:cNvSpPr>
            <a:spLocks noGrp="1"/>
          </p:cNvSpPr>
          <p:nvPr>
            <p:ph type="title"/>
          </p:nvPr>
        </p:nvSpPr>
        <p:spPr/>
        <p:txBody>
          <a:bodyPr/>
          <a:lstStyle/>
          <a:p>
            <a:r>
              <a:rPr lang="en-US" dirty="0"/>
              <a:t> </a:t>
            </a:r>
            <a:endParaRPr lang="en-TZ" dirty="0"/>
          </a:p>
        </p:txBody>
      </p:sp>
      <p:sp>
        <p:nvSpPr>
          <p:cNvPr id="3" name="Content Placeholder 2">
            <a:extLst>
              <a:ext uri="{FF2B5EF4-FFF2-40B4-BE49-F238E27FC236}">
                <a16:creationId xmlns:a16="http://schemas.microsoft.com/office/drawing/2014/main" id="{43577F68-1257-E88B-9A3B-E75887905521}"/>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Components of a </a:t>
            </a:r>
            <a:r>
              <a:rPr lang="en-US" dirty="0" err="1">
                <a:latin typeface="Times New Roman" panose="02020603050405020304" pitchFamily="18" charset="0"/>
                <a:cs typeface="Times New Roman" panose="02020603050405020304" pitchFamily="18" charset="0"/>
              </a:rPr>
              <a:t>venn</a:t>
            </a:r>
            <a:r>
              <a:rPr lang="en-US" dirty="0">
                <a:latin typeface="Times New Roman" panose="02020603050405020304" pitchFamily="18" charset="0"/>
                <a:cs typeface="Times New Roman" panose="02020603050405020304" pitchFamily="18" charset="0"/>
              </a:rPr>
              <a:t> diagram.</a:t>
            </a:r>
          </a:p>
          <a:p>
            <a:r>
              <a:rPr lang="en-US" dirty="0">
                <a:latin typeface="Times New Roman" panose="02020603050405020304" pitchFamily="18" charset="0"/>
                <a:cs typeface="Times New Roman" panose="02020603050405020304" pitchFamily="18" charset="0"/>
              </a:rPr>
              <a:t>Rectangle (U)</a:t>
            </a:r>
          </a:p>
          <a:p>
            <a:pPr marL="0" indent="0">
              <a:buNone/>
            </a:pPr>
            <a:r>
              <a:rPr lang="en-US" dirty="0">
                <a:latin typeface="Times New Roman" panose="02020603050405020304" pitchFamily="18" charset="0"/>
                <a:ea typeface="Calibri" pitchFamily="34" charset="-122"/>
                <a:cs typeface="Times New Roman" panose="02020603050405020304" pitchFamily="18" charset="0"/>
              </a:rPr>
              <a:t>Represents the Universal Set — all objects under consideration in the current context.</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Circles or ovals</a:t>
            </a:r>
          </a:p>
          <a:p>
            <a:pPr marL="0" indent="0">
              <a:buNone/>
            </a:pPr>
            <a:r>
              <a:rPr lang="en-US" dirty="0">
                <a:latin typeface="Times New Roman" panose="02020603050405020304" pitchFamily="18" charset="0"/>
                <a:ea typeface="Calibri" pitchFamily="34" charset="-122"/>
                <a:cs typeface="Times New Roman" panose="02020603050405020304" pitchFamily="18" charset="0"/>
              </a:rPr>
              <a:t>Each circle represents a set. Elements inside the circle belong to that set.</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87123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359F4-07B2-1ACC-1DEE-4C5877096521}"/>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1AD55888-61E7-8D7C-CF64-AAC6B239E1DE}"/>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Overlapping areas</a:t>
            </a:r>
          </a:p>
          <a:p>
            <a:pPr marL="0" indent="0">
              <a:buNone/>
            </a:pPr>
            <a:r>
              <a:rPr lang="en-US" dirty="0">
                <a:latin typeface="Times New Roman" panose="02020603050405020304" pitchFamily="18" charset="0"/>
                <a:ea typeface="Calibri" pitchFamily="34" charset="-122"/>
                <a:cs typeface="Times New Roman" panose="02020603050405020304" pitchFamily="18" charset="0"/>
              </a:rPr>
              <a:t>The overlap between circles represents the INTERSECTION of two or more sets.</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Points or labels</a:t>
            </a:r>
          </a:p>
          <a:p>
            <a:pPr marL="0" indent="0">
              <a:buNone/>
            </a:pPr>
            <a:r>
              <a:rPr lang="en-US" dirty="0">
                <a:latin typeface="Times New Roman" panose="02020603050405020304" pitchFamily="18" charset="0"/>
                <a:ea typeface="Calibri" pitchFamily="34" charset="-122"/>
                <a:cs typeface="Times New Roman" panose="02020603050405020304" pitchFamily="18" charset="0"/>
              </a:rPr>
              <a:t>Individual elements can be placed inside regions to show their set membership precisely.</a:t>
            </a:r>
            <a:endParaRPr lang="en-US" dirty="0">
              <a:latin typeface="Times New Roman" panose="02020603050405020304" pitchFamily="18" charset="0"/>
              <a:cs typeface="Times New Roman" panose="02020603050405020304" pitchFamily="18" charset="0"/>
            </a:endParaRP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73353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75983-086A-A8EE-CDB8-021819C12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39CDD-B24F-2363-86C8-BBBA774F9A94}"/>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D4BECDFC-6F82-A2AE-2925-AB813A02067C}"/>
              </a:ext>
            </a:extLst>
          </p:cNvPr>
          <p:cNvSpPr>
            <a:spLocks noGrp="1"/>
          </p:cNvSpPr>
          <p:nvPr>
            <p:ph idx="1"/>
          </p:nvPr>
        </p:nvSpPr>
        <p:spPr/>
        <p:txBody>
          <a:bodyPr/>
          <a:lstStyle/>
          <a:p>
            <a:r>
              <a:rPr lang="en-US" dirty="0">
                <a:solidFill>
                  <a:srgbClr val="1A1A2E"/>
                </a:solidFill>
                <a:latin typeface="Calibri" pitchFamily="34" charset="0"/>
                <a:ea typeface="Calibri" pitchFamily="34" charset="-122"/>
                <a:cs typeface="Calibri" pitchFamily="34" charset="-120"/>
              </a:rPr>
              <a:t>Two fundamental Venn diagram configurations</a:t>
            </a:r>
          </a:p>
          <a:p>
            <a:r>
              <a:rPr lang="en-US" b="1" dirty="0">
                <a:latin typeface="Georgia" pitchFamily="34" charset="0"/>
                <a:ea typeface="Georgia" pitchFamily="34" charset="-122"/>
                <a:cs typeface="Georgia" pitchFamily="34" charset="-120"/>
              </a:rPr>
              <a:t>Single Set (Set of Vowels).</a:t>
            </a:r>
          </a:p>
          <a:p>
            <a:endParaRPr lang="en-US" b="1" dirty="0">
              <a:solidFill>
                <a:srgbClr val="1A2E5A"/>
              </a:solidFill>
              <a:latin typeface="Georgia" pitchFamily="34" charset="0"/>
              <a:ea typeface="Georgia" pitchFamily="34" charset="-122"/>
              <a:cs typeface="Georgia" pitchFamily="34" charset="-120"/>
            </a:endParaRPr>
          </a:p>
          <a:p>
            <a:endParaRPr lang="en-US" dirty="0"/>
          </a:p>
          <a:p>
            <a:endParaRPr lang="en-TZ" dirty="0"/>
          </a:p>
        </p:txBody>
      </p:sp>
      <p:pic>
        <p:nvPicPr>
          <p:cNvPr id="5" name="Picture 4">
            <a:extLst>
              <a:ext uri="{FF2B5EF4-FFF2-40B4-BE49-F238E27FC236}">
                <a16:creationId xmlns:a16="http://schemas.microsoft.com/office/drawing/2014/main" id="{A5049995-E72D-97BC-7BD1-217EB5919600}"/>
              </a:ext>
            </a:extLst>
          </p:cNvPr>
          <p:cNvPicPr>
            <a:picLocks noChangeAspect="1"/>
          </p:cNvPicPr>
          <p:nvPr/>
        </p:nvPicPr>
        <p:blipFill>
          <a:blip r:embed="rId2"/>
          <a:stretch>
            <a:fillRect/>
          </a:stretch>
        </p:blipFill>
        <p:spPr>
          <a:xfrm>
            <a:off x="4056016" y="3219286"/>
            <a:ext cx="3676207" cy="2651990"/>
          </a:xfrm>
          <a:prstGeom prst="rect">
            <a:avLst/>
          </a:prstGeom>
        </p:spPr>
      </p:pic>
      <p:sp>
        <p:nvSpPr>
          <p:cNvPr id="7" name="Shape 10">
            <a:extLst>
              <a:ext uri="{FF2B5EF4-FFF2-40B4-BE49-F238E27FC236}">
                <a16:creationId xmlns:a16="http://schemas.microsoft.com/office/drawing/2014/main" id="{5B6F8375-C015-0731-C3A6-F8D04B70F75B}"/>
              </a:ext>
            </a:extLst>
          </p:cNvPr>
          <p:cNvSpPr/>
          <p:nvPr/>
        </p:nvSpPr>
        <p:spPr>
          <a:xfrm>
            <a:off x="4613959" y="3733009"/>
            <a:ext cx="2560320" cy="1920240"/>
          </a:xfrm>
          <a:prstGeom prst="ellipse">
            <a:avLst/>
          </a:prstGeom>
          <a:solidFill>
            <a:srgbClr val="4A1E8A">
              <a:alpha val="30000"/>
            </a:srgbClr>
          </a:solidFill>
          <a:ln w="25400">
            <a:solidFill>
              <a:srgbClr val="4A1E8A"/>
            </a:solidFill>
            <a:prstDash val="solid"/>
          </a:ln>
        </p:spPr>
        <p:txBody>
          <a:bodyPr/>
          <a:lstStyle/>
          <a:p>
            <a:pPr algn="ctr"/>
            <a:r>
              <a:rPr lang="en-US" b="1" dirty="0"/>
              <a:t>V</a:t>
            </a:r>
          </a:p>
          <a:p>
            <a:pPr algn="ctr"/>
            <a:endParaRPr lang="en-US" b="1" dirty="0"/>
          </a:p>
          <a:p>
            <a:pPr algn="ctr"/>
            <a:r>
              <a:rPr lang="pt-BR" dirty="0"/>
              <a:t>a  e  i</a:t>
            </a:r>
          </a:p>
          <a:p>
            <a:pPr algn="ctr"/>
            <a:r>
              <a:rPr lang="pt-BR" dirty="0"/>
              <a:t>  o    u</a:t>
            </a:r>
          </a:p>
          <a:p>
            <a:pPr algn="ctr"/>
            <a:endParaRPr lang="en-TZ" b="1" dirty="0"/>
          </a:p>
        </p:txBody>
      </p:sp>
      <p:sp>
        <p:nvSpPr>
          <p:cNvPr id="9" name="TextBox 8">
            <a:extLst>
              <a:ext uri="{FF2B5EF4-FFF2-40B4-BE49-F238E27FC236}">
                <a16:creationId xmlns:a16="http://schemas.microsoft.com/office/drawing/2014/main" id="{C62528C9-8B9F-9D54-7B4C-CA44392EB218}"/>
              </a:ext>
            </a:extLst>
          </p:cNvPr>
          <p:cNvSpPr txBox="1"/>
          <p:nvPr/>
        </p:nvSpPr>
        <p:spPr>
          <a:xfrm>
            <a:off x="4125290" y="3296209"/>
            <a:ext cx="6097978" cy="369332"/>
          </a:xfrm>
          <a:prstGeom prst="rect">
            <a:avLst/>
          </a:prstGeom>
          <a:noFill/>
        </p:spPr>
        <p:txBody>
          <a:bodyPr wrap="square">
            <a:spAutoFit/>
          </a:bodyPr>
          <a:lstStyle/>
          <a:p>
            <a:pPr marL="0" indent="0">
              <a:buNone/>
            </a:pPr>
            <a:r>
              <a:rPr lang="en-US" sz="1800" dirty="0">
                <a:solidFill>
                  <a:srgbClr val="1A2E5A"/>
                </a:solidFill>
                <a:latin typeface="Calibri" pitchFamily="34" charset="0"/>
                <a:ea typeface="Calibri" pitchFamily="34" charset="-122"/>
                <a:cs typeface="Calibri" pitchFamily="34" charset="-120"/>
              </a:rPr>
              <a:t>U = English Alphabet</a:t>
            </a:r>
            <a:endParaRPr lang="en-US" sz="1800" dirty="0"/>
          </a:p>
        </p:txBody>
      </p:sp>
    </p:spTree>
    <p:extLst>
      <p:ext uri="{BB962C8B-B14F-4D97-AF65-F5344CB8AC3E}">
        <p14:creationId xmlns:p14="http://schemas.microsoft.com/office/powerpoint/2010/main" val="1634127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9CB5F-47DC-D67E-0B10-3E5752484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72DD4-8209-DB57-5EC7-AD7FF8139CFE}"/>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C0DC6195-558C-B022-FC03-CBCD3C63AD8E}"/>
              </a:ext>
            </a:extLst>
          </p:cNvPr>
          <p:cNvSpPr>
            <a:spLocks noGrp="1"/>
          </p:cNvSpPr>
          <p:nvPr>
            <p:ph idx="1"/>
          </p:nvPr>
        </p:nvSpPr>
        <p:spPr/>
        <p:txBody>
          <a:bodyPr/>
          <a:lstStyle/>
          <a:p>
            <a:pPr marL="0" indent="0">
              <a:buNone/>
            </a:pPr>
            <a:r>
              <a:rPr lang="en-US" dirty="0"/>
              <a:t>Subset </a:t>
            </a:r>
            <a:r>
              <a:rPr lang="en-US" dirty="0">
                <a:latin typeface="Georgia" pitchFamily="34" charset="0"/>
                <a:ea typeface="Georgia" pitchFamily="34" charset="-122"/>
                <a:cs typeface="Georgia" pitchFamily="34" charset="-120"/>
              </a:rPr>
              <a:t>A ⊆ B.</a:t>
            </a:r>
          </a:p>
          <a:p>
            <a:pPr marL="0" indent="0">
              <a:buNone/>
            </a:pPr>
            <a:endParaRPr lang="en-TZ" dirty="0"/>
          </a:p>
        </p:txBody>
      </p:sp>
      <p:sp>
        <p:nvSpPr>
          <p:cNvPr id="4" name="Shape 15">
            <a:extLst>
              <a:ext uri="{FF2B5EF4-FFF2-40B4-BE49-F238E27FC236}">
                <a16:creationId xmlns:a16="http://schemas.microsoft.com/office/drawing/2014/main" id="{03609AB2-9BB4-3603-78BF-EC5336AA55E7}"/>
              </a:ext>
            </a:extLst>
          </p:cNvPr>
          <p:cNvSpPr/>
          <p:nvPr/>
        </p:nvSpPr>
        <p:spPr>
          <a:xfrm>
            <a:off x="4267200" y="3042933"/>
            <a:ext cx="3657600" cy="2633472"/>
          </a:xfrm>
          <a:prstGeom prst="rect">
            <a:avLst/>
          </a:prstGeom>
          <a:solidFill>
            <a:srgbClr val="F8F4FF"/>
          </a:solidFill>
          <a:ln w="19050">
            <a:solidFill>
              <a:srgbClr val="1A2E5A"/>
            </a:solidFill>
            <a:prstDash val="solid"/>
          </a:ln>
        </p:spPr>
        <p:txBody>
          <a:bodyPr/>
          <a:lstStyle/>
          <a:p>
            <a:r>
              <a:rPr lang="en-US" dirty="0"/>
              <a:t>u</a:t>
            </a:r>
            <a:endParaRPr lang="en-TZ" dirty="0"/>
          </a:p>
        </p:txBody>
      </p:sp>
      <p:sp>
        <p:nvSpPr>
          <p:cNvPr id="5" name="Shape 17">
            <a:extLst>
              <a:ext uri="{FF2B5EF4-FFF2-40B4-BE49-F238E27FC236}">
                <a16:creationId xmlns:a16="http://schemas.microsoft.com/office/drawing/2014/main" id="{97B59A97-04FE-2B7F-CB1C-49BFC7EAF07F}"/>
              </a:ext>
            </a:extLst>
          </p:cNvPr>
          <p:cNvSpPr/>
          <p:nvPr/>
        </p:nvSpPr>
        <p:spPr>
          <a:xfrm>
            <a:off x="4541520" y="3262389"/>
            <a:ext cx="3108960" cy="2194560"/>
          </a:xfrm>
          <a:prstGeom prst="ellipse">
            <a:avLst/>
          </a:prstGeom>
          <a:solidFill>
            <a:srgbClr val="0E7C86">
              <a:alpha val="20000"/>
            </a:srgbClr>
          </a:solidFill>
          <a:ln w="25400">
            <a:solidFill>
              <a:srgbClr val="0E7C86"/>
            </a:solidFill>
            <a:prstDash val="solid"/>
          </a:ln>
        </p:spPr>
        <p:txBody>
          <a:bodyPr/>
          <a:lstStyle/>
          <a:p>
            <a:r>
              <a:rPr lang="en-US" b="1" dirty="0"/>
              <a:t>B</a:t>
            </a:r>
            <a:endParaRPr lang="en-TZ" b="1" dirty="0"/>
          </a:p>
        </p:txBody>
      </p:sp>
      <p:sp>
        <p:nvSpPr>
          <p:cNvPr id="6" name="Shape 19">
            <a:extLst>
              <a:ext uri="{FF2B5EF4-FFF2-40B4-BE49-F238E27FC236}">
                <a16:creationId xmlns:a16="http://schemas.microsoft.com/office/drawing/2014/main" id="{EEA7B256-FC6C-143F-4DAA-49C507495DED}"/>
              </a:ext>
            </a:extLst>
          </p:cNvPr>
          <p:cNvSpPr/>
          <p:nvPr/>
        </p:nvSpPr>
        <p:spPr>
          <a:xfrm>
            <a:off x="5135880" y="3728733"/>
            <a:ext cx="1920240" cy="1371600"/>
          </a:xfrm>
          <a:prstGeom prst="ellipse">
            <a:avLst/>
          </a:prstGeom>
          <a:solidFill>
            <a:srgbClr val="1A2E5A">
              <a:alpha val="30000"/>
            </a:srgbClr>
          </a:solidFill>
          <a:ln w="25400">
            <a:solidFill>
              <a:srgbClr val="1A2E5A"/>
            </a:solidFill>
            <a:prstDash val="solid"/>
          </a:ln>
        </p:spPr>
        <p:txBody>
          <a:bodyPr/>
          <a:lstStyle/>
          <a:p>
            <a:r>
              <a:rPr lang="en-US" b="1" dirty="0"/>
              <a:t>A</a:t>
            </a:r>
            <a:endParaRPr lang="en-TZ" b="1" dirty="0"/>
          </a:p>
        </p:txBody>
      </p:sp>
    </p:spTree>
    <p:extLst>
      <p:ext uri="{BB962C8B-B14F-4D97-AF65-F5344CB8AC3E}">
        <p14:creationId xmlns:p14="http://schemas.microsoft.com/office/powerpoint/2010/main" val="8689757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93C93-532A-176A-E129-6742BE595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961B1-26D1-E580-096E-5C045346543D}"/>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378B3F84-D3D0-07ED-8D6B-DEAE1E129E1E}"/>
              </a:ext>
            </a:extLst>
          </p:cNvPr>
          <p:cNvSpPr>
            <a:spLocks noGrp="1"/>
          </p:cNvSpPr>
          <p:nvPr>
            <p:ph idx="1"/>
          </p:nvPr>
        </p:nvSpPr>
        <p:spPr/>
        <p:txBody>
          <a:bodyPr/>
          <a:lstStyle/>
          <a:p>
            <a:r>
              <a:rPr lang="en-US" dirty="0"/>
              <a:t>Union AUB</a:t>
            </a:r>
          </a:p>
          <a:p>
            <a:endParaRPr lang="en-US" dirty="0"/>
          </a:p>
          <a:p>
            <a:endParaRPr lang="en-TZ" dirty="0"/>
          </a:p>
        </p:txBody>
      </p:sp>
      <p:sp>
        <p:nvSpPr>
          <p:cNvPr id="4" name="Shape 8">
            <a:extLst>
              <a:ext uri="{FF2B5EF4-FFF2-40B4-BE49-F238E27FC236}">
                <a16:creationId xmlns:a16="http://schemas.microsoft.com/office/drawing/2014/main" id="{FEFD75AD-2F40-85F3-2530-F0E818F4EA5F}"/>
              </a:ext>
            </a:extLst>
          </p:cNvPr>
          <p:cNvSpPr/>
          <p:nvPr/>
        </p:nvSpPr>
        <p:spPr>
          <a:xfrm>
            <a:off x="3671851" y="3060271"/>
            <a:ext cx="3840480" cy="2743200"/>
          </a:xfrm>
          <a:prstGeom prst="rect">
            <a:avLst/>
          </a:prstGeom>
          <a:solidFill>
            <a:srgbClr val="F4F0FB"/>
          </a:solidFill>
          <a:ln w="12700">
            <a:solidFill>
              <a:srgbClr val="1A2E5A"/>
            </a:solidFill>
            <a:prstDash val="solid"/>
          </a:ln>
        </p:spPr>
      </p:sp>
      <p:sp>
        <p:nvSpPr>
          <p:cNvPr id="5" name="Shape 9">
            <a:extLst>
              <a:ext uri="{FF2B5EF4-FFF2-40B4-BE49-F238E27FC236}">
                <a16:creationId xmlns:a16="http://schemas.microsoft.com/office/drawing/2014/main" id="{6705805A-2721-AE8B-C12C-212E894FFA5B}"/>
              </a:ext>
            </a:extLst>
          </p:cNvPr>
          <p:cNvSpPr/>
          <p:nvPr/>
        </p:nvSpPr>
        <p:spPr>
          <a:xfrm>
            <a:off x="3671851" y="3429000"/>
            <a:ext cx="2103120" cy="2103120"/>
          </a:xfrm>
          <a:prstGeom prst="ellipse">
            <a:avLst/>
          </a:prstGeom>
          <a:solidFill>
            <a:srgbClr val="7030A0">
              <a:alpha val="60000"/>
            </a:srgbClr>
          </a:solidFill>
          <a:ln w="25400">
            <a:solidFill>
              <a:srgbClr val="4A1E8A"/>
            </a:solidFill>
            <a:prstDash val="solid"/>
          </a:ln>
        </p:spPr>
        <p:txBody>
          <a:bodyPr/>
          <a:lstStyle/>
          <a:p>
            <a:r>
              <a:rPr lang="en-US" dirty="0"/>
              <a:t>A</a:t>
            </a:r>
            <a:endParaRPr lang="en-TZ" dirty="0"/>
          </a:p>
        </p:txBody>
      </p:sp>
      <p:sp>
        <p:nvSpPr>
          <p:cNvPr id="6" name="Shape 10">
            <a:extLst>
              <a:ext uri="{FF2B5EF4-FFF2-40B4-BE49-F238E27FC236}">
                <a16:creationId xmlns:a16="http://schemas.microsoft.com/office/drawing/2014/main" id="{3D47B048-C6A8-258F-85D2-EEAC470BCD84}"/>
              </a:ext>
            </a:extLst>
          </p:cNvPr>
          <p:cNvSpPr/>
          <p:nvPr/>
        </p:nvSpPr>
        <p:spPr>
          <a:xfrm>
            <a:off x="5409211" y="3429000"/>
            <a:ext cx="2103120" cy="2103120"/>
          </a:xfrm>
          <a:prstGeom prst="ellipse">
            <a:avLst/>
          </a:prstGeom>
          <a:solidFill>
            <a:srgbClr val="7030A0">
              <a:alpha val="60000"/>
            </a:srgbClr>
          </a:solidFill>
          <a:ln w="25400">
            <a:solidFill>
              <a:srgbClr val="7030A0"/>
            </a:solidFill>
            <a:prstDash val="solid"/>
          </a:ln>
        </p:spPr>
        <p:txBody>
          <a:bodyPr/>
          <a:lstStyle/>
          <a:p>
            <a:r>
              <a:rPr lang="en-US" dirty="0"/>
              <a:t>B</a:t>
            </a:r>
            <a:endParaRPr lang="en-TZ" dirty="0"/>
          </a:p>
        </p:txBody>
      </p:sp>
    </p:spTree>
    <p:extLst>
      <p:ext uri="{BB962C8B-B14F-4D97-AF65-F5344CB8AC3E}">
        <p14:creationId xmlns:p14="http://schemas.microsoft.com/office/powerpoint/2010/main" val="13025457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D1A7E-7908-C120-B7D6-9C25D3BA0F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0518A1-B1C6-26AF-2CFA-3A1D465A6D52}"/>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F4177F65-DDF3-2A38-4A5A-D329B11EB55C}"/>
              </a:ext>
            </a:extLst>
          </p:cNvPr>
          <p:cNvSpPr>
            <a:spLocks noGrp="1"/>
          </p:cNvSpPr>
          <p:nvPr>
            <p:ph idx="1"/>
          </p:nvPr>
        </p:nvSpPr>
        <p:spPr/>
        <p:txBody>
          <a:bodyPr/>
          <a:lstStyle/>
          <a:p>
            <a:r>
              <a:rPr lang="en-US" dirty="0"/>
              <a:t>Intersection </a:t>
            </a:r>
            <a:r>
              <a:rPr lang="en-US" b="1" dirty="0">
                <a:latin typeface="Calibri" pitchFamily="34" charset="0"/>
                <a:ea typeface="Calibri" pitchFamily="34" charset="-122"/>
                <a:cs typeface="Calibri" pitchFamily="34" charset="-120"/>
              </a:rPr>
              <a:t>A ∩ B  (shaded)</a:t>
            </a:r>
            <a:endParaRPr lang="en-US" dirty="0"/>
          </a:p>
          <a:p>
            <a:endParaRPr lang="en-US" dirty="0"/>
          </a:p>
          <a:p>
            <a:endParaRPr lang="en-TZ" dirty="0"/>
          </a:p>
        </p:txBody>
      </p:sp>
      <p:sp>
        <p:nvSpPr>
          <p:cNvPr id="4" name="Shape 8">
            <a:extLst>
              <a:ext uri="{FF2B5EF4-FFF2-40B4-BE49-F238E27FC236}">
                <a16:creationId xmlns:a16="http://schemas.microsoft.com/office/drawing/2014/main" id="{896367F5-DDE7-9CAD-EC0D-C392FF57C0E2}"/>
              </a:ext>
            </a:extLst>
          </p:cNvPr>
          <p:cNvSpPr/>
          <p:nvPr/>
        </p:nvSpPr>
        <p:spPr>
          <a:xfrm>
            <a:off x="3671851" y="3060271"/>
            <a:ext cx="3840480" cy="2743200"/>
          </a:xfrm>
          <a:prstGeom prst="rect">
            <a:avLst/>
          </a:prstGeom>
          <a:solidFill>
            <a:srgbClr val="F4F0FB"/>
          </a:solidFill>
          <a:ln w="12700">
            <a:solidFill>
              <a:srgbClr val="1A2E5A"/>
            </a:solidFill>
            <a:prstDash val="solid"/>
          </a:ln>
        </p:spPr>
        <p:txBody>
          <a:bodyPr/>
          <a:lstStyle/>
          <a:p>
            <a:endParaRPr lang="en-TZ"/>
          </a:p>
        </p:txBody>
      </p:sp>
      <p:sp>
        <p:nvSpPr>
          <p:cNvPr id="5" name="Shape 9">
            <a:extLst>
              <a:ext uri="{FF2B5EF4-FFF2-40B4-BE49-F238E27FC236}">
                <a16:creationId xmlns:a16="http://schemas.microsoft.com/office/drawing/2014/main" id="{A7AD974C-97D8-7B44-E9CD-C8B4877BB47E}"/>
              </a:ext>
            </a:extLst>
          </p:cNvPr>
          <p:cNvSpPr/>
          <p:nvPr/>
        </p:nvSpPr>
        <p:spPr>
          <a:xfrm>
            <a:off x="3671851" y="3429000"/>
            <a:ext cx="2103120" cy="2103120"/>
          </a:xfrm>
          <a:prstGeom prst="ellipse">
            <a:avLst/>
          </a:prstGeom>
          <a:solidFill>
            <a:srgbClr val="7030A0">
              <a:alpha val="60000"/>
            </a:srgbClr>
          </a:solidFill>
          <a:ln w="25400">
            <a:solidFill>
              <a:srgbClr val="4A1E8A"/>
            </a:solidFill>
            <a:prstDash val="solid"/>
          </a:ln>
        </p:spPr>
        <p:txBody>
          <a:bodyPr/>
          <a:lstStyle/>
          <a:p>
            <a:r>
              <a:rPr lang="en-US" dirty="0"/>
              <a:t>A</a:t>
            </a:r>
            <a:endParaRPr lang="en-TZ" dirty="0"/>
          </a:p>
        </p:txBody>
      </p:sp>
      <p:sp>
        <p:nvSpPr>
          <p:cNvPr id="6" name="Shape 10">
            <a:extLst>
              <a:ext uri="{FF2B5EF4-FFF2-40B4-BE49-F238E27FC236}">
                <a16:creationId xmlns:a16="http://schemas.microsoft.com/office/drawing/2014/main" id="{4E092F0A-C041-C13B-0CDF-4C38AADB669B}"/>
              </a:ext>
            </a:extLst>
          </p:cNvPr>
          <p:cNvSpPr/>
          <p:nvPr/>
        </p:nvSpPr>
        <p:spPr>
          <a:xfrm>
            <a:off x="5409211" y="3429000"/>
            <a:ext cx="2103120" cy="2103120"/>
          </a:xfrm>
          <a:prstGeom prst="ellipse">
            <a:avLst/>
          </a:prstGeom>
          <a:solidFill>
            <a:srgbClr val="7030A0">
              <a:alpha val="60000"/>
            </a:srgbClr>
          </a:solidFill>
          <a:ln w="25400">
            <a:solidFill>
              <a:srgbClr val="7030A0"/>
            </a:solidFill>
            <a:prstDash val="solid"/>
          </a:ln>
        </p:spPr>
        <p:txBody>
          <a:bodyPr/>
          <a:lstStyle/>
          <a:p>
            <a:r>
              <a:rPr lang="en-US" dirty="0"/>
              <a:t>B</a:t>
            </a:r>
            <a:endParaRPr lang="en-TZ" dirty="0"/>
          </a:p>
        </p:txBody>
      </p:sp>
    </p:spTree>
    <p:extLst>
      <p:ext uri="{BB962C8B-B14F-4D97-AF65-F5344CB8AC3E}">
        <p14:creationId xmlns:p14="http://schemas.microsoft.com/office/powerpoint/2010/main" val="40875988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EBD57-F95C-AE8C-127D-36ACB74BC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893E69-C379-0ED9-A95D-6EA62D552331}"/>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E56D3A68-27A3-7410-EFEE-42361C8E902A}"/>
              </a:ext>
            </a:extLst>
          </p:cNvPr>
          <p:cNvSpPr>
            <a:spLocks noGrp="1"/>
          </p:cNvSpPr>
          <p:nvPr>
            <p:ph idx="1"/>
          </p:nvPr>
        </p:nvSpPr>
        <p:spPr>
          <a:xfrm>
            <a:off x="237506" y="1825625"/>
            <a:ext cx="11116294" cy="4919559"/>
          </a:xfrm>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ea typeface="Calibri" pitchFamily="34" charset="-122"/>
                <a:cs typeface="Times New Roman" panose="02020603050405020304" pitchFamily="18" charset="0"/>
              </a:rPr>
              <a:t>Difference  A − B  (shaded)</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ea typeface="Calibri" pitchFamily="34" charset="-122"/>
                <a:cs typeface="Times New Roman" panose="02020603050405020304" pitchFamily="18" charset="0"/>
              </a:rPr>
              <a:t>A − B = part of A only (NOT the overlap)</a:t>
            </a:r>
            <a:endParaRPr lang="en-US" dirty="0">
              <a:latin typeface="Times New Roman" panose="02020603050405020304" pitchFamily="18" charset="0"/>
              <a:cs typeface="Times New Roman" panose="02020603050405020304" pitchFamily="18" charset="0"/>
            </a:endParaRPr>
          </a:p>
          <a:p>
            <a:endParaRPr lang="en-TZ" dirty="0">
              <a:latin typeface="Times New Roman" panose="02020603050405020304" pitchFamily="18" charset="0"/>
              <a:cs typeface="Times New Roman" panose="02020603050405020304" pitchFamily="18" charset="0"/>
            </a:endParaRPr>
          </a:p>
        </p:txBody>
      </p:sp>
      <p:sp>
        <p:nvSpPr>
          <p:cNvPr id="4" name="Shape 8">
            <a:extLst>
              <a:ext uri="{FF2B5EF4-FFF2-40B4-BE49-F238E27FC236}">
                <a16:creationId xmlns:a16="http://schemas.microsoft.com/office/drawing/2014/main" id="{33FE8263-3A6C-D202-A591-A7FA12F2E6C6}"/>
              </a:ext>
            </a:extLst>
          </p:cNvPr>
          <p:cNvSpPr/>
          <p:nvPr/>
        </p:nvSpPr>
        <p:spPr>
          <a:xfrm>
            <a:off x="3504407" y="2742026"/>
            <a:ext cx="3977047" cy="2743200"/>
          </a:xfrm>
          <a:prstGeom prst="rect">
            <a:avLst/>
          </a:prstGeom>
          <a:solidFill>
            <a:srgbClr val="F4F0FB"/>
          </a:solidFill>
          <a:ln w="12700">
            <a:solidFill>
              <a:srgbClr val="1A2E5A"/>
            </a:solidFill>
            <a:prstDash val="solid"/>
          </a:ln>
        </p:spPr>
        <p:txBody>
          <a:bodyPr/>
          <a:lstStyle/>
          <a:p>
            <a:endParaRPr lang="en-TZ" dirty="0"/>
          </a:p>
        </p:txBody>
      </p:sp>
      <p:sp>
        <p:nvSpPr>
          <p:cNvPr id="5" name="Shape 9">
            <a:extLst>
              <a:ext uri="{FF2B5EF4-FFF2-40B4-BE49-F238E27FC236}">
                <a16:creationId xmlns:a16="http://schemas.microsoft.com/office/drawing/2014/main" id="{B8CA662B-3D4F-1CE1-9896-02DD92E9CF06}"/>
              </a:ext>
            </a:extLst>
          </p:cNvPr>
          <p:cNvSpPr/>
          <p:nvPr/>
        </p:nvSpPr>
        <p:spPr>
          <a:xfrm>
            <a:off x="3588724" y="2960525"/>
            <a:ext cx="2103120" cy="2103120"/>
          </a:xfrm>
          <a:prstGeom prst="ellipse">
            <a:avLst/>
          </a:prstGeom>
          <a:solidFill>
            <a:srgbClr val="0E7C86">
              <a:alpha val="70000"/>
            </a:srgbClr>
          </a:solidFill>
          <a:ln w="25400">
            <a:solidFill>
              <a:srgbClr val="0E7C86"/>
            </a:solidFill>
            <a:prstDash val="solid"/>
          </a:ln>
        </p:spPr>
      </p:sp>
      <p:sp>
        <p:nvSpPr>
          <p:cNvPr id="6" name="Shape 10">
            <a:extLst>
              <a:ext uri="{FF2B5EF4-FFF2-40B4-BE49-F238E27FC236}">
                <a16:creationId xmlns:a16="http://schemas.microsoft.com/office/drawing/2014/main" id="{B639F188-229F-7371-850B-055806ECF898}"/>
              </a:ext>
            </a:extLst>
          </p:cNvPr>
          <p:cNvSpPr/>
          <p:nvPr/>
        </p:nvSpPr>
        <p:spPr>
          <a:xfrm>
            <a:off x="5241768" y="3062066"/>
            <a:ext cx="2103120" cy="2103120"/>
          </a:xfrm>
          <a:prstGeom prst="ellipse">
            <a:avLst/>
          </a:prstGeom>
          <a:solidFill>
            <a:srgbClr val="F4F0FB"/>
          </a:solidFill>
          <a:ln w="19050">
            <a:solidFill>
              <a:srgbClr val="AAAAAA"/>
            </a:solidFill>
            <a:prstDash val="solid"/>
          </a:ln>
        </p:spPr>
      </p:sp>
    </p:spTree>
    <p:extLst>
      <p:ext uri="{BB962C8B-B14F-4D97-AF65-F5344CB8AC3E}">
        <p14:creationId xmlns:p14="http://schemas.microsoft.com/office/powerpoint/2010/main" val="42944746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D74C1-B66B-2C23-8E21-CFC549EED6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18BD3-4F7B-F575-8D12-8FE4F8B4E9E0}"/>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BEE0BAC6-F949-563B-3D35-49636A84DC71}"/>
              </a:ext>
            </a:extLst>
          </p:cNvPr>
          <p:cNvSpPr>
            <a:spLocks noGrp="1"/>
          </p:cNvSpPr>
          <p:nvPr>
            <p:ph idx="1"/>
          </p:nvPr>
        </p:nvSpPr>
        <p:spPr>
          <a:xfrm>
            <a:off x="237506" y="1825625"/>
            <a:ext cx="11116294" cy="4907684"/>
          </a:xfrm>
        </p:spPr>
        <p:txBody>
          <a:bodyPr/>
          <a:lstStyle/>
          <a:p>
            <a:r>
              <a:rPr lang="en-US" b="1" dirty="0">
                <a:latin typeface="Times New Roman" panose="02020603050405020304" pitchFamily="18" charset="0"/>
                <a:ea typeface="Calibri" pitchFamily="34" charset="-122"/>
                <a:cs typeface="Times New Roman" panose="02020603050405020304" pitchFamily="18" charset="0"/>
              </a:rPr>
              <a:t>Complement  Ā  (shaded)</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i="1" dirty="0">
                <a:latin typeface="Calibri" pitchFamily="34" charset="0"/>
                <a:ea typeface="Calibri" pitchFamily="34" charset="-122"/>
                <a:cs typeface="Calibri" pitchFamily="34" charset="-120"/>
              </a:rPr>
              <a:t>Ā = everything outside A (within U)</a:t>
            </a:r>
            <a:endParaRPr lang="en-US" dirty="0"/>
          </a:p>
          <a:p>
            <a:endParaRPr lang="en-TZ" dirty="0">
              <a:latin typeface="Times New Roman" panose="02020603050405020304" pitchFamily="18" charset="0"/>
              <a:cs typeface="Times New Roman" panose="02020603050405020304" pitchFamily="18" charset="0"/>
            </a:endParaRPr>
          </a:p>
        </p:txBody>
      </p:sp>
      <p:sp>
        <p:nvSpPr>
          <p:cNvPr id="4" name="Shape 14">
            <a:extLst>
              <a:ext uri="{FF2B5EF4-FFF2-40B4-BE49-F238E27FC236}">
                <a16:creationId xmlns:a16="http://schemas.microsoft.com/office/drawing/2014/main" id="{579D423F-6841-7F0C-56CB-23EC5F9E8B11}"/>
              </a:ext>
            </a:extLst>
          </p:cNvPr>
          <p:cNvSpPr/>
          <p:nvPr/>
        </p:nvSpPr>
        <p:spPr>
          <a:xfrm>
            <a:off x="3872543" y="3060271"/>
            <a:ext cx="3840480" cy="2743200"/>
          </a:xfrm>
          <a:prstGeom prst="rect">
            <a:avLst/>
          </a:prstGeom>
          <a:solidFill>
            <a:srgbClr val="8A1A1A">
              <a:alpha val="30000"/>
            </a:srgbClr>
          </a:solidFill>
          <a:ln w="12700">
            <a:solidFill>
              <a:srgbClr val="1A2E5A"/>
            </a:solidFill>
            <a:prstDash val="solid"/>
          </a:ln>
        </p:spPr>
      </p:sp>
      <p:sp>
        <p:nvSpPr>
          <p:cNvPr id="5" name="Shape 15">
            <a:extLst>
              <a:ext uri="{FF2B5EF4-FFF2-40B4-BE49-F238E27FC236}">
                <a16:creationId xmlns:a16="http://schemas.microsoft.com/office/drawing/2014/main" id="{DB1FE10B-ACA9-B6D7-649F-09F971AF06F9}"/>
              </a:ext>
            </a:extLst>
          </p:cNvPr>
          <p:cNvSpPr/>
          <p:nvPr/>
        </p:nvSpPr>
        <p:spPr>
          <a:xfrm>
            <a:off x="4786943" y="3429000"/>
            <a:ext cx="2011680" cy="2011680"/>
          </a:xfrm>
          <a:prstGeom prst="ellipse">
            <a:avLst/>
          </a:prstGeom>
          <a:solidFill>
            <a:srgbClr val="FFFFFF"/>
          </a:solidFill>
          <a:ln w="25400">
            <a:solidFill>
              <a:srgbClr val="1A2E5A"/>
            </a:solidFill>
            <a:prstDash val="solid"/>
          </a:ln>
        </p:spPr>
        <p:txBody>
          <a:bodyPr/>
          <a:lstStyle/>
          <a:p>
            <a:pPr algn="ctr"/>
            <a:r>
              <a:rPr lang="en-US" dirty="0"/>
              <a:t>A</a:t>
            </a:r>
            <a:endParaRPr lang="en-TZ" dirty="0"/>
          </a:p>
        </p:txBody>
      </p:sp>
    </p:spTree>
    <p:extLst>
      <p:ext uri="{BB962C8B-B14F-4D97-AF65-F5344CB8AC3E}">
        <p14:creationId xmlns:p14="http://schemas.microsoft.com/office/powerpoint/2010/main" val="23312645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09ABC-C34C-EB25-762D-4A63A4F476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45EE6-F908-AC4C-EBDB-0006FC92256E}"/>
              </a:ext>
            </a:extLst>
          </p:cNvPr>
          <p:cNvSpPr>
            <a:spLocks noGrp="1"/>
          </p:cNvSpPr>
          <p:nvPr>
            <p:ph type="title"/>
          </p:nvPr>
        </p:nvSpPr>
        <p:spPr/>
        <p:txBody>
          <a:bodyPr/>
          <a:lstStyle/>
          <a:p>
            <a:r>
              <a:rPr lang="en-US" dirty="0"/>
              <a:t>Venn </a:t>
            </a:r>
            <a:r>
              <a:rPr lang="en-US" dirty="0" err="1"/>
              <a:t>diagram:Three</a:t>
            </a:r>
            <a:r>
              <a:rPr lang="en-US" dirty="0"/>
              <a:t> sets</a:t>
            </a:r>
            <a:endParaRPr lang="en-TZ" dirty="0"/>
          </a:p>
        </p:txBody>
      </p:sp>
      <p:sp>
        <p:nvSpPr>
          <p:cNvPr id="3" name="Content Placeholder 2">
            <a:extLst>
              <a:ext uri="{FF2B5EF4-FFF2-40B4-BE49-F238E27FC236}">
                <a16:creationId xmlns:a16="http://schemas.microsoft.com/office/drawing/2014/main" id="{A4ACEEAA-BE42-80C8-6FED-ED452523DE6F}"/>
              </a:ext>
            </a:extLst>
          </p:cNvPr>
          <p:cNvSpPr>
            <a:spLocks noGrp="1"/>
          </p:cNvSpPr>
          <p:nvPr>
            <p:ph idx="1"/>
          </p:nvPr>
        </p:nvSpPr>
        <p:spPr/>
        <p:txBody>
          <a:bodyPr/>
          <a:lstStyle/>
          <a:p>
            <a:r>
              <a:rPr lang="en-US" i="1" dirty="0">
                <a:solidFill>
                  <a:srgbClr val="1A1A2E"/>
                </a:solidFill>
                <a:latin typeface="Calibri" pitchFamily="34" charset="0"/>
                <a:ea typeface="Calibri" pitchFamily="34" charset="-122"/>
                <a:cs typeface="Calibri" pitchFamily="34" charset="-120"/>
              </a:rPr>
              <a:t>Three-set Venn diagrams have 8 distinct regions.</a:t>
            </a:r>
          </a:p>
          <a:p>
            <a:pPr marL="0" indent="0">
              <a:buNone/>
            </a:pPr>
            <a:endParaRPr lang="en-TZ" dirty="0"/>
          </a:p>
        </p:txBody>
      </p:sp>
      <p:sp>
        <p:nvSpPr>
          <p:cNvPr id="8" name="Shape 7">
            <a:extLst>
              <a:ext uri="{FF2B5EF4-FFF2-40B4-BE49-F238E27FC236}">
                <a16:creationId xmlns:a16="http://schemas.microsoft.com/office/drawing/2014/main" id="{56205D69-67C7-B6BF-9A5E-85461797F7FB}"/>
              </a:ext>
            </a:extLst>
          </p:cNvPr>
          <p:cNvSpPr/>
          <p:nvPr/>
        </p:nvSpPr>
        <p:spPr>
          <a:xfrm>
            <a:off x="2367940" y="2489510"/>
            <a:ext cx="5818908" cy="3687453"/>
          </a:xfrm>
          <a:prstGeom prst="rect">
            <a:avLst/>
          </a:prstGeom>
          <a:solidFill>
            <a:srgbClr val="F4F0FB"/>
          </a:solidFill>
          <a:ln w="12700">
            <a:solidFill>
              <a:srgbClr val="1A2E5A"/>
            </a:solidFill>
            <a:prstDash val="solid"/>
          </a:ln>
        </p:spPr>
      </p:sp>
      <p:sp>
        <p:nvSpPr>
          <p:cNvPr id="9" name="Shape 8">
            <a:extLst>
              <a:ext uri="{FF2B5EF4-FFF2-40B4-BE49-F238E27FC236}">
                <a16:creationId xmlns:a16="http://schemas.microsoft.com/office/drawing/2014/main" id="{BE120834-8473-D2FD-0CDB-6AAC2D401F95}"/>
              </a:ext>
            </a:extLst>
          </p:cNvPr>
          <p:cNvSpPr/>
          <p:nvPr/>
        </p:nvSpPr>
        <p:spPr>
          <a:xfrm>
            <a:off x="3174274" y="2847228"/>
            <a:ext cx="2103120" cy="2011680"/>
          </a:xfrm>
          <a:prstGeom prst="ellipse">
            <a:avLst/>
          </a:prstGeom>
          <a:solidFill>
            <a:srgbClr val="1A2E5A">
              <a:alpha val="40000"/>
            </a:srgbClr>
          </a:solidFill>
          <a:ln w="19050">
            <a:solidFill>
              <a:srgbClr val="1A2E5A"/>
            </a:solidFill>
            <a:prstDash val="solid"/>
          </a:ln>
        </p:spPr>
        <p:txBody>
          <a:bodyPr/>
          <a:lstStyle/>
          <a:p>
            <a:r>
              <a:rPr lang="en-US" dirty="0"/>
              <a:t>A</a:t>
            </a:r>
            <a:endParaRPr lang="en-TZ" dirty="0"/>
          </a:p>
        </p:txBody>
      </p:sp>
      <p:sp>
        <p:nvSpPr>
          <p:cNvPr id="10" name="Shape 9">
            <a:extLst>
              <a:ext uri="{FF2B5EF4-FFF2-40B4-BE49-F238E27FC236}">
                <a16:creationId xmlns:a16="http://schemas.microsoft.com/office/drawing/2014/main" id="{A1EC6628-8F4F-0673-8AAD-E3209052AE3F}"/>
              </a:ext>
            </a:extLst>
          </p:cNvPr>
          <p:cNvSpPr/>
          <p:nvPr/>
        </p:nvSpPr>
        <p:spPr>
          <a:xfrm>
            <a:off x="4792881" y="2847228"/>
            <a:ext cx="2103120" cy="2011680"/>
          </a:xfrm>
          <a:prstGeom prst="ellipse">
            <a:avLst/>
          </a:prstGeom>
          <a:solidFill>
            <a:srgbClr val="4A1E8A">
              <a:alpha val="40000"/>
            </a:srgbClr>
          </a:solidFill>
          <a:ln w="19050">
            <a:solidFill>
              <a:srgbClr val="4A1E8A"/>
            </a:solidFill>
            <a:prstDash val="solid"/>
          </a:ln>
        </p:spPr>
        <p:txBody>
          <a:bodyPr/>
          <a:lstStyle/>
          <a:p>
            <a:pPr algn="r"/>
            <a:r>
              <a:rPr lang="en-US" dirty="0"/>
              <a:t>B</a:t>
            </a:r>
            <a:endParaRPr lang="en-TZ" dirty="0"/>
          </a:p>
        </p:txBody>
      </p:sp>
      <p:sp>
        <p:nvSpPr>
          <p:cNvPr id="11" name="Shape 10">
            <a:extLst>
              <a:ext uri="{FF2B5EF4-FFF2-40B4-BE49-F238E27FC236}">
                <a16:creationId xmlns:a16="http://schemas.microsoft.com/office/drawing/2014/main" id="{7418F81E-7272-7319-128D-C5803DFA1B84}"/>
              </a:ext>
            </a:extLst>
          </p:cNvPr>
          <p:cNvSpPr/>
          <p:nvPr/>
        </p:nvSpPr>
        <p:spPr>
          <a:xfrm>
            <a:off x="4089268" y="4079445"/>
            <a:ext cx="2103120" cy="1828800"/>
          </a:xfrm>
          <a:prstGeom prst="ellipse">
            <a:avLst/>
          </a:prstGeom>
          <a:solidFill>
            <a:srgbClr val="0E7C86">
              <a:alpha val="40000"/>
            </a:srgbClr>
          </a:solidFill>
          <a:ln w="19050">
            <a:solidFill>
              <a:srgbClr val="0E7C86"/>
            </a:solidFill>
            <a:prstDash val="solid"/>
          </a:ln>
        </p:spPr>
        <p:txBody>
          <a:bodyPr/>
          <a:lstStyle/>
          <a:p>
            <a:pPr algn="ctr"/>
            <a:endParaRPr lang="en-US" dirty="0"/>
          </a:p>
          <a:p>
            <a:pPr algn="ctr"/>
            <a:endParaRPr lang="en-US" dirty="0"/>
          </a:p>
          <a:p>
            <a:pPr algn="ctr"/>
            <a:endParaRPr lang="en-US" dirty="0"/>
          </a:p>
          <a:p>
            <a:pPr algn="ctr"/>
            <a:endParaRPr lang="en-US" dirty="0"/>
          </a:p>
          <a:p>
            <a:pPr algn="ctr"/>
            <a:r>
              <a:rPr lang="en-US" dirty="0"/>
              <a:t>C</a:t>
            </a:r>
          </a:p>
          <a:p>
            <a:pPr algn="ctr"/>
            <a:endParaRPr lang="en-US" dirty="0"/>
          </a:p>
        </p:txBody>
      </p:sp>
    </p:spTree>
    <p:extLst>
      <p:ext uri="{BB962C8B-B14F-4D97-AF65-F5344CB8AC3E}">
        <p14:creationId xmlns:p14="http://schemas.microsoft.com/office/powerpoint/2010/main" val="34597216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549E8-B5F3-B793-2C57-DC45C326C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AC433-F2E6-722B-B1D3-819AF247B239}"/>
              </a:ext>
            </a:extLst>
          </p:cNvPr>
          <p:cNvSpPr>
            <a:spLocks noGrp="1"/>
          </p:cNvSpPr>
          <p:nvPr>
            <p:ph type="title"/>
          </p:nvPr>
        </p:nvSpPr>
        <p:spPr>
          <a:xfrm>
            <a:off x="439386" y="172193"/>
            <a:ext cx="11447814" cy="1965365"/>
          </a:xfrm>
        </p:spPr>
        <p:txBody>
          <a:bodyPr>
            <a:normAutofit fontScale="90000"/>
          </a:bodyPr>
          <a:lstStyle/>
          <a:p>
            <a:r>
              <a:rPr lang="en-US" sz="4000" b="1" dirty="0">
                <a:solidFill>
                  <a:srgbClr val="C00000"/>
                </a:solidFill>
                <a:latin typeface="Times New Roman" panose="02020603050405020304" pitchFamily="18" charset="0"/>
                <a:cs typeface="Times New Roman" panose="02020603050405020304" pitchFamily="18" charset="0"/>
              </a:rPr>
              <a:t>Relation between </a:t>
            </a:r>
            <a:r>
              <a:rPr lang="en-US" sz="4000" b="1" dirty="0">
                <a:solidFill>
                  <a:srgbClr val="C00000"/>
                </a:solidFill>
                <a:latin typeface="Times New Roman" panose="02020603050405020304" pitchFamily="18" charset="0"/>
                <a:ea typeface="Calibri" pitchFamily="34" charset="-122"/>
                <a:cs typeface="Times New Roman" panose="02020603050405020304" pitchFamily="18" charset="0"/>
              </a:rPr>
              <a:t>Set Theory, </a:t>
            </a:r>
            <a:r>
              <a:rPr lang="en-US" sz="4000" b="1" dirty="0" err="1">
                <a:solidFill>
                  <a:srgbClr val="C00000"/>
                </a:solidFill>
                <a:latin typeface="Times New Roman" panose="02020603050405020304" pitchFamily="18" charset="0"/>
                <a:ea typeface="Calibri" pitchFamily="34" charset="-122"/>
                <a:cs typeface="Times New Roman" panose="02020603050405020304" pitchFamily="18" charset="0"/>
              </a:rPr>
              <a:t>BooleanAlgebra,Propositional</a:t>
            </a:r>
            <a:r>
              <a:rPr lang="en-US" sz="4000" b="1" dirty="0">
                <a:solidFill>
                  <a:srgbClr val="C00000"/>
                </a:solidFill>
                <a:latin typeface="Times New Roman" panose="02020603050405020304" pitchFamily="18" charset="0"/>
                <a:ea typeface="Calibri" pitchFamily="34" charset="-122"/>
                <a:cs typeface="Times New Roman" panose="02020603050405020304" pitchFamily="18" charset="0"/>
              </a:rPr>
              <a:t> Logic and their applications in computer science.</a:t>
            </a:r>
            <a:br>
              <a:rPr lang="en-US" dirty="0">
                <a:solidFill>
                  <a:srgbClr val="1A1A2E"/>
                </a:solidFill>
                <a:latin typeface="Times New Roman" panose="02020603050405020304" pitchFamily="18" charset="0"/>
                <a:ea typeface="Calibri" pitchFamily="34" charset="-122"/>
                <a:cs typeface="Times New Roman" panose="02020603050405020304" pitchFamily="18" charset="0"/>
              </a:rPr>
            </a:br>
            <a:endParaRPr lang="en-TZ" dirty="0"/>
          </a:p>
        </p:txBody>
      </p:sp>
      <p:sp>
        <p:nvSpPr>
          <p:cNvPr id="3" name="Content Placeholder 2">
            <a:extLst>
              <a:ext uri="{FF2B5EF4-FFF2-40B4-BE49-F238E27FC236}">
                <a16:creationId xmlns:a16="http://schemas.microsoft.com/office/drawing/2014/main" id="{6D4DA000-5584-11F6-6079-B902F3AAA8D9}"/>
              </a:ext>
            </a:extLst>
          </p:cNvPr>
          <p:cNvSpPr>
            <a:spLocks noGrp="1"/>
          </p:cNvSpPr>
          <p:nvPr>
            <p:ph idx="1"/>
          </p:nvPr>
        </p:nvSpPr>
        <p:spPr>
          <a:xfrm>
            <a:off x="296883" y="2386940"/>
            <a:ext cx="11056917" cy="4298867"/>
          </a:xfrm>
        </p:spPr>
        <p:txBody>
          <a:bodyPr/>
          <a:lstStyle/>
          <a:p>
            <a:pPr marL="0" indent="0">
              <a:buNone/>
            </a:pPr>
            <a:r>
              <a:rPr lang="en-US" dirty="0"/>
              <a:t>The three –way connection.</a:t>
            </a:r>
          </a:p>
          <a:p>
            <a:pPr marL="0" indent="0">
              <a:buNone/>
            </a:pPr>
            <a:r>
              <a:rPr lang="en-US" dirty="0"/>
              <a:t>General overview.</a:t>
            </a:r>
          </a:p>
          <a:p>
            <a:r>
              <a:rPr lang="en-US" dirty="0">
                <a:solidFill>
                  <a:srgbClr val="1A1A2E"/>
                </a:solidFill>
                <a:latin typeface="Calibri" pitchFamily="34" charset="0"/>
                <a:ea typeface="Calibri" pitchFamily="34" charset="-122"/>
                <a:cs typeface="Calibri" pitchFamily="34" charset="-120"/>
              </a:rPr>
              <a:t>Set Theory, Propositional Logic, and Boolean Algebra are three different faces of the SAME underlying mathematical structure:</a:t>
            </a:r>
            <a:endParaRPr lang="en-US" dirty="0"/>
          </a:p>
          <a:p>
            <a:pPr marL="0" indent="0">
              <a:buNone/>
            </a:pPr>
            <a:r>
              <a:rPr lang="en-US" b="1" dirty="0">
                <a:latin typeface="Calibri" pitchFamily="34" charset="0"/>
                <a:ea typeface="Calibri" pitchFamily="34" charset="-122"/>
                <a:cs typeface="Calibri" pitchFamily="34" charset="-120"/>
              </a:rPr>
              <a:t>Set Theory</a:t>
            </a:r>
            <a:endParaRPr lang="en-US" dirty="0"/>
          </a:p>
          <a:p>
            <a:pPr marL="0" indent="0">
              <a:buNone/>
            </a:pPr>
            <a:r>
              <a:rPr lang="en-US" b="1" dirty="0">
                <a:latin typeface="Calibri" pitchFamily="34" charset="0"/>
                <a:ea typeface="Calibri" pitchFamily="34" charset="-122"/>
                <a:cs typeface="Calibri" pitchFamily="34" charset="-120"/>
              </a:rPr>
              <a:t>∈, ∪, ∩, ̄, ⊆</a:t>
            </a:r>
            <a:endParaRPr lang="en-US" dirty="0"/>
          </a:p>
          <a:p>
            <a:r>
              <a:rPr lang="en-US" dirty="0"/>
              <a:t>Deals with collections of objects. Provides the language for describing data structures, relations, and functions.</a:t>
            </a:r>
          </a:p>
          <a:p>
            <a:endParaRPr lang="en-TZ" dirty="0"/>
          </a:p>
        </p:txBody>
      </p:sp>
    </p:spTree>
    <p:extLst>
      <p:ext uri="{BB962C8B-B14F-4D97-AF65-F5344CB8AC3E}">
        <p14:creationId xmlns:p14="http://schemas.microsoft.com/office/powerpoint/2010/main" val="1991342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B4114-1CB1-B0F0-F00D-ACF2F3C3D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DD954-F940-7C74-630F-22DCAA8B7220}"/>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2E128D0D-4364-B228-F0A2-BEA41E003934}"/>
              </a:ext>
            </a:extLst>
          </p:cNvPr>
          <p:cNvSpPr>
            <a:spLocks noGrp="1"/>
          </p:cNvSpPr>
          <p:nvPr>
            <p:ph idx="1"/>
          </p:nvPr>
        </p:nvSpPr>
        <p:spPr/>
        <p:txBody>
          <a:bodyP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Propositional Logic</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ea typeface="Calibri" pitchFamily="34" charset="-122"/>
                <a:cs typeface="Times New Roman" panose="02020603050405020304" pitchFamily="18" charset="0"/>
              </a:rPr>
              <a:t>∧, ∨, ¬, →,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Deals with True/False statements and their combinations. Provides the foundation for program logic and proofs.</a:t>
            </a: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ea typeface="Calibri" pitchFamily="34" charset="-122"/>
                <a:cs typeface="Times New Roman" panose="02020603050405020304" pitchFamily="18" charset="0"/>
              </a:rPr>
              <a:t>Boolean Algebra</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ea typeface="Calibri" pitchFamily="34" charset="-122"/>
                <a:cs typeface="Times New Roman" panose="02020603050405020304" pitchFamily="18" charset="0"/>
              </a:rPr>
              <a:t>·, +, ¯, 0, 1</a:t>
            </a:r>
          </a:p>
          <a:p>
            <a:pPr marL="0" indent="0">
              <a:buNone/>
            </a:pPr>
            <a:r>
              <a:rPr lang="en-US" dirty="0">
                <a:latin typeface="Times New Roman" panose="02020603050405020304" pitchFamily="18" charset="0"/>
                <a:cs typeface="Times New Roman" panose="02020603050405020304" pitchFamily="18" charset="0"/>
              </a:rPr>
              <a:t>Deals with binary values (0/1). Provides the mathematics for digital circuits and computer hardware</a:t>
            </a: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25915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E1DB4-11E5-71FA-34D3-310C69295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3BF0E2-8EC6-2356-4F29-719D661D8FE6}"/>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Set Theory vs Propositional Logic — Parallel Laws</a:t>
            </a:r>
            <a:br>
              <a:rPr lang="en-US" b="1" dirty="0">
                <a:latin typeface="Times New Roman" panose="02020603050405020304" pitchFamily="18" charset="0"/>
                <a:cs typeface="Times New Roman" panose="02020603050405020304" pitchFamily="18" charset="0"/>
              </a:rPr>
            </a:br>
            <a:endParaRPr lang="en-TZ"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A93788F0-F47C-584A-AF38-9362E6167E19}"/>
              </a:ext>
            </a:extLst>
          </p:cNvPr>
          <p:cNvPicPr>
            <a:picLocks noGrp="1" noChangeAspect="1"/>
          </p:cNvPicPr>
          <p:nvPr>
            <p:ph idx="1"/>
          </p:nvPr>
        </p:nvPicPr>
        <p:blipFill>
          <a:blip r:embed="rId2"/>
          <a:stretch>
            <a:fillRect/>
          </a:stretch>
        </p:blipFill>
        <p:spPr>
          <a:xfrm>
            <a:off x="724395" y="1436914"/>
            <a:ext cx="11467605" cy="5272643"/>
          </a:xfrm>
          <a:prstGeom prst="rect">
            <a:avLst/>
          </a:prstGeom>
        </p:spPr>
      </p:pic>
    </p:spTree>
    <p:extLst>
      <p:ext uri="{BB962C8B-B14F-4D97-AF65-F5344CB8AC3E}">
        <p14:creationId xmlns:p14="http://schemas.microsoft.com/office/powerpoint/2010/main" val="15342274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B07F3-B6CE-A225-F4C4-797ABD915D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55AAE-327B-8369-29E0-7D6CC827D8BD}"/>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Boolean Algebra and Its Relationship to Set Theory</a:t>
            </a:r>
            <a:br>
              <a:rPr lang="en-US" b="1" dirty="0">
                <a:latin typeface="Times New Roman" panose="02020603050405020304" pitchFamily="18" charset="0"/>
                <a:cs typeface="Times New Roman" panose="02020603050405020304" pitchFamily="18" charset="0"/>
              </a:rPr>
            </a:br>
            <a:endParaRPr lang="en-T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6E7F75F-818F-8C22-4B24-0AE73B7AA79A}"/>
              </a:ext>
            </a:extLst>
          </p:cNvPr>
          <p:cNvSpPr>
            <a:spLocks noGrp="1"/>
          </p:cNvSpPr>
          <p:nvPr>
            <p:ph idx="1"/>
          </p:nvPr>
        </p:nvSpPr>
        <p:spPr>
          <a:xfrm>
            <a:off x="213756" y="1825624"/>
            <a:ext cx="11140044" cy="4848307"/>
          </a:xfrm>
        </p:spPr>
        <p:txBody>
          <a:bodyPr/>
          <a:lstStyle/>
          <a:p>
            <a:r>
              <a:rPr lang="en-US" dirty="0"/>
              <a:t>Boolean Algebra, formalized by George Boole (1815–1864), is a mathematical structure that captures the laws governing BOTH set operations and logical connectives.</a:t>
            </a:r>
          </a:p>
          <a:p>
            <a:endParaRPr lang="en-TZ" dirty="0"/>
          </a:p>
        </p:txBody>
      </p:sp>
      <p:pic>
        <p:nvPicPr>
          <p:cNvPr id="5" name="Picture 4">
            <a:extLst>
              <a:ext uri="{FF2B5EF4-FFF2-40B4-BE49-F238E27FC236}">
                <a16:creationId xmlns:a16="http://schemas.microsoft.com/office/drawing/2014/main" id="{920B47BF-27D8-4E5B-F2D0-69295B43B6FF}"/>
              </a:ext>
            </a:extLst>
          </p:cNvPr>
          <p:cNvPicPr>
            <a:picLocks noChangeAspect="1"/>
          </p:cNvPicPr>
          <p:nvPr/>
        </p:nvPicPr>
        <p:blipFill>
          <a:blip r:embed="rId2"/>
          <a:stretch>
            <a:fillRect/>
          </a:stretch>
        </p:blipFill>
        <p:spPr>
          <a:xfrm>
            <a:off x="213756" y="3218213"/>
            <a:ext cx="11875325" cy="3455717"/>
          </a:xfrm>
          <a:prstGeom prst="rect">
            <a:avLst/>
          </a:prstGeom>
        </p:spPr>
      </p:pic>
    </p:spTree>
    <p:extLst>
      <p:ext uri="{BB962C8B-B14F-4D97-AF65-F5344CB8AC3E}">
        <p14:creationId xmlns:p14="http://schemas.microsoft.com/office/powerpoint/2010/main" val="15909546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58598-12FC-CC7E-32B3-CE493EEAA33C}"/>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8609FCA9-3920-2D6A-DACB-55B2FB25ABC2}"/>
              </a:ext>
            </a:extLst>
          </p:cNvPr>
          <p:cNvSpPr>
            <a:spLocks noGrp="1"/>
          </p:cNvSpPr>
          <p:nvPr>
            <p:ph idx="1"/>
          </p:nvPr>
        </p:nvSpPr>
        <p:spPr>
          <a:xfrm>
            <a:off x="498764" y="1825625"/>
            <a:ext cx="10855036" cy="4836432"/>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Zero-One Matrices and Boolean Operations</a:t>
            </a:r>
          </a:p>
          <a:p>
            <a:pPr marL="0" indent="0">
              <a:buNone/>
            </a:pPr>
            <a:r>
              <a:rPr lang="en-US" dirty="0">
                <a:latin typeface="Times New Roman" panose="02020603050405020304" pitchFamily="18" charset="0"/>
                <a:cs typeface="Times New Roman" panose="02020603050405020304" pitchFamily="18" charset="0"/>
              </a:rPr>
              <a:t>Zero-one matrices use Boolean arithmetic to represent discrete structures like relations and graphs:</a:t>
            </a:r>
          </a:p>
          <a:p>
            <a:pPr marL="0" indent="0">
              <a:buNone/>
            </a:pP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Boolean operations on matrices</a:t>
            </a:r>
          </a:p>
          <a:p>
            <a:r>
              <a:rPr lang="en-US" dirty="0">
                <a:latin typeface="Times New Roman" panose="02020603050405020304" pitchFamily="18" charset="0"/>
                <a:cs typeface="Times New Roman" panose="02020603050405020304" pitchFamily="18" charset="0"/>
              </a:rPr>
              <a:t>in (A ∨ B): </a:t>
            </a:r>
            <a:r>
              <a:rPr lang="en-US" dirty="0" err="1">
                <a:latin typeface="Times New Roman" panose="02020603050405020304" pitchFamily="18" charset="0"/>
                <a:cs typeface="Times New Roman" panose="02020603050405020304" pitchFamily="18" charset="0"/>
              </a:rPr>
              <a:t>aij</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bij</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Each element: 1 if either matrix has 1</a:t>
            </a:r>
          </a:p>
          <a:p>
            <a:r>
              <a:rPr lang="en-US" dirty="0">
                <a:latin typeface="Times New Roman" panose="02020603050405020304" pitchFamily="18" charset="0"/>
                <a:cs typeface="Times New Roman" panose="02020603050405020304" pitchFamily="18" charset="0"/>
              </a:rPr>
              <a:t>Meet (A ∧ B): </a:t>
            </a:r>
            <a:r>
              <a:rPr lang="en-US" dirty="0" err="1">
                <a:latin typeface="Times New Roman" panose="02020603050405020304" pitchFamily="18" charset="0"/>
                <a:cs typeface="Times New Roman" panose="02020603050405020304" pitchFamily="18" charset="0"/>
              </a:rPr>
              <a:t>aij</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bij</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36998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EB508-228F-31E8-60CF-C59EE4742932}"/>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35C16BF8-9731-AD55-9EDB-4A2E6D711062}"/>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Each element: 1 only if BOTH matrices have 1</a:t>
            </a:r>
          </a:p>
          <a:p>
            <a:r>
              <a:rPr lang="en-US" dirty="0">
                <a:latin typeface="Times New Roman" panose="02020603050405020304" pitchFamily="18" charset="0"/>
                <a:cs typeface="Times New Roman" panose="02020603050405020304" pitchFamily="18" charset="0"/>
              </a:rPr>
              <a:t>Boolean Product (A ⊙ B):</a:t>
            </a:r>
          </a:p>
          <a:p>
            <a:r>
              <a:rPr lang="en-US" dirty="0" err="1">
                <a:latin typeface="Times New Roman" panose="02020603050405020304" pitchFamily="18" charset="0"/>
                <a:cs typeface="Times New Roman" panose="02020603050405020304" pitchFamily="18" charset="0"/>
              </a:rPr>
              <a:t>cij</a:t>
            </a:r>
            <a:r>
              <a:rPr lang="en-US" dirty="0">
                <a:latin typeface="Times New Roman" panose="02020603050405020304" pitchFamily="18" charset="0"/>
                <a:cs typeface="Times New Roman" panose="02020603050405020304" pitchFamily="18" charset="0"/>
              </a:rPr>
              <a:t> = (ai1∧b1j) ∨ (ai2∧b2j) ∨ ...</a:t>
            </a:r>
          </a:p>
          <a:p>
            <a:r>
              <a:rPr lang="en-US" dirty="0">
                <a:latin typeface="Times New Roman" panose="02020603050405020304" pitchFamily="18" charset="0"/>
                <a:cs typeface="Times New Roman" panose="02020603050405020304" pitchFamily="18" charset="0"/>
              </a:rPr>
              <a:t>Like matrix multiplication but ∧ replaces × and ∨ replaces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Used to: find transitive closure of relations, compute reachability in graphs, analyze paths in networks</a:t>
            </a:r>
          </a:p>
        </p:txBody>
      </p:sp>
    </p:spTree>
    <p:extLst>
      <p:ext uri="{BB962C8B-B14F-4D97-AF65-F5344CB8AC3E}">
        <p14:creationId xmlns:p14="http://schemas.microsoft.com/office/powerpoint/2010/main" val="4701120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D6892-8727-545E-E947-3F43DA3CD168}"/>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C0EAA43C-79A6-76C3-97B4-FFDBA55CE36C}"/>
              </a:ext>
            </a:extLst>
          </p:cNvPr>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Example</a:t>
            </a:r>
          </a:p>
          <a:p>
            <a:pPr marL="0" indent="0">
              <a:buNone/>
            </a:pPr>
            <a:r>
              <a:rPr lang="en-US" dirty="0">
                <a:latin typeface="Times New Roman" panose="02020603050405020304" pitchFamily="18" charset="0"/>
                <a:cs typeface="Times New Roman" panose="02020603050405020304" pitchFamily="18" charset="0"/>
              </a:rPr>
              <a:t>A = |1 0|    B = |0 1|</a:t>
            </a:r>
          </a:p>
          <a:p>
            <a:pPr marL="0" indent="0">
              <a:buNone/>
            </a:pPr>
            <a:r>
              <a:rPr lang="en-US" dirty="0">
                <a:latin typeface="Times New Roman" panose="02020603050405020304" pitchFamily="18" charset="0"/>
                <a:cs typeface="Times New Roman" panose="02020603050405020304" pitchFamily="18" charset="0"/>
              </a:rPr>
              <a:t>     |0 1|         |1 1|</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Join (A ∨ B):</a:t>
            </a:r>
          </a:p>
          <a:p>
            <a:pPr marL="0" indent="0">
              <a:buNone/>
            </a:pPr>
            <a:r>
              <a:rPr lang="en-US" dirty="0">
                <a:latin typeface="Times New Roman" panose="02020603050405020304" pitchFamily="18" charset="0"/>
                <a:cs typeface="Times New Roman" panose="02020603050405020304" pitchFamily="18" charset="0"/>
              </a:rPr>
              <a:t>|1∨0  0∨1|   |1 1|</a:t>
            </a:r>
          </a:p>
          <a:p>
            <a:pPr marL="0" indent="0">
              <a:buNone/>
            </a:pPr>
            <a:r>
              <a:rPr lang="en-US" dirty="0">
                <a:latin typeface="Times New Roman" panose="02020603050405020304" pitchFamily="18" charset="0"/>
                <a:cs typeface="Times New Roman" panose="02020603050405020304" pitchFamily="18" charset="0"/>
              </a:rPr>
              <a:t>|0∨1  1∨1| = |1 1|</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42609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93D69-E76F-C59E-3051-9522362EB0F4}"/>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27280F31-5CDF-2F39-2388-0613B912E09E}"/>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Meet (A ∧ B):</a:t>
            </a:r>
          </a:p>
          <a:p>
            <a:pPr marL="0" indent="0">
              <a:buNone/>
            </a:pPr>
            <a:r>
              <a:rPr lang="en-US" dirty="0">
                <a:latin typeface="Times New Roman" panose="02020603050405020304" pitchFamily="18" charset="0"/>
                <a:cs typeface="Times New Roman" panose="02020603050405020304" pitchFamily="18" charset="0"/>
              </a:rPr>
              <a:t>|1∧0  0∧1|   |0 0|</a:t>
            </a:r>
          </a:p>
          <a:p>
            <a:pPr marL="0" indent="0">
              <a:buNone/>
            </a:pPr>
            <a:r>
              <a:rPr lang="en-US" dirty="0">
                <a:latin typeface="Times New Roman" panose="02020603050405020304" pitchFamily="18" charset="0"/>
                <a:cs typeface="Times New Roman" panose="02020603050405020304" pitchFamily="18" charset="0"/>
              </a:rPr>
              <a:t>|0∧1  1∧1| = |0 1|</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CS Use: A = connectivity matrix.</a:t>
            </a:r>
          </a:p>
          <a:p>
            <a:pPr marL="0" indent="0">
              <a:buNone/>
            </a:pPr>
            <a:r>
              <a:rPr lang="en-US" dirty="0">
                <a:latin typeface="Times New Roman" panose="02020603050405020304" pitchFamily="18" charset="0"/>
                <a:cs typeface="Times New Roman" panose="02020603050405020304" pitchFamily="18" charset="0"/>
              </a:rPr>
              <a:t>A∨B = combined reachability.</a:t>
            </a:r>
          </a:p>
          <a:p>
            <a:pPr marL="0" indent="0">
              <a:buNone/>
            </a:pPr>
            <a:r>
              <a:rPr lang="en-US" dirty="0">
                <a:latin typeface="Times New Roman" panose="02020603050405020304" pitchFamily="18" charset="0"/>
                <a:cs typeface="Times New Roman" panose="02020603050405020304" pitchFamily="18" charset="0"/>
              </a:rPr>
              <a:t>A∧B = shared direct connections.</a:t>
            </a:r>
          </a:p>
          <a:p>
            <a:pPr marL="0" indent="0">
              <a:buNone/>
            </a:pPr>
            <a:endParaRPr lang="en-TZ" dirty="0"/>
          </a:p>
        </p:txBody>
      </p:sp>
    </p:spTree>
    <p:extLst>
      <p:ext uri="{BB962C8B-B14F-4D97-AF65-F5344CB8AC3E}">
        <p14:creationId xmlns:p14="http://schemas.microsoft.com/office/powerpoint/2010/main" val="27683145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F6D45-AC72-4441-0105-27788B353D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8EDEB-165B-4CC3-14EB-E10ED34FC3A1}"/>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Applications in CS: Logic Gates and Circuits</a:t>
            </a:r>
            <a:br>
              <a:rPr lang="en-US" b="1" dirty="0">
                <a:latin typeface="Times New Roman" panose="02020603050405020304" pitchFamily="18" charset="0"/>
                <a:cs typeface="Times New Roman" panose="02020603050405020304" pitchFamily="18" charset="0"/>
              </a:rPr>
            </a:br>
            <a:endParaRPr lang="en-T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760DEFC-6C94-1F6A-6CDB-5E41FC8109B8}"/>
              </a:ext>
            </a:extLst>
          </p:cNvPr>
          <p:cNvSpPr>
            <a:spLocks noGrp="1"/>
          </p:cNvSpPr>
          <p:nvPr>
            <p:ph idx="1"/>
          </p:nvPr>
        </p:nvSpPr>
        <p:spPr/>
        <p:txBody>
          <a:bodyPr/>
          <a:lstStyle/>
          <a:p>
            <a:r>
              <a:rPr lang="en-US" dirty="0">
                <a:solidFill>
                  <a:srgbClr val="1A1A2E"/>
                </a:solidFill>
                <a:latin typeface="Times New Roman" panose="02020603050405020304" pitchFamily="18" charset="0"/>
                <a:ea typeface="Calibri" pitchFamily="34" charset="-122"/>
                <a:cs typeface="Times New Roman" panose="02020603050405020304" pitchFamily="18" charset="0"/>
              </a:rPr>
              <a:t>A logic circuit is a direct physical implementation of Boolean algebra, which parallels Set Theory laws.</a:t>
            </a:r>
          </a:p>
          <a:p>
            <a:pPr marL="0" indent="0">
              <a:buNone/>
            </a:pPr>
            <a:r>
              <a:rPr lang="en-US" b="1" dirty="0" err="1">
                <a:solidFill>
                  <a:srgbClr val="1A1A2E"/>
                </a:solidFill>
                <a:latin typeface="Times New Roman" panose="02020603050405020304" pitchFamily="18" charset="0"/>
                <a:cs typeface="Times New Roman" panose="02020603050405020304" pitchFamily="18" charset="0"/>
              </a:rPr>
              <a:t>i</a:t>
            </a:r>
            <a:r>
              <a:rPr lang="en-US" b="1" dirty="0">
                <a:solidFill>
                  <a:srgbClr val="1A1A2E"/>
                </a:solidFill>
                <a:latin typeface="Times New Roman" panose="02020603050405020304" pitchFamily="18" charset="0"/>
                <a:cs typeface="Times New Roman" panose="02020603050405020304" pitchFamily="18" charset="0"/>
              </a:rPr>
              <a:t>. AND Gate</a:t>
            </a:r>
            <a:endParaRPr lang="en-US" b="1"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 · B = 1 only when BOTH inputs are 1</a:t>
            </a:r>
          </a:p>
          <a:p>
            <a:pPr lvl="1"/>
            <a:r>
              <a:rPr lang="en-US" dirty="0">
                <a:latin typeface="Times New Roman" panose="02020603050405020304" pitchFamily="18" charset="0"/>
                <a:cs typeface="Times New Roman" panose="02020603050405020304" pitchFamily="18" charset="0"/>
              </a:rPr>
              <a:t>Set equivalent: A ∩ B</a:t>
            </a:r>
          </a:p>
          <a:p>
            <a:pPr lvl="1"/>
            <a:r>
              <a:rPr lang="en-US" dirty="0">
                <a:latin typeface="Times New Roman" panose="02020603050405020304" pitchFamily="18" charset="0"/>
                <a:cs typeface="Times New Roman" panose="02020603050405020304" pitchFamily="18" charset="0"/>
              </a:rPr>
              <a:t>Logic: p ∧ q</a:t>
            </a:r>
          </a:p>
          <a:p>
            <a:pPr lvl="1"/>
            <a:r>
              <a:rPr lang="en-US" dirty="0">
                <a:latin typeface="Times New Roman" panose="02020603050405020304" pitchFamily="18" charset="0"/>
                <a:cs typeface="Times New Roman" panose="02020603050405020304" pitchFamily="18" charset="0"/>
              </a:rPr>
              <a:t>Use: Validates multiple conditions simultaneously</a:t>
            </a: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26315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18323-1E8D-88C5-04CD-84460F73F1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0C8E9-9ECF-497A-B288-C67F11D60999}"/>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7964245B-2DB5-CA6D-66A0-5B21846B68D2}"/>
              </a:ext>
            </a:extLst>
          </p:cNvPr>
          <p:cNvSpPr>
            <a:spLocks noGrp="1"/>
          </p:cNvSpPr>
          <p:nvPr>
            <p:ph idx="1"/>
          </p:nvPr>
        </p:nvSpPr>
        <p:spPr/>
        <p:txBody>
          <a:bodyPr/>
          <a:lstStyle/>
          <a:p>
            <a:pPr marL="0" indent="0">
              <a:buNone/>
            </a:pPr>
            <a:r>
              <a:rPr lang="en-US" b="1" dirty="0" err="1">
                <a:latin typeface="Times New Roman" panose="02020603050405020304" pitchFamily="18" charset="0"/>
                <a:cs typeface="Times New Roman" panose="02020603050405020304" pitchFamily="18" charset="0"/>
              </a:rPr>
              <a:t>ii.OR</a:t>
            </a:r>
            <a:r>
              <a:rPr lang="en-US" b="1" dirty="0">
                <a:latin typeface="Times New Roman" panose="02020603050405020304" pitchFamily="18" charset="0"/>
                <a:cs typeface="Times New Roman" panose="02020603050405020304" pitchFamily="18" charset="0"/>
              </a:rPr>
              <a:t> Gate</a:t>
            </a:r>
          </a:p>
          <a:p>
            <a:r>
              <a:rPr lang="en-US" dirty="0">
                <a:latin typeface="Times New Roman" panose="02020603050405020304" pitchFamily="18" charset="0"/>
                <a:cs typeface="Times New Roman" panose="02020603050405020304" pitchFamily="18" charset="0"/>
              </a:rPr>
              <a:t>A + B = 1 when AT LEAST ONE input is 1</a:t>
            </a:r>
          </a:p>
          <a:p>
            <a:r>
              <a:rPr lang="en-US" dirty="0">
                <a:latin typeface="Times New Roman" panose="02020603050405020304" pitchFamily="18" charset="0"/>
                <a:cs typeface="Times New Roman" panose="02020603050405020304" pitchFamily="18" charset="0"/>
              </a:rPr>
              <a:t>Set equivalent: A ∪ B</a:t>
            </a:r>
          </a:p>
          <a:p>
            <a:r>
              <a:rPr lang="en-US" dirty="0">
                <a:latin typeface="Times New Roman" panose="02020603050405020304" pitchFamily="18" charset="0"/>
                <a:cs typeface="Times New Roman" panose="02020603050405020304" pitchFamily="18" charset="0"/>
              </a:rPr>
              <a:t>Logic: p ∨ q</a:t>
            </a:r>
          </a:p>
          <a:p>
            <a:r>
              <a:rPr lang="en-US" dirty="0">
                <a:latin typeface="Times New Roman" panose="02020603050405020304" pitchFamily="18" charset="0"/>
                <a:cs typeface="Times New Roman" panose="02020603050405020304" pitchFamily="18" charset="0"/>
              </a:rPr>
              <a:t>Use: Combines alternative conditions</a:t>
            </a: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2550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B5762-7DA4-370D-809C-662F78BFD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A7C90-7AC2-B529-DA4B-4AD53C155912}"/>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06D6731E-9050-52B9-E7CE-797B2517BCA5}"/>
              </a:ext>
            </a:extLst>
          </p:cNvPr>
          <p:cNvSpPr>
            <a:spLocks noGrp="1"/>
          </p:cNvSpPr>
          <p:nvPr>
            <p:ph idx="1"/>
          </p:nvPr>
        </p:nvSpPr>
        <p:spPr/>
        <p:txBody>
          <a:bodyPr/>
          <a:lstStyle/>
          <a:p>
            <a:pPr marL="0" indent="0">
              <a:buNone/>
            </a:pPr>
            <a:r>
              <a:rPr lang="en-US" b="1" dirty="0" err="1">
                <a:latin typeface="Times New Roman" panose="02020603050405020304" pitchFamily="18" charset="0"/>
                <a:cs typeface="Times New Roman" panose="02020603050405020304" pitchFamily="18" charset="0"/>
              </a:rPr>
              <a:t>iii.NOT</a:t>
            </a:r>
            <a:r>
              <a:rPr lang="en-US" b="1" dirty="0">
                <a:latin typeface="Times New Roman" panose="02020603050405020304" pitchFamily="18" charset="0"/>
                <a:cs typeface="Times New Roman" panose="02020603050405020304" pitchFamily="18" charset="0"/>
              </a:rPr>
              <a:t> Gate.</a:t>
            </a:r>
          </a:p>
          <a:p>
            <a:r>
              <a:rPr lang="en-US" dirty="0">
                <a:latin typeface="Times New Roman" panose="02020603050405020304" pitchFamily="18" charset="0"/>
                <a:cs typeface="Times New Roman" panose="02020603050405020304" pitchFamily="18" charset="0"/>
              </a:rPr>
              <a:t>Ā = inverts the input (0→1, 1→0)</a:t>
            </a:r>
          </a:p>
          <a:p>
            <a:r>
              <a:rPr lang="en-US" dirty="0">
                <a:latin typeface="Times New Roman" panose="02020603050405020304" pitchFamily="18" charset="0"/>
                <a:cs typeface="Times New Roman" panose="02020603050405020304" pitchFamily="18" charset="0"/>
              </a:rPr>
              <a:t>Set equivalent: complement Ā</a:t>
            </a:r>
          </a:p>
          <a:p>
            <a:r>
              <a:rPr lang="en-US" dirty="0">
                <a:latin typeface="Times New Roman" panose="02020603050405020304" pitchFamily="18" charset="0"/>
                <a:cs typeface="Times New Roman" panose="02020603050405020304" pitchFamily="18" charset="0"/>
              </a:rPr>
              <a:t>Logic: ¬p</a:t>
            </a:r>
          </a:p>
          <a:p>
            <a:r>
              <a:rPr lang="en-US" dirty="0">
                <a:latin typeface="Times New Roman" panose="02020603050405020304" pitchFamily="18" charset="0"/>
                <a:cs typeface="Times New Roman" panose="02020603050405020304" pitchFamily="18" charset="0"/>
              </a:rPr>
              <a:t>Use: Negates conditions in control logic</a:t>
            </a: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35517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3E7CA-7127-79BE-AE38-87556679B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58E1A-4FD3-A44C-A582-1CBDDCA2134C}"/>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5E97E36C-5EBD-8359-F28F-D6F9C49996BE}"/>
              </a:ext>
            </a:extLst>
          </p:cNvPr>
          <p:cNvSpPr>
            <a:spLocks noGrp="1"/>
          </p:cNvSpPr>
          <p:nvPr>
            <p:ph idx="1"/>
          </p:nvPr>
        </p:nvSpPr>
        <p:spPr/>
        <p:txBody>
          <a:bodyPr/>
          <a:lstStyle/>
          <a:p>
            <a:pPr marL="0" indent="0">
              <a:buNone/>
            </a:pPr>
            <a:r>
              <a:rPr lang="en-US" b="1" dirty="0" err="1"/>
              <a:t>iv.NAND</a:t>
            </a:r>
            <a:r>
              <a:rPr lang="en-US" b="1" dirty="0"/>
              <a:t> Gate.</a:t>
            </a:r>
          </a:p>
          <a:p>
            <a:r>
              <a:rPr lang="en-US" dirty="0"/>
              <a:t>Ā · B = NOT (A AND B)</a:t>
            </a:r>
          </a:p>
          <a:p>
            <a:r>
              <a:rPr lang="en-US" dirty="0"/>
              <a:t>Set: complement of intersection</a:t>
            </a:r>
          </a:p>
          <a:p>
            <a:r>
              <a:rPr lang="en-US" dirty="0"/>
              <a:t>Most fundamental gate,  any circuit can be built from NAND gates alone.</a:t>
            </a:r>
          </a:p>
          <a:p>
            <a:pPr marL="0" indent="0">
              <a:buNone/>
            </a:pPr>
            <a:endParaRPr lang="en-TZ" dirty="0"/>
          </a:p>
        </p:txBody>
      </p:sp>
    </p:spTree>
    <p:extLst>
      <p:ext uri="{BB962C8B-B14F-4D97-AF65-F5344CB8AC3E}">
        <p14:creationId xmlns:p14="http://schemas.microsoft.com/office/powerpoint/2010/main" val="16484907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4C390-3D8A-2785-73F0-44FFCC838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EB492-D5ED-A00B-BFCF-ABB7DFD6C893}"/>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C933EA6B-D230-C403-01D3-7AC80868A8AE}"/>
              </a:ext>
            </a:extLst>
          </p:cNvPr>
          <p:cNvSpPr>
            <a:spLocks noGrp="1"/>
          </p:cNvSpPr>
          <p:nvPr>
            <p:ph idx="1"/>
          </p:nvPr>
        </p:nvSpPr>
        <p:spPr/>
        <p:txBody>
          <a:bodyPr/>
          <a:lstStyle/>
          <a:p>
            <a:pPr marL="0" indent="0">
              <a:buNone/>
            </a:pPr>
            <a:r>
              <a:rPr lang="en-US" b="1" dirty="0" err="1">
                <a:latin typeface="Times New Roman" panose="02020603050405020304" pitchFamily="18" charset="0"/>
                <a:cs typeface="Times New Roman" panose="02020603050405020304" pitchFamily="18" charset="0"/>
              </a:rPr>
              <a:t>v.NOR</a:t>
            </a:r>
            <a:r>
              <a:rPr lang="en-US" b="1" dirty="0">
                <a:latin typeface="Times New Roman" panose="02020603050405020304" pitchFamily="18" charset="0"/>
                <a:cs typeface="Times New Roman" panose="02020603050405020304" pitchFamily="18" charset="0"/>
              </a:rPr>
              <a:t> Gate.</a:t>
            </a:r>
          </a:p>
          <a:p>
            <a:r>
              <a:rPr lang="en-US" dirty="0">
                <a:latin typeface="Times New Roman" panose="02020603050405020304" pitchFamily="18" charset="0"/>
                <a:cs typeface="Times New Roman" panose="02020603050405020304" pitchFamily="18" charset="0"/>
              </a:rPr>
              <a:t>A + B = NOT (A OR B)</a:t>
            </a:r>
          </a:p>
          <a:p>
            <a:r>
              <a:rPr lang="en-US" dirty="0">
                <a:latin typeface="Times New Roman" panose="02020603050405020304" pitchFamily="18" charset="0"/>
                <a:cs typeface="Times New Roman" panose="02020603050405020304" pitchFamily="18" charset="0"/>
              </a:rPr>
              <a:t>Set: complement of union</a:t>
            </a:r>
          </a:p>
          <a:p>
            <a:r>
              <a:rPr lang="en-US" dirty="0">
                <a:latin typeface="Times New Roman" panose="02020603050405020304" pitchFamily="18" charset="0"/>
                <a:cs typeface="Times New Roman" panose="02020603050405020304" pitchFamily="18" charset="0"/>
              </a:rPr>
              <a:t>Also universal , any circuit can be built from NOR gates alone.</a:t>
            </a:r>
          </a:p>
          <a:p>
            <a:pPr marL="0" indent="0">
              <a:buNone/>
            </a:pPr>
            <a:r>
              <a:rPr lang="en-US" b="1" dirty="0" err="1">
                <a:latin typeface="Times New Roman" panose="02020603050405020304" pitchFamily="18" charset="0"/>
                <a:cs typeface="Times New Roman" panose="02020603050405020304" pitchFamily="18" charset="0"/>
              </a:rPr>
              <a:t>vi.XOR</a:t>
            </a:r>
            <a:r>
              <a:rPr lang="en-US" b="1" dirty="0">
                <a:latin typeface="Times New Roman" panose="02020603050405020304" pitchFamily="18" charset="0"/>
                <a:cs typeface="Times New Roman" panose="02020603050405020304" pitchFamily="18" charset="0"/>
              </a:rPr>
              <a:t> Gate</a:t>
            </a:r>
          </a:p>
          <a:p>
            <a:pPr marL="0" indent="0">
              <a:buNone/>
            </a:pPr>
            <a:r>
              <a:rPr lang="en-US" dirty="0">
                <a:latin typeface="Times New Roman" panose="02020603050405020304" pitchFamily="18" charset="0"/>
                <a:cs typeface="Times New Roman" panose="02020603050405020304" pitchFamily="18" charset="0"/>
              </a:rPr>
              <a:t> A ⊕ B = (A ∪ B) − (A ∩ B)</a:t>
            </a:r>
          </a:p>
          <a:p>
            <a:r>
              <a:rPr lang="en-US" dirty="0">
                <a:latin typeface="Times New Roman" panose="02020603050405020304" pitchFamily="18" charset="0"/>
                <a:cs typeface="Times New Roman" panose="02020603050405020304" pitchFamily="18" charset="0"/>
              </a:rPr>
              <a:t>Set: symmetric difference</a:t>
            </a:r>
          </a:p>
          <a:p>
            <a:r>
              <a:rPr lang="en-US" dirty="0">
                <a:latin typeface="Times New Roman" panose="02020603050405020304" pitchFamily="18" charset="0"/>
                <a:cs typeface="Times New Roman" panose="02020603050405020304" pitchFamily="18" charset="0"/>
              </a:rPr>
              <a:t>Use: parity checking, binary addition, cryptography</a:t>
            </a:r>
          </a:p>
          <a:p>
            <a:endParaRPr lang="en-US" dirty="0">
              <a:latin typeface="Times New Roman" panose="02020603050405020304" pitchFamily="18" charset="0"/>
              <a:cs typeface="Times New Roman" panose="02020603050405020304" pitchFamily="18" charset="0"/>
            </a:endParaRP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14658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F589B-F008-9CEF-ADAA-6EAA884AC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119B9-D756-4048-E943-92AC96E13CA9}"/>
              </a:ext>
            </a:extLst>
          </p:cNvPr>
          <p:cNvSpPr>
            <a:spLocks noGrp="1"/>
          </p:cNvSpPr>
          <p:nvPr>
            <p:ph type="title"/>
          </p:nvPr>
        </p:nvSpPr>
        <p:spPr/>
        <p:txBody>
          <a:bodyPr>
            <a:normAutofit fontScale="90000"/>
          </a:bodyPr>
          <a:lstStyle/>
          <a:p>
            <a:r>
              <a:rPr lang="en-US" b="1" dirty="0">
                <a:solidFill>
                  <a:srgbClr val="C00000"/>
                </a:solidFill>
                <a:latin typeface="Times New Roman" panose="02020603050405020304" pitchFamily="18" charset="0"/>
                <a:cs typeface="Times New Roman" panose="02020603050405020304" pitchFamily="18" charset="0"/>
              </a:rPr>
              <a:t>How </a:t>
            </a:r>
            <a:r>
              <a:rPr lang="en-US" b="1" dirty="0">
                <a:solidFill>
                  <a:srgbClr val="C00000"/>
                </a:solidFill>
                <a:latin typeface="Calibri" pitchFamily="34" charset="0"/>
                <a:ea typeface="Calibri" pitchFamily="34" charset="-122"/>
                <a:cs typeface="Calibri" pitchFamily="34" charset="-120"/>
              </a:rPr>
              <a:t>Structural Induction is used to prove properties of sets and  recursive data structures.</a:t>
            </a:r>
            <a:br>
              <a:rPr lang="en-US" b="1" dirty="0">
                <a:solidFill>
                  <a:srgbClr val="C00000"/>
                </a:solidFill>
                <a:latin typeface="Calibri" pitchFamily="34" charset="0"/>
                <a:ea typeface="Calibri" pitchFamily="34" charset="-122"/>
                <a:cs typeface="Calibri" pitchFamily="34" charset="-120"/>
              </a:rPr>
            </a:br>
            <a:endParaRPr lang="en-TZ" b="1" dirty="0">
              <a:solidFill>
                <a:srgbClr val="C00000"/>
              </a:solidFill>
            </a:endParaRPr>
          </a:p>
        </p:txBody>
      </p:sp>
      <p:sp>
        <p:nvSpPr>
          <p:cNvPr id="3" name="Content Placeholder 2">
            <a:extLst>
              <a:ext uri="{FF2B5EF4-FFF2-40B4-BE49-F238E27FC236}">
                <a16:creationId xmlns:a16="http://schemas.microsoft.com/office/drawing/2014/main" id="{08050A89-2AFB-4A3F-6A96-7ECA0DD957D9}"/>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Mathematical Induction is a proof technique used to prove statements about ALL natural numbers or members of a well-ordered set.</a:t>
            </a:r>
          </a:p>
          <a:p>
            <a:r>
              <a:rPr lang="en-US" dirty="0">
                <a:latin typeface="Times New Roman" panose="02020603050405020304" pitchFamily="18" charset="0"/>
                <a:cs typeface="Times New Roman" panose="02020603050405020304" pitchFamily="18" charset="0"/>
              </a:rPr>
              <a:t>General review about Mathematical</a:t>
            </a:r>
          </a:p>
          <a:p>
            <a:pPr marL="0" indent="0">
              <a:buNone/>
            </a:pPr>
            <a:r>
              <a:rPr lang="en-US" dirty="0">
                <a:latin typeface="Times New Roman" panose="02020603050405020304" pitchFamily="18" charset="0"/>
                <a:cs typeface="Times New Roman" panose="02020603050405020304" pitchFamily="18" charset="0"/>
              </a:rPr>
              <a:t>It has two steps</a:t>
            </a:r>
          </a:p>
          <a:p>
            <a:r>
              <a:rPr lang="en-US" b="1" dirty="0">
                <a:latin typeface="Times New Roman" panose="02020603050405020304" pitchFamily="18" charset="0"/>
                <a:cs typeface="Times New Roman" panose="02020603050405020304" pitchFamily="18" charset="0"/>
              </a:rPr>
              <a:t>Step 1:Base case</a:t>
            </a:r>
          </a:p>
          <a:p>
            <a:r>
              <a:rPr lang="en-US" dirty="0">
                <a:latin typeface="Times New Roman" panose="02020603050405020304" pitchFamily="18" charset="0"/>
                <a:cs typeface="Times New Roman" panose="02020603050405020304" pitchFamily="18" charset="0"/>
              </a:rPr>
              <a:t>Prove the statement P(n) is TRUE for the smallest value (usually n = 0 or n = 1).</a:t>
            </a:r>
          </a:p>
          <a:p>
            <a:r>
              <a:rPr lang="en-US" dirty="0">
                <a:latin typeface="Times New Roman" panose="02020603050405020304" pitchFamily="18" charset="0"/>
                <a:cs typeface="Times New Roman" panose="02020603050405020304" pitchFamily="18" charset="0"/>
              </a:rPr>
              <a:t>This anchors the proof gives us a starting point.</a:t>
            </a: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06577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B654D-D0B4-C2C0-81B8-2C8D46A41F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2F1598-1263-81AF-1C6E-F6F90492AA9F}"/>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E336DAD6-8BAD-85B3-F05E-1660311D075D}"/>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Step 2: Inductive step</a:t>
            </a:r>
          </a:p>
          <a:p>
            <a:r>
              <a:rPr lang="en-US" dirty="0">
                <a:latin typeface="Times New Roman" panose="02020603050405020304" pitchFamily="18" charset="0"/>
                <a:cs typeface="Times New Roman" panose="02020603050405020304" pitchFamily="18" charset="0"/>
              </a:rPr>
              <a:t> Here we assume P(k) is true (the inductive hypothesis). Then we prove that P(k+1) must also be true.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creates a domino effect for all values above the base case</a:t>
            </a: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12605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88F24-58A5-7DE9-0CB6-2D833C0E3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27AC6-6F17-BAEF-7029-8F9D467E482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Structural induction</a:t>
            </a:r>
            <a:endParaRPr lang="en-T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24040E-03AB-79E3-6C1C-D3CAD24DF6CD}"/>
              </a:ext>
            </a:extLst>
          </p:cNvPr>
          <p:cNvSpPr>
            <a:spLocks noGrp="1"/>
          </p:cNvSpPr>
          <p:nvPr>
            <p:ph idx="1"/>
          </p:nvPr>
        </p:nvSpPr>
        <p:spPr>
          <a:xfrm>
            <a:off x="332509" y="1825625"/>
            <a:ext cx="11021291" cy="4800806"/>
          </a:xfrm>
        </p:spPr>
        <p:txBody>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 generalization of mathematical induction used to prove properties of recursively defined structures (sets, trees, lists, grammars) rather than just integers.</a:t>
            </a:r>
          </a:p>
          <a:p>
            <a:pPr marL="0" indent="0">
              <a:buNone/>
            </a:pPr>
            <a:r>
              <a:rPr lang="en-US" dirty="0">
                <a:latin typeface="Times New Roman" panose="02020603050405020304" pitchFamily="18" charset="0"/>
                <a:cs typeface="Times New Roman" panose="02020603050405020304" pitchFamily="18" charset="0"/>
              </a:rPr>
              <a:t>Two steps:</a:t>
            </a:r>
          </a:p>
          <a:p>
            <a:pPr marL="0" indent="0">
              <a:buNone/>
            </a:pPr>
            <a:r>
              <a:rPr lang="en-US" b="1" dirty="0" err="1">
                <a:latin typeface="Times New Roman" panose="02020603050405020304" pitchFamily="18" charset="0"/>
                <a:cs typeface="Times New Roman" panose="02020603050405020304" pitchFamily="18" charset="0"/>
              </a:rPr>
              <a:t>i.Basis</a:t>
            </a:r>
            <a:r>
              <a:rPr lang="en-US" b="1" dirty="0">
                <a:latin typeface="Times New Roman" panose="02020603050405020304" pitchFamily="18" charset="0"/>
                <a:cs typeface="Times New Roman" panose="02020603050405020304" pitchFamily="18" charset="0"/>
              </a:rPr>
              <a:t> step</a:t>
            </a:r>
          </a:p>
          <a:p>
            <a:pPr marL="0" indent="0">
              <a:buNone/>
            </a:pPr>
            <a:r>
              <a:rPr lang="en-US" dirty="0">
                <a:latin typeface="Times New Roman" panose="02020603050405020304" pitchFamily="18" charset="0"/>
                <a:cs typeface="Times New Roman" panose="02020603050405020304" pitchFamily="18" charset="0"/>
              </a:rPr>
              <a:t>Prove the property holds for all BASE cases of the recursive definition.</a:t>
            </a:r>
          </a:p>
          <a:p>
            <a:pPr marL="0" indent="0">
              <a:buNone/>
            </a:pPr>
            <a:r>
              <a:rPr lang="en-US" dirty="0">
                <a:latin typeface="Times New Roman" panose="02020603050405020304" pitchFamily="18" charset="0"/>
                <a:cs typeface="Times New Roman" panose="02020603050405020304" pitchFamily="18" charset="0"/>
              </a:rPr>
              <a:t>(These are the simplest/smallest elements of the structure ,the building blocks.)</a:t>
            </a: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95518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C273A-B83C-525B-8153-2B80D476A0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0CC48-E9F6-1820-CC1A-2919260B4FDE}"/>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6E7C8C33-FF32-9653-99DF-E5F0FBB70FB2}"/>
              </a:ext>
            </a:extLst>
          </p:cNvPr>
          <p:cNvSpPr>
            <a:spLocks noGrp="1"/>
          </p:cNvSpPr>
          <p:nvPr>
            <p:ph idx="1"/>
          </p:nvPr>
        </p:nvSpPr>
        <p:spPr/>
        <p:txBody>
          <a:bodyPr/>
          <a:lstStyle/>
          <a:p>
            <a:pPr marL="0" indent="0">
              <a:buNone/>
            </a:pPr>
            <a:r>
              <a:rPr lang="en-US" b="1" dirty="0" err="1">
                <a:latin typeface="Times New Roman" panose="02020603050405020304" pitchFamily="18" charset="0"/>
                <a:cs typeface="Times New Roman" panose="02020603050405020304" pitchFamily="18" charset="0"/>
              </a:rPr>
              <a:t>ii.Recursive</a:t>
            </a:r>
            <a:r>
              <a:rPr lang="en-US" b="1" dirty="0">
                <a:latin typeface="Times New Roman" panose="02020603050405020304" pitchFamily="18" charset="0"/>
                <a:cs typeface="Times New Roman" panose="02020603050405020304" pitchFamily="18" charset="0"/>
              </a:rPr>
              <a:t> step</a:t>
            </a:r>
          </a:p>
          <a:p>
            <a:r>
              <a:rPr lang="en-US" dirty="0">
                <a:latin typeface="Times New Roman" panose="02020603050405020304" pitchFamily="18" charset="0"/>
                <a:cs typeface="Times New Roman" panose="02020603050405020304" pitchFamily="18" charset="0"/>
              </a:rPr>
              <a:t>We prove that if the property holds for all PARTS of a composite structure, then it holds for the WHOLE structure.</a:t>
            </a:r>
          </a:p>
          <a:p>
            <a:r>
              <a:rPr lang="en-US" dirty="0">
                <a:latin typeface="Times New Roman" panose="02020603050405020304" pitchFamily="18" charset="0"/>
                <a:cs typeface="Times New Roman" panose="02020603050405020304" pitchFamily="18" charset="0"/>
              </a:rPr>
              <a:t>(Using the recursive construction rules of the definition.)</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Proving Properties of Sets Using Induction</a:t>
            </a:r>
          </a:p>
          <a:p>
            <a:pPr marL="0" indent="0">
              <a:buNone/>
            </a:pPr>
            <a:r>
              <a:rPr lang="en-US" dirty="0">
                <a:solidFill>
                  <a:srgbClr val="1A1A2E"/>
                </a:solidFill>
                <a:latin typeface="Calibri" pitchFamily="34" charset="0"/>
                <a:ea typeface="Calibri" pitchFamily="34" charset="-122"/>
                <a:cs typeface="Calibri" pitchFamily="34" charset="-120"/>
              </a:rPr>
              <a:t>Example: Prove that |P(S)| = 2ⁿ for any set S with |S| = n</a:t>
            </a:r>
            <a:endParaRPr lang="en-US" dirty="0"/>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97409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80E6D-7796-C177-E7EA-2BAB337A3C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13A50-55DC-AE50-6A2E-7BF64612BA91}"/>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B0B430AE-08B7-CE27-1B5A-D7C05AA872DD}"/>
              </a:ext>
            </a:extLst>
          </p:cNvPr>
          <p:cNvSpPr>
            <a:spLocks noGrp="1"/>
          </p:cNvSpPr>
          <p:nvPr>
            <p:ph idx="1"/>
          </p:nvPr>
        </p:nvSpPr>
        <p:spPr>
          <a:xfrm>
            <a:off x="475013" y="1825625"/>
            <a:ext cx="10878787" cy="4765180"/>
          </a:xfrm>
        </p:spPr>
        <p:txBody>
          <a:bodyPr>
            <a:normAutofit/>
          </a:bodyP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Proof:</a:t>
            </a:r>
          </a:p>
          <a:p>
            <a:pPr marL="0" indent="0">
              <a:buNone/>
            </a:pPr>
            <a:r>
              <a:rPr lang="en-US" b="1" dirty="0">
                <a:latin typeface="Times New Roman" panose="02020603050405020304" pitchFamily="18" charset="0"/>
                <a:ea typeface="Calibri" pitchFamily="34" charset="-122"/>
                <a:cs typeface="Times New Roman" panose="02020603050405020304" pitchFamily="18" charset="0"/>
              </a:rPr>
              <a:t>Base Case (n = 0)</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When |S| = 0, S = ∅.</a:t>
            </a:r>
          </a:p>
          <a:p>
            <a:r>
              <a:rPr lang="en-US" dirty="0">
                <a:latin typeface="Times New Roman" panose="02020603050405020304" pitchFamily="18" charset="0"/>
                <a:cs typeface="Times New Roman" panose="02020603050405020304" pitchFamily="18" charset="0"/>
              </a:rPr>
              <a:t>The only subset of ∅ is ∅ itself.</a:t>
            </a:r>
          </a:p>
          <a:p>
            <a:r>
              <a:rPr lang="en-US" dirty="0">
                <a:latin typeface="Times New Roman" panose="02020603050405020304" pitchFamily="18" charset="0"/>
                <a:cs typeface="Times New Roman" panose="02020603050405020304" pitchFamily="18" charset="0"/>
              </a:rPr>
              <a:t>So P(∅) = {∅}, and |P(∅)| = 1 = 2⁰. ✓</a:t>
            </a: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ea typeface="Calibri" pitchFamily="34" charset="-122"/>
                <a:cs typeface="Times New Roman" panose="02020603050405020304" pitchFamily="18" charset="0"/>
              </a:rPr>
              <a:t>Inductive Hypothesis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Assume the statement is true for n = k.</a:t>
            </a:r>
          </a:p>
          <a:p>
            <a:r>
              <a:rPr lang="en-US" dirty="0">
                <a:latin typeface="Times New Roman" panose="02020603050405020304" pitchFamily="18" charset="0"/>
                <a:cs typeface="Times New Roman" panose="02020603050405020304" pitchFamily="18" charset="0"/>
              </a:rPr>
              <a:t>For any set S with |S| = k, |P(S)| = 2ᵏ</a:t>
            </a:r>
          </a:p>
          <a:p>
            <a:endParaRPr lang="en-US" dirty="0">
              <a:latin typeface="Times New Roman" panose="02020603050405020304" pitchFamily="18" charset="0"/>
              <a:cs typeface="Times New Roman" panose="02020603050405020304" pitchFamily="18" charset="0"/>
            </a:endParaRP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44557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39BA0-4D57-A662-99E5-DCA5175B0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45090-75EC-BD4D-EF17-0D401AEBADEE}"/>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2CD794CA-E89B-9160-E59B-DAA0E9531136}"/>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Inductive Step (n=k+1)</a:t>
            </a:r>
          </a:p>
          <a:p>
            <a:r>
              <a:rPr lang="en-US" dirty="0">
                <a:latin typeface="Times New Roman" panose="02020603050405020304" pitchFamily="18" charset="0"/>
                <a:cs typeface="Times New Roman" panose="02020603050405020304" pitchFamily="18" charset="0"/>
              </a:rPr>
              <a:t>Let S be a set with k+1 elements. Pick any element x ∈ S. Let T = S - {x}, so |T| = k.</a:t>
            </a:r>
          </a:p>
          <a:p>
            <a:r>
              <a:rPr lang="en-US" dirty="0">
                <a:latin typeface="Times New Roman" panose="02020603050405020304" pitchFamily="18" charset="0"/>
                <a:cs typeface="Times New Roman" panose="02020603050405020304" pitchFamily="18" charset="0"/>
              </a:rPr>
              <a:t>By hypothesis: |P(T)| = 2ᵏ.</a:t>
            </a:r>
          </a:p>
          <a:p>
            <a:r>
              <a:rPr lang="en-US" dirty="0">
                <a:latin typeface="Times New Roman" panose="02020603050405020304" pitchFamily="18" charset="0"/>
                <a:cs typeface="Times New Roman" panose="02020603050405020304" pitchFamily="18" charset="0"/>
              </a:rPr>
              <a:t>Every subset of S either (a) contains x — giving 2ᵏ subsets, or (b) does not contain x — giving 2ᵏ subsets.</a:t>
            </a:r>
          </a:p>
          <a:p>
            <a:r>
              <a:rPr lang="en-US" dirty="0">
                <a:latin typeface="Times New Roman" panose="02020603050405020304" pitchFamily="18" charset="0"/>
                <a:cs typeface="Times New Roman" panose="02020603050405020304" pitchFamily="18" charset="0"/>
              </a:rPr>
              <a:t>Total: |P(S)| = 2ᵏ + 2ᵏ = 2·2ᵏ = 2^(k+1) ✓</a:t>
            </a: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369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BC83B-97E5-3036-8386-49BD0E3E9E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2D6F3C-5A48-A4EB-F4E8-FA1EC4E97B2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Recursive Data Structures</a:t>
            </a:r>
            <a:endParaRPr lang="en-TZ"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76AA7F-D56E-1BAF-9DC1-F72301EC380F}"/>
              </a:ext>
            </a:extLst>
          </p:cNvPr>
          <p:cNvSpPr>
            <a:spLocks noGrp="1"/>
          </p:cNvSpPr>
          <p:nvPr>
            <p:ph idx="1"/>
          </p:nvPr>
        </p:nvSpPr>
        <p:spPr/>
        <p:txBody>
          <a:bodyPr/>
          <a:lstStyle/>
          <a:p>
            <a:r>
              <a:rPr lang="en-US" dirty="0">
                <a:solidFill>
                  <a:srgbClr val="1A1A2E"/>
                </a:solidFill>
                <a:latin typeface="Times New Roman" panose="02020603050405020304" pitchFamily="18" charset="0"/>
                <a:ea typeface="Calibri" pitchFamily="34" charset="-122"/>
                <a:cs typeface="Times New Roman" panose="02020603050405020304" pitchFamily="18" charset="0"/>
              </a:rPr>
              <a:t>Many fundamental CS data structures are defined recursively and can be proved using structural induction.</a:t>
            </a:r>
          </a:p>
          <a:p>
            <a:pPr marL="0" indent="0">
              <a:buNone/>
            </a:pPr>
            <a:r>
              <a:rPr lang="en-US" b="1" dirty="0">
                <a:solidFill>
                  <a:srgbClr val="1A1A2E"/>
                </a:solidFill>
                <a:latin typeface="Times New Roman" panose="02020603050405020304" pitchFamily="18" charset="0"/>
                <a:cs typeface="Times New Roman" panose="02020603050405020304" pitchFamily="18" charset="0"/>
              </a:rPr>
              <a:t>Linked List.</a:t>
            </a:r>
          </a:p>
          <a:p>
            <a:r>
              <a:rPr lang="en-US" dirty="0">
                <a:latin typeface="Times New Roman" panose="02020603050405020304" pitchFamily="18" charset="0"/>
                <a:cs typeface="Times New Roman" panose="02020603050405020304" pitchFamily="18" charset="0"/>
              </a:rPr>
              <a:t>Base: empty list []</a:t>
            </a:r>
          </a:p>
          <a:p>
            <a:r>
              <a:rPr lang="en-US" dirty="0">
                <a:latin typeface="Times New Roman" panose="02020603050405020304" pitchFamily="18" charset="0"/>
                <a:cs typeface="Times New Roman" panose="02020603050405020304" pitchFamily="18" charset="0"/>
              </a:rPr>
              <a:t>Recursive; a node with value + pointer to another list.</a:t>
            </a:r>
          </a:p>
          <a:p>
            <a:r>
              <a:rPr lang="en-US" dirty="0">
                <a:latin typeface="Times New Roman" panose="02020603050405020304" pitchFamily="18" charset="0"/>
                <a:cs typeface="Times New Roman" panose="02020603050405020304" pitchFamily="18" charset="0"/>
              </a:rPr>
              <a:t>Property provable ; traversal visits every node exactly once.</a:t>
            </a:r>
          </a:p>
          <a:p>
            <a:pPr marL="0" indent="0">
              <a:buNone/>
            </a:pPr>
            <a:endParaRPr lang="en-US" dirty="0">
              <a:latin typeface="Times New Roman" panose="02020603050405020304" pitchFamily="18" charset="0"/>
              <a:cs typeface="Times New Roman" panose="02020603050405020304" pitchFamily="18" charset="0"/>
            </a:endParaRP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14418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27863-7E8E-459A-9B84-4A13BF5D46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3A884-D051-EF80-0293-40EC77C4B9BB}"/>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E1E0BE9A-FA5B-E7D3-812E-BDE7EF8D732D}"/>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Binary Tree</a:t>
            </a:r>
          </a:p>
          <a:p>
            <a:r>
              <a:rPr lang="en-US" dirty="0">
                <a:latin typeface="Times New Roman" panose="02020603050405020304" pitchFamily="18" charset="0"/>
                <a:cs typeface="Times New Roman" panose="02020603050405020304" pitchFamily="18" charset="0"/>
              </a:rPr>
              <a:t>Base: empty tree (leaf/null)</a:t>
            </a:r>
          </a:p>
          <a:p>
            <a:r>
              <a:rPr lang="en-US" dirty="0">
                <a:latin typeface="Times New Roman" panose="02020603050405020304" pitchFamily="18" charset="0"/>
                <a:cs typeface="Times New Roman" panose="02020603050405020304" pitchFamily="18" charset="0"/>
              </a:rPr>
              <a:t>Recursive: a root node + left subtree + right subtree.</a:t>
            </a:r>
          </a:p>
          <a:p>
            <a:r>
              <a:rPr lang="en-US" dirty="0">
                <a:latin typeface="Times New Roman" panose="02020603050405020304" pitchFamily="18" charset="0"/>
                <a:cs typeface="Times New Roman" panose="02020603050405020304" pitchFamily="18" charset="0"/>
              </a:rPr>
              <a:t>Property provable: a tree with n nodes has n+1 null pointers</a:t>
            </a:r>
          </a:p>
          <a:p>
            <a:pPr marL="0" indent="0">
              <a:buNone/>
            </a:pPr>
            <a:r>
              <a:rPr lang="en-US" b="1" dirty="0">
                <a:latin typeface="Times New Roman" panose="02020603050405020304" pitchFamily="18" charset="0"/>
                <a:cs typeface="Times New Roman" panose="02020603050405020304" pitchFamily="18" charset="0"/>
              </a:rPr>
              <a:t>Stack</a:t>
            </a:r>
          </a:p>
          <a:p>
            <a:r>
              <a:rPr lang="en-US" dirty="0">
                <a:latin typeface="Times New Roman" panose="02020603050405020304" pitchFamily="18" charset="0"/>
                <a:cs typeface="Times New Roman" panose="02020603050405020304" pitchFamily="18" charset="0"/>
              </a:rPr>
              <a:t>Base: empty stack</a:t>
            </a:r>
          </a:p>
          <a:p>
            <a:r>
              <a:rPr lang="en-US" dirty="0">
                <a:latin typeface="Times New Roman" panose="02020603050405020304" pitchFamily="18" charset="0"/>
                <a:cs typeface="Times New Roman" panose="02020603050405020304" pitchFamily="18" charset="0"/>
              </a:rPr>
              <a:t>Recursive: push(element, stack) = new stack.</a:t>
            </a:r>
          </a:p>
          <a:p>
            <a:r>
              <a:rPr lang="en-US" dirty="0">
                <a:latin typeface="Times New Roman" panose="02020603050405020304" pitchFamily="18" charset="0"/>
                <a:cs typeface="Times New Roman" panose="02020603050405020304" pitchFamily="18" charset="0"/>
              </a:rPr>
              <a:t>Property provable: LIFO order is always preserved.</a:t>
            </a: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03750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1D956-4A42-108C-BCE5-5EFCC54D8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E2B3E-71B8-0521-584C-91BFDE97877F}"/>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641B48A9-BCBC-A6FD-C534-2CB25B43AAB2}"/>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Recursive set</a:t>
            </a:r>
          </a:p>
          <a:p>
            <a:r>
              <a:rPr lang="en-US" dirty="0">
                <a:latin typeface="Times New Roman" panose="02020603050405020304" pitchFamily="18" charset="0"/>
                <a:cs typeface="Times New Roman" panose="02020603050405020304" pitchFamily="18" charset="0"/>
              </a:rPr>
              <a:t>Base: ∅ is a valid set</a:t>
            </a:r>
          </a:p>
          <a:p>
            <a:r>
              <a:rPr lang="en-US" dirty="0">
                <a:latin typeface="Times New Roman" panose="02020603050405020304" pitchFamily="18" charset="0"/>
                <a:cs typeface="Times New Roman" panose="02020603050405020304" pitchFamily="18" charset="0"/>
              </a:rPr>
              <a:t>Recursive: if S is a set and x is an element, S ∪ {x} is a set.</a:t>
            </a:r>
          </a:p>
          <a:p>
            <a:r>
              <a:rPr lang="en-US" dirty="0">
                <a:latin typeface="Times New Roman" panose="02020603050405020304" pitchFamily="18" charset="0"/>
                <a:cs typeface="Times New Roman" panose="02020603050405020304" pitchFamily="18" charset="0"/>
              </a:rPr>
              <a:t>Property provable: cardinality increases by exactly 1 per element.</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Example of Structural Induction on Binary Trees.</a:t>
            </a:r>
          </a:p>
          <a:p>
            <a:pPr marL="0" indent="0">
              <a:buNone/>
            </a:pPr>
            <a:r>
              <a:rPr lang="en-US" dirty="0">
                <a:solidFill>
                  <a:srgbClr val="1A1A2E"/>
                </a:solidFill>
                <a:latin typeface="Times New Roman" panose="02020603050405020304" pitchFamily="18" charset="0"/>
                <a:ea typeface="Calibri" pitchFamily="34" charset="-122"/>
                <a:cs typeface="Times New Roman" panose="02020603050405020304" pitchFamily="18" charset="0"/>
              </a:rPr>
              <a:t>Prove that a full binary tree with n internal nodes has exactly n+1 leaves.</a:t>
            </a: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59611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F7C7C-E6F3-1E29-2EE0-8E8D8F3E68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71D01-E8EE-5FD9-E19E-EC95265D83AE}"/>
              </a:ext>
            </a:extLst>
          </p:cNvPr>
          <p:cNvSpPr>
            <a:spLocks noGrp="1"/>
          </p:cNvSpPr>
          <p:nvPr>
            <p:ph type="title"/>
          </p:nvPr>
        </p:nvSpPr>
        <p:spPr/>
        <p:txBody>
          <a:bodyPr/>
          <a:lstStyle/>
          <a:p>
            <a:r>
              <a:rPr lang="en-US" dirty="0"/>
              <a:t>Continue…</a:t>
            </a:r>
            <a:endParaRPr lang="en-TZ" dirty="0"/>
          </a:p>
        </p:txBody>
      </p:sp>
      <p:sp>
        <p:nvSpPr>
          <p:cNvPr id="3" name="Content Placeholder 2">
            <a:extLst>
              <a:ext uri="{FF2B5EF4-FFF2-40B4-BE49-F238E27FC236}">
                <a16:creationId xmlns:a16="http://schemas.microsoft.com/office/drawing/2014/main" id="{AFEBD45C-F1E1-F02E-B8E4-00AD3FF605F2}"/>
              </a:ext>
            </a:extLst>
          </p:cNvPr>
          <p:cNvSpPr>
            <a:spLocks noGrp="1"/>
          </p:cNvSpPr>
          <p:nvPr>
            <p:ph idx="1"/>
          </p:nvPr>
        </p:nvSpPr>
        <p:spPr/>
        <p:txBody>
          <a:bodyP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Definition (Recursive)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full binary tree is either:</a:t>
            </a:r>
          </a:p>
          <a:p>
            <a:r>
              <a:rPr lang="en-US" dirty="0">
                <a:latin typeface="Times New Roman" panose="02020603050405020304" pitchFamily="18" charset="0"/>
                <a:cs typeface="Times New Roman" panose="02020603050405020304" pitchFamily="18" charset="0"/>
              </a:rPr>
              <a:t>(1) A single leaf node (base case), or</a:t>
            </a:r>
          </a:p>
          <a:p>
            <a:r>
              <a:rPr lang="en-US" dirty="0">
                <a:latin typeface="Times New Roman" panose="02020603050405020304" pitchFamily="18" charset="0"/>
                <a:cs typeface="Times New Roman" panose="02020603050405020304" pitchFamily="18" charset="0"/>
              </a:rPr>
              <a:t>(2) A root with two subtrees, each of which is a full binary tree (recursive case).</a:t>
            </a:r>
          </a:p>
          <a:p>
            <a:pPr marL="0" indent="0">
              <a:buNone/>
            </a:pPr>
            <a:r>
              <a:rPr lang="en-US" b="1" dirty="0">
                <a:latin typeface="Times New Roman" panose="02020603050405020304" pitchFamily="18" charset="0"/>
                <a:cs typeface="Times New Roman" panose="02020603050405020304" pitchFamily="18" charset="0"/>
              </a:rPr>
              <a:t>Basic step</a:t>
            </a:r>
          </a:p>
          <a:p>
            <a:pPr marL="0" indent="0">
              <a:buNone/>
            </a:pPr>
            <a:r>
              <a:rPr lang="en-US" dirty="0">
                <a:latin typeface="Times New Roman" panose="02020603050405020304" pitchFamily="18" charset="0"/>
                <a:cs typeface="Times New Roman" panose="02020603050405020304" pitchFamily="18" charset="0"/>
              </a:rPr>
              <a:t>A single leaf node has 0 internal nodes and 1 leaf.</a:t>
            </a:r>
          </a:p>
          <a:p>
            <a:pPr marL="0" indent="0">
              <a:buNone/>
            </a:pPr>
            <a:r>
              <a:rPr lang="en-US" dirty="0">
                <a:latin typeface="Times New Roman" panose="02020603050405020304" pitchFamily="18" charset="0"/>
                <a:cs typeface="Times New Roman" panose="02020603050405020304" pitchFamily="18" charset="0"/>
              </a:rPr>
              <a:t>So n + 1 = 0 + 1 = 1 = number of leaves. ✓</a:t>
            </a:r>
          </a:p>
          <a:p>
            <a:pPr marL="0" indent="0">
              <a:buNone/>
            </a:pPr>
            <a:endParaRPr lang="en-US" b="1" dirty="0">
              <a:latin typeface="Times New Roman" panose="02020603050405020304" pitchFamily="18" charset="0"/>
              <a:cs typeface="Times New Roman" panose="02020603050405020304" pitchFamily="18" charset="0"/>
            </a:endParaRP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86811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7C4B3-FBC2-49CE-0197-BD5E08D81F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4760B8-45C7-AB1B-4D30-646C7E72B647}"/>
              </a:ext>
            </a:extLst>
          </p:cNvPr>
          <p:cNvSpPr>
            <a:spLocks noGrp="1"/>
          </p:cNvSpPr>
          <p:nvPr>
            <p:ph type="title"/>
          </p:nvPr>
        </p:nvSpPr>
        <p:spPr/>
        <p:txBody>
          <a:bodyPr/>
          <a:lstStyle/>
          <a:p>
            <a:r>
              <a:rPr lang="en-US" dirty="0"/>
              <a:t>Continue…</a:t>
            </a:r>
            <a:endParaRPr lang="en-TZ" dirty="0"/>
          </a:p>
        </p:txBody>
      </p:sp>
      <p:sp>
        <p:nvSpPr>
          <p:cNvPr id="3" name="Content Placeholder 2">
            <a:extLst>
              <a:ext uri="{FF2B5EF4-FFF2-40B4-BE49-F238E27FC236}">
                <a16:creationId xmlns:a16="http://schemas.microsoft.com/office/drawing/2014/main" id="{D7392FE7-4000-C55C-E50F-0C71A55E6DD1}"/>
              </a:ext>
            </a:extLst>
          </p:cNvPr>
          <p:cNvSpPr>
            <a:spLocks noGrp="1"/>
          </p:cNvSpPr>
          <p:nvPr>
            <p:ph idx="1"/>
          </p:nvPr>
        </p:nvSpPr>
        <p:spPr/>
        <p:txBody>
          <a:bodyPr/>
          <a:lstStyle/>
          <a:p>
            <a:pPr marL="0" indent="0">
              <a:buNone/>
            </a:pPr>
            <a:r>
              <a:rPr lang="sw-KE" b="1" dirty="0">
                <a:latin typeface="Times New Roman" panose="02020603050405020304" pitchFamily="18" charset="0"/>
                <a:cs typeface="Times New Roman" panose="02020603050405020304" pitchFamily="18" charset="0"/>
              </a:rPr>
              <a:t>Inductive step</a:t>
            </a:r>
          </a:p>
          <a:p>
            <a:r>
              <a:rPr lang="sw-KE" dirty="0">
                <a:latin typeface="Times New Roman" panose="02020603050405020304" pitchFamily="18" charset="0"/>
                <a:cs typeface="Times New Roman" panose="02020603050405020304" pitchFamily="18" charset="0"/>
              </a:rPr>
              <a:t>Assume both subtrees T₁ and T₂ satisfy the property:</a:t>
            </a:r>
          </a:p>
          <a:p>
            <a:r>
              <a:rPr lang="sw-KE" dirty="0">
                <a:latin typeface="Times New Roman" panose="02020603050405020304" pitchFamily="18" charset="0"/>
                <a:cs typeface="Times New Roman" panose="02020603050405020304" pitchFamily="18" charset="0"/>
              </a:rPr>
              <a:t> T₁ has n₁ internal nodes → n₁+1 leaves</a:t>
            </a:r>
          </a:p>
          <a:p>
            <a:r>
              <a:rPr lang="sw-KE" dirty="0">
                <a:latin typeface="Times New Roman" panose="02020603050405020304" pitchFamily="18" charset="0"/>
                <a:cs typeface="Times New Roman" panose="02020603050405020304" pitchFamily="18" charset="0"/>
              </a:rPr>
              <a:t> T₂ has n₂ internal nodes → n₂+1 leaves</a:t>
            </a:r>
          </a:p>
          <a:p>
            <a:r>
              <a:rPr lang="sw-KE" dirty="0">
                <a:latin typeface="Times New Roman" panose="02020603050405020304" pitchFamily="18" charset="0"/>
                <a:cs typeface="Times New Roman" panose="02020603050405020304" pitchFamily="18" charset="0"/>
              </a:rPr>
              <a:t>The full tree has n₁+n₂+1 internal nodes (root counts too)</a:t>
            </a:r>
          </a:p>
          <a:p>
            <a:r>
              <a:rPr lang="sw-KE" dirty="0">
                <a:latin typeface="Times New Roman" panose="02020603050405020304" pitchFamily="18" charset="0"/>
                <a:cs typeface="Times New Roman" panose="02020603050405020304" pitchFamily="18" charset="0"/>
              </a:rPr>
              <a:t>Leaves = (n₁+1)+(n₂+1) = n₁+n₂+2 = (n₁+n₂+1)+1 = n+1 ✓</a:t>
            </a: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12821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000A2-1942-C7F6-976D-3BF76BEE19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6F35DC-4AE6-D55D-D512-72920C67CA11}"/>
              </a:ext>
            </a:extLst>
          </p:cNvPr>
          <p:cNvSpPr>
            <a:spLocks noGrp="1"/>
          </p:cNvSpPr>
          <p:nvPr>
            <p:ph type="title"/>
          </p:nvPr>
        </p:nvSpPr>
        <p:spPr/>
        <p:txBody>
          <a:bodyPr>
            <a:normAutofit fontScale="90000"/>
          </a:bodyPr>
          <a:lstStyle/>
          <a:p>
            <a:r>
              <a:rPr lang="en-US" dirty="0">
                <a:solidFill>
                  <a:srgbClr val="C00000"/>
                </a:solidFill>
                <a:latin typeface="Times New Roman" panose="02020603050405020304" pitchFamily="18" charset="0"/>
                <a:ea typeface="Calibri" pitchFamily="34" charset="-122"/>
                <a:cs typeface="Times New Roman" panose="02020603050405020304" pitchFamily="18" charset="0"/>
              </a:rPr>
              <a:t>Applications of Sets in Computer Science and Engineering</a:t>
            </a:r>
            <a:br>
              <a:rPr lang="en-US" dirty="0">
                <a:solidFill>
                  <a:srgbClr val="C00000"/>
                </a:solidFill>
                <a:latin typeface="Times New Roman" panose="02020603050405020304" pitchFamily="18" charset="0"/>
                <a:cs typeface="Times New Roman" panose="02020603050405020304" pitchFamily="18" charset="0"/>
              </a:rPr>
            </a:br>
            <a:endParaRPr lang="en-TZ"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32B949-36B6-18E9-D0D4-675FDBCE0A8A}"/>
              </a:ext>
            </a:extLst>
          </p:cNvPr>
          <p:cNvSpPr>
            <a:spLocks noGrp="1"/>
          </p:cNvSpPr>
          <p:nvPr>
            <p:ph idx="1"/>
          </p:nvPr>
        </p:nvSpPr>
        <p:spPr/>
        <p:txBody>
          <a:bodyPr/>
          <a:lstStyle/>
          <a:p>
            <a:pPr marL="0" indent="0">
              <a:buNone/>
            </a:pPr>
            <a:r>
              <a:rPr lang="en-US" dirty="0" err="1">
                <a:latin typeface="Times New Roman" panose="02020603050405020304" pitchFamily="18" charset="0"/>
                <a:cs typeface="Times New Roman" panose="02020603050405020304" pitchFamily="18" charset="0"/>
              </a:rPr>
              <a:t>i.Database</a:t>
            </a:r>
            <a:r>
              <a:rPr lang="en-US" dirty="0">
                <a:latin typeface="Times New Roman" panose="02020603050405020304" pitchFamily="18" charset="0"/>
                <a:cs typeface="Times New Roman" panose="02020603050405020304" pitchFamily="18" charset="0"/>
              </a:rPr>
              <a:t> Systems.</a:t>
            </a:r>
          </a:p>
          <a:p>
            <a:pPr marL="0" indent="0">
              <a:buNone/>
            </a:pPr>
            <a:r>
              <a:rPr lang="en-US" dirty="0">
                <a:solidFill>
                  <a:srgbClr val="1A1A2E"/>
                </a:solidFill>
                <a:latin typeface="Times New Roman" panose="02020603050405020304" pitchFamily="18" charset="0"/>
                <a:ea typeface="Calibri" pitchFamily="34" charset="-122"/>
                <a:cs typeface="Times New Roman" panose="02020603050405020304" pitchFamily="18" charset="0"/>
              </a:rPr>
              <a:t>Relational databases, invented by Edgar Codd (1970), are built entirely on Set Theory.</a:t>
            </a:r>
          </a:p>
          <a:p>
            <a:pPr marL="0" indent="0">
              <a:buNone/>
            </a:pPr>
            <a:endParaRPr lang="en-US" dirty="0">
              <a:solidFill>
                <a:srgbClr val="1A1A2E"/>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 database table (relation) is a set of tuples (rows). Each tuple is an ordered collection of values. No duplicate rows allowed , just like sets have no duplicate elements.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7599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AAEE0-6718-906C-0F25-DF48FC543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FAB8C-1747-050C-0590-0F4A6F0D6EFF}"/>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CCBFA5E6-11F0-BCB8-44B7-C4D9D3C8100B}"/>
              </a:ext>
            </a:extLst>
          </p:cNvPr>
          <p:cNvSpPr>
            <a:spLocks noGrp="1"/>
          </p:cNvSpPr>
          <p:nvPr>
            <p:ph idx="1"/>
          </p:nvPr>
        </p:nvSpPr>
        <p:spPr/>
        <p:txBody>
          <a:bodyPr/>
          <a:lstStyle/>
          <a:p>
            <a:pPr marL="0" indent="0" algn="just">
              <a:buNone/>
            </a:pPr>
            <a:r>
              <a:rPr lang="en-US" dirty="0" err="1">
                <a:latin typeface="Times New Roman" panose="02020603050405020304" pitchFamily="18" charset="0"/>
                <a:cs typeface="Times New Roman" panose="02020603050405020304" pitchFamily="18" charset="0"/>
              </a:rPr>
              <a:t>ii.Programming</a:t>
            </a:r>
            <a:r>
              <a:rPr lang="en-US" dirty="0">
                <a:latin typeface="Times New Roman" panose="02020603050405020304" pitchFamily="18" charset="0"/>
                <a:cs typeface="Times New Roman" panose="02020603050405020304" pitchFamily="18" charset="0"/>
              </a:rPr>
              <a:t> languages and type systems.</a:t>
            </a:r>
          </a:p>
          <a:p>
            <a:pPr algn="just"/>
            <a:r>
              <a:rPr lang="en-US" dirty="0">
                <a:latin typeface="Times New Roman" panose="02020603050405020304" pitchFamily="18" charset="0"/>
                <a:cs typeface="Times New Roman" panose="02020603050405020304" pitchFamily="18" charset="0"/>
              </a:rPr>
              <a:t>A data type defines the SET of all valid values a variable can hold.</a:t>
            </a:r>
          </a:p>
          <a:p>
            <a:pPr marL="0" indent="0" algn="just">
              <a:buNone/>
            </a:pPr>
            <a:r>
              <a:rPr lang="en-US" dirty="0">
                <a:latin typeface="Times New Roman" panose="02020603050405020304" pitchFamily="18" charset="0"/>
                <a:cs typeface="Times New Roman" panose="02020603050405020304" pitchFamily="18" charset="0"/>
              </a:rPr>
              <a:t>bool = {true, false}</a:t>
            </a:r>
          </a:p>
          <a:p>
            <a:pPr marL="0" indent="0" algn="just">
              <a:buNone/>
            </a:pPr>
            <a:r>
              <a:rPr lang="en-US" dirty="0">
                <a:latin typeface="Times New Roman" panose="02020603050405020304" pitchFamily="18" charset="0"/>
                <a:cs typeface="Times New Roman" panose="02020603050405020304" pitchFamily="18" charset="0"/>
              </a:rPr>
              <a:t>int = {−2³¹, ..., 0, ..., 2³¹−1}.</a:t>
            </a:r>
          </a:p>
          <a:p>
            <a:pPr marL="0" indent="0" algn="just">
              <a:buNone/>
            </a:pPr>
            <a:r>
              <a:rPr lang="en-US" dirty="0">
                <a:latin typeface="Times New Roman" panose="02020603050405020304" pitchFamily="18" charset="0"/>
                <a:cs typeface="Times New Roman" panose="02020603050405020304" pitchFamily="18" charset="0"/>
              </a:rPr>
              <a:t>char = {all printable characters}.</a:t>
            </a:r>
          </a:p>
          <a:p>
            <a:pPr algn="just"/>
            <a:r>
              <a:rPr lang="en-US" dirty="0">
                <a:latin typeface="Times New Roman" panose="02020603050405020304" pitchFamily="18" charset="0"/>
                <a:cs typeface="Times New Roman" panose="02020603050405020304" pitchFamily="18" charset="0"/>
              </a:rPr>
              <a:t>Union types; In Python and TypeScript int | str means a value can be EITHER an integer OR a string simply refers to as  a union of two type sets.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0990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5E7D8-0235-31CB-9662-E9985F873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EA890-948E-7C0B-43F9-2A58F3654EE9}"/>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2070D48E-0B0C-5EEE-D227-D4FB680E77DC}"/>
              </a:ext>
            </a:extLst>
          </p:cNvPr>
          <p:cNvSpPr>
            <a:spLocks noGrp="1"/>
          </p:cNvSpPr>
          <p:nvPr>
            <p:ph idx="1"/>
          </p:nvPr>
        </p:nvSpPr>
        <p:spPr>
          <a:xfrm>
            <a:off x="510639" y="1825625"/>
            <a:ext cx="10843161" cy="4800806"/>
          </a:xfrm>
        </p:spPr>
        <p:txBody>
          <a:bodyPr>
            <a:normAutofit lnSpcReduction="10000"/>
          </a:bodyPr>
          <a:lstStyle/>
          <a:p>
            <a:pPr marL="0" indent="0" algn="just">
              <a:buNone/>
            </a:pPr>
            <a:r>
              <a:rPr lang="en-US" dirty="0" err="1">
                <a:latin typeface="Times New Roman" panose="02020603050405020304" pitchFamily="18" charset="0"/>
                <a:cs typeface="Times New Roman" panose="02020603050405020304" pitchFamily="18" charset="0"/>
              </a:rPr>
              <a:t>iii.Compiler</a:t>
            </a:r>
            <a:r>
              <a:rPr lang="en-US" dirty="0">
                <a:latin typeface="Times New Roman" panose="02020603050405020304" pitchFamily="18" charset="0"/>
                <a:cs typeface="Times New Roman" panose="02020603050405020304" pitchFamily="18" charset="0"/>
              </a:rPr>
              <a:t> design and formal languages</a:t>
            </a:r>
          </a:p>
          <a:p>
            <a:pPr marL="0" indent="0" algn="just">
              <a:buNone/>
            </a:pPr>
            <a:r>
              <a:rPr lang="en-US" dirty="0">
                <a:latin typeface="Times New Roman" panose="02020603050405020304" pitchFamily="18" charset="0"/>
                <a:cs typeface="Times New Roman" panose="02020603050405020304" pitchFamily="18" charset="0"/>
              </a:rPr>
              <a:t>Alphabet (</a:t>
            </a:r>
            <a:r>
              <a:rPr lang="el-GR" dirty="0">
                <a:latin typeface="Times New Roman" panose="02020603050405020304" pitchFamily="18" charset="0"/>
                <a:cs typeface="Times New Roman" panose="02020603050405020304" pitchFamily="18" charset="0"/>
              </a:rPr>
              <a:t>Σ)</a:t>
            </a:r>
            <a:r>
              <a:rPr lang="en-US" dirty="0">
                <a:latin typeface="Times New Roman" panose="02020603050405020304" pitchFamily="18" charset="0"/>
                <a:cs typeface="Times New Roman" panose="02020603050405020304" pitchFamily="18" charset="0"/>
              </a:rPr>
              <a:t>; In formal language theory, an alphabet Σ is a finite set of symbols. Example: Σ = {0, 1} for binary, Σ = {a…z} for English text.</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iv. Operating systems and networking.</a:t>
            </a:r>
          </a:p>
          <a:p>
            <a:pPr marL="0" indent="0" algn="just">
              <a:buNone/>
            </a:pPr>
            <a:r>
              <a:rPr lang="en-US" dirty="0">
                <a:latin typeface="Times New Roman" panose="02020603050405020304" pitchFamily="18" charset="0"/>
                <a:cs typeface="Times New Roman" panose="02020603050405020304" pitchFamily="18" charset="0"/>
              </a:rPr>
              <a:t>Example: in the process management , the set of all running processes set operations finding which processes use a specific resource (intersection), all processes except one (difference).</a:t>
            </a:r>
          </a:p>
          <a:p>
            <a:pPr marL="0" indent="0" algn="just">
              <a:buNone/>
            </a:pPr>
            <a:r>
              <a:rPr lang="en-US" dirty="0">
                <a:latin typeface="Times New Roman" panose="02020603050405020304" pitchFamily="18" charset="0"/>
                <a:cs typeface="Times New Roman" panose="02020603050405020304" pitchFamily="18" charset="0"/>
              </a:rPr>
              <a:t>Network routing tables determine set membership (does this IP belong to this subnet?). Classless Inter-Domain Routing (CIDR) defines sets of IP addresses.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0547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98ADC-5758-0333-BF85-454204DCF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C5DC5-A77E-EC04-A3E0-C2B8C9F8AC7B}"/>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6916A57A-9D9F-07AF-A196-80F3E8A907F8}"/>
              </a:ext>
            </a:extLst>
          </p:cNvPr>
          <p:cNvSpPr>
            <a:spLocks noGrp="1"/>
          </p:cNvSpPr>
          <p:nvPr>
            <p:ph idx="1"/>
          </p:nvPr>
        </p:nvSpPr>
        <p:spPr/>
        <p:txBody>
          <a:bodyPr/>
          <a:lstStyle/>
          <a:p>
            <a:r>
              <a:rPr lang="en-US" dirty="0" err="1"/>
              <a:t>v.Artificial</a:t>
            </a:r>
            <a:r>
              <a:rPr lang="en-US" dirty="0"/>
              <a:t> intelligence and machine learning</a:t>
            </a:r>
          </a:p>
          <a:p>
            <a:r>
              <a:rPr lang="en-US" dirty="0"/>
              <a:t>Example, decision tree where each node in a decision tree partitions the training set into subsets based on a feature value , means a direct set partitioning operation.</a:t>
            </a:r>
          </a:p>
          <a:p>
            <a:pPr marL="0" indent="0">
              <a:buNone/>
            </a:pPr>
            <a:endParaRPr lang="en-TZ" dirty="0"/>
          </a:p>
        </p:txBody>
      </p:sp>
    </p:spTree>
    <p:extLst>
      <p:ext uri="{BB962C8B-B14F-4D97-AF65-F5344CB8AC3E}">
        <p14:creationId xmlns:p14="http://schemas.microsoft.com/office/powerpoint/2010/main" val="6469462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E7256-BA77-63E1-E8D7-3DEA4FDD7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E17B3B-9D61-5593-6AE4-987CA600BA5C}"/>
              </a:ext>
            </a:extLst>
          </p:cNvPr>
          <p:cNvSpPr>
            <a:spLocks noGrp="1"/>
          </p:cNvSpPr>
          <p:nvPr>
            <p:ph type="title"/>
          </p:nvPr>
        </p:nvSpPr>
        <p:spPr>
          <a:xfrm>
            <a:off x="581891" y="365125"/>
            <a:ext cx="10771909" cy="1214293"/>
          </a:xfrm>
        </p:spPr>
        <p:txBody>
          <a:bodyPr>
            <a:normAutofit fontScale="90000"/>
          </a:bodyPr>
          <a:lstStyle/>
          <a:p>
            <a:r>
              <a:rPr lang="en-US" dirty="0">
                <a:solidFill>
                  <a:srgbClr val="C00000"/>
                </a:solidFill>
                <a:latin typeface="Times New Roman" panose="02020603050405020304" pitchFamily="18" charset="0"/>
                <a:ea typeface="Calibri" pitchFamily="34" charset="-122"/>
                <a:cs typeface="Times New Roman" panose="02020603050405020304" pitchFamily="18" charset="0"/>
              </a:rPr>
              <a:t>Examples of data types suitable for sets in computer programming</a:t>
            </a:r>
            <a:br>
              <a:rPr lang="en-US" dirty="0">
                <a:solidFill>
                  <a:srgbClr val="C00000"/>
                </a:solidFill>
                <a:latin typeface="Times New Roman" panose="02020603050405020304" pitchFamily="18" charset="0"/>
                <a:ea typeface="Calibri" pitchFamily="34" charset="-122"/>
                <a:cs typeface="Times New Roman" panose="02020603050405020304" pitchFamily="18" charset="0"/>
              </a:rPr>
            </a:br>
            <a:endParaRPr lang="en-TZ" dirty="0">
              <a:solidFill>
                <a:srgbClr val="C00000"/>
              </a:solidFill>
            </a:endParaRPr>
          </a:p>
        </p:txBody>
      </p:sp>
      <p:sp>
        <p:nvSpPr>
          <p:cNvPr id="3" name="Content Placeholder 2">
            <a:extLst>
              <a:ext uri="{FF2B5EF4-FFF2-40B4-BE49-F238E27FC236}">
                <a16:creationId xmlns:a16="http://schemas.microsoft.com/office/drawing/2014/main" id="{552B07EC-8205-C2B5-0BC4-B96424C6667A}"/>
              </a:ext>
            </a:extLst>
          </p:cNvPr>
          <p:cNvSpPr>
            <a:spLocks noGrp="1"/>
          </p:cNvSpPr>
          <p:nvPr>
            <p:ph idx="1"/>
          </p:nvPr>
        </p:nvSpPr>
        <p:spPr>
          <a:xfrm>
            <a:off x="451262" y="1825625"/>
            <a:ext cx="10902538" cy="4667250"/>
          </a:xfrm>
        </p:spPr>
        <p:txBody>
          <a:bodyPr/>
          <a:lstStyle/>
          <a:p>
            <a:pPr marL="0" indent="0">
              <a:buNone/>
            </a:pPr>
            <a:r>
              <a:rPr lang="en-US" dirty="0">
                <a:latin typeface="Times New Roman" panose="02020603050405020304" pitchFamily="18" charset="0"/>
                <a:cs typeface="Times New Roman" panose="02020603050405020304" pitchFamily="18" charset="0"/>
              </a:rPr>
              <a:t>Often </a:t>
            </a:r>
            <a:r>
              <a:rPr lang="en-US" dirty="0">
                <a:solidFill>
                  <a:srgbClr val="1A1A2E"/>
                </a:solidFill>
                <a:latin typeface="Times New Roman" panose="02020603050405020304" pitchFamily="18" charset="0"/>
                <a:ea typeface="Calibri" pitchFamily="34" charset="-122"/>
                <a:cs typeface="Times New Roman" panose="02020603050405020304" pitchFamily="18" charset="0"/>
              </a:rPr>
              <a:t>Most modern programming languages provide built-in data types that implement set semantics.</a:t>
            </a:r>
          </a:p>
          <a:p>
            <a:pPr marL="0" indent="0">
              <a:buNone/>
            </a:pPr>
            <a:r>
              <a:rPr lang="en-US" dirty="0">
                <a:solidFill>
                  <a:srgbClr val="1A1A2E"/>
                </a:solidFill>
                <a:latin typeface="Times New Roman" panose="02020603050405020304" pitchFamily="18" charset="0"/>
                <a:cs typeface="Times New Roman" panose="02020603050405020304" pitchFamily="18" charset="0"/>
              </a:rPr>
              <a:t>Lets look an overview using this table below</a:t>
            </a:r>
            <a:endParaRPr lang="en-US" dirty="0">
              <a:latin typeface="Times New Roman" panose="02020603050405020304" pitchFamily="18" charset="0"/>
              <a:cs typeface="Times New Roman" panose="02020603050405020304" pitchFamily="18" charset="0"/>
            </a:endParaRPr>
          </a:p>
          <a:p>
            <a:pPr marL="0" indent="0">
              <a:buNone/>
            </a:pPr>
            <a:endParaRPr lang="en-TZ"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02095E5-627D-DD58-9F72-758EB0A04831}"/>
              </a:ext>
            </a:extLst>
          </p:cNvPr>
          <p:cNvPicPr>
            <a:picLocks noChangeAspect="1"/>
          </p:cNvPicPr>
          <p:nvPr/>
        </p:nvPicPr>
        <p:blipFill>
          <a:blip r:embed="rId2"/>
          <a:stretch>
            <a:fillRect/>
          </a:stretch>
        </p:blipFill>
        <p:spPr>
          <a:xfrm>
            <a:off x="344384" y="3325091"/>
            <a:ext cx="11150930" cy="3532909"/>
          </a:xfrm>
          <a:prstGeom prst="rect">
            <a:avLst/>
          </a:prstGeom>
        </p:spPr>
      </p:pic>
    </p:spTree>
    <p:extLst>
      <p:ext uri="{BB962C8B-B14F-4D97-AF65-F5344CB8AC3E}">
        <p14:creationId xmlns:p14="http://schemas.microsoft.com/office/powerpoint/2010/main" val="14162141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7A4E1-94C4-A105-C4A8-A646961ED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84115-D745-0AA7-2753-4BD59BD44541}"/>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7F5CFA74-3E29-AFDC-8047-6C10DCE6A3F1}"/>
              </a:ext>
            </a:extLst>
          </p:cNvPr>
          <p:cNvSpPr>
            <a:spLocks noGrp="1"/>
          </p:cNvSpPr>
          <p:nvPr>
            <p:ph idx="1"/>
          </p:nvPr>
        </p:nvSpPr>
        <p:spPr>
          <a:xfrm>
            <a:off x="1" y="1825624"/>
            <a:ext cx="11590316" cy="5032376"/>
          </a:xfrm>
        </p:spPr>
        <p:txBody>
          <a:bodyPr/>
          <a:lstStyle/>
          <a:p>
            <a:r>
              <a:rPr lang="en-US" dirty="0">
                <a:latin typeface="Times New Roman" panose="02020603050405020304" pitchFamily="18" charset="0"/>
                <a:cs typeface="Times New Roman" panose="02020603050405020304" pitchFamily="18" charset="0"/>
              </a:rPr>
              <a:t>Example set in java</a:t>
            </a:r>
          </a:p>
          <a:p>
            <a:pPr marL="0" indent="0">
              <a:buNone/>
            </a:pPr>
            <a:endParaRPr lang="en-TZ"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09BB5F5-1337-52C2-2A5B-C8FCF41F5E77}"/>
              </a:ext>
            </a:extLst>
          </p:cNvPr>
          <p:cNvPicPr>
            <a:picLocks noChangeAspect="1"/>
          </p:cNvPicPr>
          <p:nvPr/>
        </p:nvPicPr>
        <p:blipFill>
          <a:blip r:embed="rId2"/>
          <a:stretch>
            <a:fillRect/>
          </a:stretch>
        </p:blipFill>
        <p:spPr>
          <a:xfrm>
            <a:off x="1531917" y="2291938"/>
            <a:ext cx="6816436" cy="4566062"/>
          </a:xfrm>
          <a:prstGeom prst="rect">
            <a:avLst/>
          </a:prstGeom>
        </p:spPr>
      </p:pic>
    </p:spTree>
    <p:extLst>
      <p:ext uri="{BB962C8B-B14F-4D97-AF65-F5344CB8AC3E}">
        <p14:creationId xmlns:p14="http://schemas.microsoft.com/office/powerpoint/2010/main" val="42474791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D86FA-E5E4-C553-CE8A-933084EF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8011A-7BD2-3083-C1FC-59DD82EC842F}"/>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28566933-F19D-D70D-CAB8-880358872042}"/>
              </a:ext>
            </a:extLst>
          </p:cNvPr>
          <p:cNvSpPr>
            <a:spLocks noGrp="1"/>
          </p:cNvSpPr>
          <p:nvPr>
            <p:ph idx="1"/>
          </p:nvPr>
        </p:nvSpPr>
        <p:spPr>
          <a:xfrm>
            <a:off x="838200" y="1825624"/>
            <a:ext cx="10515600" cy="5032375"/>
          </a:xfrm>
        </p:spPr>
        <p:txBody>
          <a:bodyPr/>
          <a:lstStyle/>
          <a:p>
            <a:r>
              <a:rPr lang="en-US" dirty="0">
                <a:latin typeface="Times New Roman" panose="02020603050405020304" pitchFamily="18" charset="0"/>
                <a:cs typeface="Times New Roman" panose="02020603050405020304" pitchFamily="18" charset="0"/>
              </a:rPr>
              <a:t>Sets in python</a:t>
            </a:r>
          </a:p>
          <a:p>
            <a:pPr marL="0" indent="0">
              <a:buNone/>
            </a:pPr>
            <a:r>
              <a:rPr lang="en-US" dirty="0">
                <a:latin typeface="Times New Roman" panose="02020603050405020304" pitchFamily="18" charset="0"/>
                <a:cs typeface="Times New Roman" panose="02020603050405020304" pitchFamily="18" charset="0"/>
              </a:rPr>
              <a:t>Python set operations for creating sets.</a:t>
            </a:r>
          </a:p>
          <a:p>
            <a:endParaRPr lang="en-TZ"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B03ACAD-2825-DD6B-1880-56E13A6E14FE}"/>
              </a:ext>
            </a:extLst>
          </p:cNvPr>
          <p:cNvPicPr>
            <a:picLocks noChangeAspect="1"/>
          </p:cNvPicPr>
          <p:nvPr/>
        </p:nvPicPr>
        <p:blipFill>
          <a:blip r:embed="rId2"/>
          <a:stretch>
            <a:fillRect/>
          </a:stretch>
        </p:blipFill>
        <p:spPr>
          <a:xfrm>
            <a:off x="2743199" y="3063111"/>
            <a:ext cx="5640779" cy="3794888"/>
          </a:xfrm>
          <a:prstGeom prst="rect">
            <a:avLst/>
          </a:prstGeom>
        </p:spPr>
      </p:pic>
    </p:spTree>
    <p:extLst>
      <p:ext uri="{BB962C8B-B14F-4D97-AF65-F5344CB8AC3E}">
        <p14:creationId xmlns:p14="http://schemas.microsoft.com/office/powerpoint/2010/main" val="24702687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5A7B3-7B49-BEFD-F7E1-1B22582C9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09296-D3EF-E6E7-D4FB-013DB5F0E4EC}"/>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06C874CD-B2E2-130C-892B-5932928BE52A}"/>
              </a:ext>
            </a:extLst>
          </p:cNvPr>
          <p:cNvSpPr>
            <a:spLocks noGrp="1"/>
          </p:cNvSpPr>
          <p:nvPr>
            <p:ph idx="1"/>
          </p:nvPr>
        </p:nvSpPr>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Python set notes.</a:t>
            </a:r>
          </a:p>
          <a:p>
            <a:pPr marL="0" indent="0" algn="just">
              <a:buNone/>
            </a:pPr>
            <a:r>
              <a:rPr lang="en-US" dirty="0">
                <a:latin typeface="Times New Roman" panose="02020603050405020304" pitchFamily="18" charset="0"/>
                <a:cs typeface="Times New Roman" panose="02020603050405020304" pitchFamily="18" charset="0"/>
              </a:rPr>
              <a:t>Unordered.</a:t>
            </a:r>
          </a:p>
          <a:p>
            <a:pPr algn="just"/>
            <a:r>
              <a:rPr lang="en-US" dirty="0">
                <a:latin typeface="Times New Roman" panose="02020603050405020304" pitchFamily="18" charset="0"/>
                <a:cs typeface="Times New Roman" panose="02020603050405020304" pitchFamily="18" charset="0"/>
              </a:rPr>
              <a:t>Sets have no index. Someone cannot access elements by position.</a:t>
            </a:r>
          </a:p>
          <a:p>
            <a:pPr marL="0" indent="0" algn="just">
              <a:buNone/>
            </a:pPr>
            <a:r>
              <a:rPr lang="en-US" dirty="0">
                <a:latin typeface="Times New Roman" panose="02020603050405020304" pitchFamily="18" charset="0"/>
                <a:cs typeface="Times New Roman" panose="02020603050405020304" pitchFamily="18" charset="0"/>
              </a:rPr>
              <a:t>No duplicates.</a:t>
            </a:r>
          </a:p>
          <a:p>
            <a:pPr algn="just"/>
            <a:r>
              <a:rPr lang="en-US" dirty="0">
                <a:latin typeface="Times New Roman" panose="02020603050405020304" pitchFamily="18" charset="0"/>
                <a:cs typeface="Times New Roman" panose="02020603050405020304" pitchFamily="18" charset="0"/>
              </a:rPr>
              <a:t>{1,1,2,2,3} automatically becomes {1,2,3}.</a:t>
            </a:r>
          </a:p>
          <a:p>
            <a:pPr marL="0" indent="0" algn="just">
              <a:buNone/>
            </a:pPr>
            <a:r>
              <a:rPr lang="en-US" dirty="0" err="1">
                <a:latin typeface="Times New Roman" panose="02020603050405020304" pitchFamily="18" charset="0"/>
                <a:cs typeface="Times New Roman" panose="02020603050405020304" pitchFamily="18" charset="0"/>
              </a:rPr>
              <a:t>Hashable</a:t>
            </a:r>
            <a:r>
              <a:rPr lang="en-US" dirty="0">
                <a:latin typeface="Times New Roman" panose="02020603050405020304" pitchFamily="18" charset="0"/>
                <a:cs typeface="Times New Roman" panose="02020603050405020304" pitchFamily="18" charset="0"/>
              </a:rPr>
              <a:t> elements only.</a:t>
            </a:r>
          </a:p>
          <a:p>
            <a:pPr algn="just"/>
            <a:r>
              <a:rPr lang="en-US" dirty="0">
                <a:latin typeface="Times New Roman" panose="02020603050405020304" pitchFamily="18" charset="0"/>
                <a:cs typeface="Times New Roman" panose="02020603050405020304" pitchFamily="18" charset="0"/>
              </a:rPr>
              <a:t>Elements must be immutable (int, str, tuple). Lists and </a:t>
            </a:r>
            <a:r>
              <a:rPr lang="en-US" dirty="0" err="1">
                <a:latin typeface="Times New Roman" panose="02020603050405020304" pitchFamily="18" charset="0"/>
                <a:cs typeface="Times New Roman" panose="02020603050405020304" pitchFamily="18" charset="0"/>
              </a:rPr>
              <a:t>dicts</a:t>
            </a:r>
            <a:r>
              <a:rPr lang="en-US" dirty="0">
                <a:latin typeface="Times New Roman" panose="02020603050405020304" pitchFamily="18" charset="0"/>
                <a:cs typeface="Times New Roman" panose="02020603050405020304" pitchFamily="18" charset="0"/>
              </a:rPr>
              <a:t> cannot be set elements.</a:t>
            </a:r>
          </a:p>
          <a:p>
            <a:pPr marL="0" indent="0" algn="just">
              <a:buNone/>
            </a:pPr>
            <a:r>
              <a:rPr lang="en-US" dirty="0" err="1">
                <a:latin typeface="Times New Roman" panose="02020603050405020304" pitchFamily="18" charset="0"/>
                <a:cs typeface="Times New Roman" panose="02020603050405020304" pitchFamily="18" charset="0"/>
              </a:rPr>
              <a:t>Frozenset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An immutable version of set. Can be used as a dictionary key or as an element of another set.</a:t>
            </a: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92882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F96F5-7642-D15E-2D8B-ACCD38162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0CC83-AFCD-51CA-2415-15FA9DA70BEE}"/>
              </a:ext>
            </a:extLst>
          </p:cNvPr>
          <p:cNvSpPr>
            <a:spLocks noGrp="1"/>
          </p:cNvSpPr>
          <p:nvPr>
            <p:ph type="title"/>
          </p:nvPr>
        </p:nvSpPr>
        <p:spPr/>
        <p:txBody>
          <a:bodyPr>
            <a:normAutofit fontScale="90000"/>
          </a:bodyPr>
          <a:lstStyle/>
          <a:p>
            <a:r>
              <a:rPr lang="en-US" dirty="0">
                <a:solidFill>
                  <a:srgbClr val="C00000"/>
                </a:solidFill>
                <a:latin typeface="Times New Roman" panose="02020603050405020304" pitchFamily="18" charset="0"/>
                <a:ea typeface="Calibri" pitchFamily="34" charset="-122"/>
                <a:cs typeface="Times New Roman" panose="02020603050405020304" pitchFamily="18" charset="0"/>
              </a:rPr>
              <a:t>Advantages of Sets on their application in Computer Science</a:t>
            </a:r>
            <a:br>
              <a:rPr lang="en-US" dirty="0">
                <a:solidFill>
                  <a:srgbClr val="C00000"/>
                </a:solidFill>
                <a:latin typeface="Times New Roman" panose="02020603050405020304" pitchFamily="18" charset="0"/>
                <a:ea typeface="Calibri" pitchFamily="34" charset="-122"/>
                <a:cs typeface="Times New Roman" panose="02020603050405020304" pitchFamily="18" charset="0"/>
              </a:rPr>
            </a:br>
            <a:endParaRPr lang="en-TZ" dirty="0">
              <a:solidFill>
                <a:srgbClr val="C00000"/>
              </a:solidFill>
            </a:endParaRPr>
          </a:p>
        </p:txBody>
      </p:sp>
      <p:sp>
        <p:nvSpPr>
          <p:cNvPr id="3" name="Content Placeholder 2">
            <a:extLst>
              <a:ext uri="{FF2B5EF4-FFF2-40B4-BE49-F238E27FC236}">
                <a16:creationId xmlns:a16="http://schemas.microsoft.com/office/drawing/2014/main" id="{A4916665-3B75-0712-4DC4-53C365F2E18C}"/>
              </a:ext>
            </a:extLst>
          </p:cNvPr>
          <p:cNvSpPr>
            <a:spLocks noGrp="1"/>
          </p:cNvSpPr>
          <p:nvPr>
            <p:ph idx="1"/>
          </p:nvPr>
        </p:nvSpPr>
        <p:spPr/>
        <p:txBody>
          <a:bodyPr/>
          <a:lstStyle/>
          <a:p>
            <a:pPr marL="571500" indent="-571500">
              <a:buAutoNum type="romanLcPeriod"/>
            </a:pPr>
            <a:r>
              <a:rPr lang="en-US" dirty="0">
                <a:latin typeface="Times New Roman" panose="02020603050405020304" pitchFamily="18" charset="0"/>
                <a:cs typeface="Times New Roman" panose="02020603050405020304" pitchFamily="18" charset="0"/>
              </a:rPr>
              <a:t>Mathematical precision and formal foundation.</a:t>
            </a:r>
          </a:p>
          <a:p>
            <a:pPr algn="just"/>
            <a:r>
              <a:rPr lang="en-US" dirty="0">
                <a:latin typeface="Times New Roman" panose="02020603050405020304" pitchFamily="18" charset="0"/>
                <a:cs typeface="Times New Roman" panose="02020603050405020304" pitchFamily="18" charset="0"/>
              </a:rPr>
              <a:t>Set Theory has precise, formal definitions, when a program's data types are specified using set theory, there is no ambiguity about what values are valid just eliminating entire classes of bugs at the specification stage.</a:t>
            </a:r>
          </a:p>
          <a:p>
            <a:pPr algn="just"/>
            <a:r>
              <a:rPr lang="en-US" dirty="0">
                <a:latin typeface="Times New Roman" panose="02020603050405020304" pitchFamily="18" charset="0"/>
                <a:cs typeface="Times New Roman" panose="02020603050405020304" pitchFamily="18" charset="0"/>
              </a:rPr>
              <a:t>Set theory is the foundation of all modern mathematics. Any mathematical result (graph theory, number theory, combinatorics) can be directly applied to CS problems, providing an enormous library of pre-proven tools.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52046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4F897-F122-5C48-D5F2-D75BAB5F4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3C57F3-4496-2137-565F-3CDD4D8C1F8D}"/>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75014285-47D2-FF09-6170-AB42168A0D05}"/>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ii. Efficiency, expressiveness, and abstraction.</a:t>
            </a:r>
          </a:p>
          <a:p>
            <a:pPr marL="0" indent="0" algn="just">
              <a:buNone/>
            </a:pPr>
            <a:r>
              <a:rPr lang="en-US" dirty="0">
                <a:latin typeface="Times New Roman" panose="02020603050405020304" pitchFamily="18" charset="0"/>
                <a:cs typeface="Times New Roman" panose="02020603050405020304" pitchFamily="18" charset="0"/>
              </a:rPr>
              <a:t>Set operations abstract away implementation details. Writing 'A ∩ B' is clearer, more concise, and less error-prone than writing explicit loops to find common elements.</a:t>
            </a:r>
          </a:p>
          <a:p>
            <a:pPr marL="0" indent="0" algn="just">
              <a:buNone/>
            </a:pPr>
            <a:r>
              <a:rPr lang="en-US" dirty="0">
                <a:latin typeface="Times New Roman" panose="02020603050405020304" pitchFamily="18" charset="0"/>
                <a:cs typeface="Times New Roman" panose="02020603050405020304" pitchFamily="18" charset="0"/>
              </a:rPr>
              <a:t>Sets inherently eliminate duplicates without any extra code. Collecting unique values, removing repeated data, finding distinct items — sets do this automatically.</a:t>
            </a:r>
          </a:p>
          <a:p>
            <a:pPr marL="0" indent="0">
              <a:buNone/>
            </a:pPr>
            <a:endParaRPr lang="en-TZ" dirty="0"/>
          </a:p>
        </p:txBody>
      </p:sp>
    </p:spTree>
    <p:extLst>
      <p:ext uri="{BB962C8B-B14F-4D97-AF65-F5344CB8AC3E}">
        <p14:creationId xmlns:p14="http://schemas.microsoft.com/office/powerpoint/2010/main" val="39199806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47075-6E52-329D-6379-699ECA71A1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88B32A-2FEF-8362-6215-66CC63F7AB46}"/>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DE5325D5-5C23-E421-C720-B8BA107FB950}"/>
              </a:ext>
            </a:extLst>
          </p:cNvPr>
          <p:cNvSpPr>
            <a:spLocks noGrp="1"/>
          </p:cNvSpPr>
          <p:nvPr>
            <p:ph idx="1"/>
          </p:nvPr>
        </p:nvSpPr>
        <p:spPr/>
        <p:txBody>
          <a:bodyPr/>
          <a:lstStyle/>
          <a:p>
            <a:pPr marL="0" indent="0">
              <a:buNone/>
            </a:pPr>
            <a:r>
              <a:rPr lang="en-US" dirty="0" err="1">
                <a:latin typeface="Times New Roman" panose="02020603050405020304" pitchFamily="18" charset="0"/>
                <a:cs typeface="Times New Roman" panose="02020603050405020304" pitchFamily="18" charset="0"/>
              </a:rPr>
              <a:t>iii.Versatility</a:t>
            </a:r>
            <a:r>
              <a:rPr lang="en-US" dirty="0">
                <a:latin typeface="Times New Roman" panose="02020603050405020304" pitchFamily="18" charset="0"/>
                <a:cs typeface="Times New Roman" panose="02020603050405020304" pitchFamily="18" charset="0"/>
              </a:rPr>
              <a:t> across computer science domains.</a:t>
            </a:r>
          </a:p>
          <a:p>
            <a:pPr marL="0" indent="0">
              <a:buNone/>
            </a:pPr>
            <a:r>
              <a:rPr lang="en-US" dirty="0">
                <a:latin typeface="Times New Roman" panose="02020603050405020304" pitchFamily="18" charset="0"/>
                <a:cs typeface="Times New Roman" panose="02020603050405020304" pitchFamily="18" charset="0"/>
              </a:rPr>
              <a:t>Example in computer science domain like databases ,  all these </a:t>
            </a:r>
            <a:r>
              <a:rPr lang="en-US" dirty="0">
                <a:solidFill>
                  <a:srgbClr val="000000"/>
                </a:solidFill>
                <a:latin typeface="Times New Roman" panose="02020603050405020304" pitchFamily="18" charset="0"/>
                <a:ea typeface="Calibri" pitchFamily="34" charset="-122"/>
                <a:cs typeface="Times New Roman" panose="02020603050405020304" pitchFamily="18" charset="0"/>
              </a:rPr>
              <a:t>Relational algebra, SQL set ops, normalization use set theory.</a:t>
            </a:r>
          </a:p>
          <a:p>
            <a:pPr marL="0" indent="0">
              <a:buNone/>
            </a:pPr>
            <a:endParaRPr lang="en-US" dirty="0">
              <a:solidFill>
                <a:srgbClr val="000000"/>
              </a:solidFill>
              <a:latin typeface="Times New Roman" panose="02020603050405020304" pitchFamily="18" charset="0"/>
              <a:ea typeface="Calibri" charset="0"/>
              <a:cs typeface="Times New Roman" panose="02020603050405020304" pitchFamily="18" charset="0"/>
            </a:endParaRPr>
          </a:p>
          <a:p>
            <a:pPr marL="0" indent="0">
              <a:buNone/>
            </a:pPr>
            <a:r>
              <a:rPr lang="en-US" dirty="0">
                <a:solidFill>
                  <a:srgbClr val="000000"/>
                </a:solidFill>
                <a:latin typeface="Times New Roman" panose="02020603050405020304" pitchFamily="18" charset="0"/>
                <a:ea typeface="Calibri" charset="0"/>
                <a:cs typeface="Times New Roman" panose="02020603050405020304" pitchFamily="18" charset="0"/>
              </a:rPr>
              <a:t>Another one Circuit design, here stuffs like Relational algebra, SQL set ops, normalization use set theory too.</a:t>
            </a:r>
          </a:p>
          <a:p>
            <a:pPr marL="0" indent="0">
              <a:buNone/>
            </a:pPr>
            <a:endParaRPr lang="en-US" dirty="0">
              <a:latin typeface="Times New Roman" panose="02020603050405020304" pitchFamily="18" charset="0"/>
              <a:ea typeface="Calibri" charset="0"/>
              <a:cs typeface="Times New Roman" panose="02020603050405020304" pitchFamily="18" charset="0"/>
            </a:endParaRP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75750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993E5-1956-FE1C-77C4-325FF824E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8ECB0F-7945-D9E5-04E9-9CCF66B51A39}"/>
              </a:ext>
            </a:extLst>
          </p:cNvPr>
          <p:cNvSpPr>
            <a:spLocks noGrp="1"/>
          </p:cNvSpPr>
          <p:nvPr>
            <p:ph type="title"/>
          </p:nvPr>
        </p:nvSpPr>
        <p:spPr/>
        <p:txBody>
          <a:bodyPr>
            <a:normAutofit fontScale="90000"/>
          </a:bodyPr>
          <a:lstStyle/>
          <a:p>
            <a:r>
              <a:rPr lang="en-US" dirty="0" err="1">
                <a:solidFill>
                  <a:srgbClr val="C00000"/>
                </a:solidFill>
                <a:latin typeface="Times New Roman" panose="02020603050405020304" pitchFamily="18" charset="0"/>
                <a:ea typeface="Calibri" pitchFamily="34" charset="-122"/>
                <a:cs typeface="Times New Roman" panose="02020603050405020304" pitchFamily="18" charset="0"/>
              </a:rPr>
              <a:t>Disdvantages</a:t>
            </a:r>
            <a:r>
              <a:rPr lang="en-US" dirty="0">
                <a:solidFill>
                  <a:srgbClr val="C00000"/>
                </a:solidFill>
                <a:latin typeface="Times New Roman" panose="02020603050405020304" pitchFamily="18" charset="0"/>
                <a:ea typeface="Calibri" pitchFamily="34" charset="-122"/>
                <a:cs typeface="Times New Roman" panose="02020603050405020304" pitchFamily="18" charset="0"/>
              </a:rPr>
              <a:t> of Sets on their application in Computer Science</a:t>
            </a:r>
            <a:br>
              <a:rPr lang="en-US" dirty="0">
                <a:solidFill>
                  <a:srgbClr val="C00000"/>
                </a:solidFill>
                <a:latin typeface="Times New Roman" panose="02020603050405020304" pitchFamily="18" charset="0"/>
                <a:ea typeface="Calibri" pitchFamily="34" charset="-122"/>
                <a:cs typeface="Times New Roman" panose="02020603050405020304" pitchFamily="18" charset="0"/>
              </a:rPr>
            </a:br>
            <a:endParaRPr lang="en-TZ" dirty="0">
              <a:solidFill>
                <a:srgbClr val="C00000"/>
              </a:solidFill>
            </a:endParaRPr>
          </a:p>
        </p:txBody>
      </p:sp>
      <p:sp>
        <p:nvSpPr>
          <p:cNvPr id="3" name="Content Placeholder 2">
            <a:extLst>
              <a:ext uri="{FF2B5EF4-FFF2-40B4-BE49-F238E27FC236}">
                <a16:creationId xmlns:a16="http://schemas.microsoft.com/office/drawing/2014/main" id="{CB69ACBB-BD65-4C61-E9DD-B3C892AA105B}"/>
              </a:ext>
            </a:extLst>
          </p:cNvPr>
          <p:cNvSpPr>
            <a:spLocks noGrp="1"/>
          </p:cNvSpPr>
          <p:nvPr>
            <p:ph idx="1"/>
          </p:nvPr>
        </p:nvSpPr>
        <p:spPr/>
        <p:txBody>
          <a:bodyPr/>
          <a:lstStyle/>
          <a:p>
            <a:pPr marL="571500" indent="-571500" algn="just">
              <a:buAutoNum type="romanLcPeriod"/>
            </a:pPr>
            <a:r>
              <a:rPr lang="en-US" dirty="0">
                <a:latin typeface="Times New Roman" panose="02020603050405020304" pitchFamily="18" charset="0"/>
                <a:cs typeface="Times New Roman" panose="02020603050405020304" pitchFamily="18" charset="0"/>
              </a:rPr>
              <a:t>Performance and memory concerns</a:t>
            </a:r>
          </a:p>
          <a:p>
            <a:pPr marL="0" indent="0" algn="just">
              <a:buNone/>
            </a:pPr>
            <a:r>
              <a:rPr lang="en-US" dirty="0">
                <a:latin typeface="Times New Roman" panose="02020603050405020304" pitchFamily="18" charset="0"/>
                <a:cs typeface="Times New Roman" panose="02020603050405020304" pitchFamily="18" charset="0"/>
              </a:rPr>
              <a:t>Sets are unordered ,meaning someone  cannot access the 5th element of a set directly so converting to a list first adds overhead. Arrays/lists are needed when indexed access is </a:t>
            </a:r>
            <a:r>
              <a:rPr lang="en-US" dirty="0" err="1">
                <a:latin typeface="Times New Roman" panose="02020603050405020304" pitchFamily="18" charset="0"/>
                <a:cs typeface="Times New Roman" panose="02020603050405020304" pitchFamily="18" charset="0"/>
              </a:rPr>
              <a:t>required.So</a:t>
            </a:r>
            <a:r>
              <a:rPr lang="en-US" dirty="0">
                <a:latin typeface="Times New Roman" panose="02020603050405020304" pitchFamily="18" charset="0"/>
                <a:cs typeface="Times New Roman" panose="02020603050405020304" pitchFamily="18" charset="0"/>
              </a:rPr>
              <a:t> no random access by index.</a:t>
            </a:r>
          </a:p>
          <a:p>
            <a:pPr marL="0" indent="0" algn="just">
              <a:buNone/>
            </a:pPr>
            <a:r>
              <a:rPr lang="en-US" dirty="0">
                <a:latin typeface="Times New Roman" panose="02020603050405020304" pitchFamily="18" charset="0"/>
                <a:cs typeface="Times New Roman" panose="02020603050405020304" pitchFamily="18" charset="0"/>
              </a:rPr>
              <a:t>Hash-based sets have O(1) average time, but O(n) worst-case when many elements hash to the same bucket. Adversarial inputs can deliberately trigger this.</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40467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DC55A-5297-DBC6-6F16-7266F538A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5CCED0-A9BE-87A9-C985-32581D9F16B9}"/>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D1E3FF92-862E-9C1B-CD12-351B6C4A7149}"/>
              </a:ext>
            </a:extLst>
          </p:cNvPr>
          <p:cNvSpPr>
            <a:spLocks noGrp="1"/>
          </p:cNvSpPr>
          <p:nvPr>
            <p:ph idx="1"/>
          </p:nvPr>
        </p:nvSpPr>
        <p:spPr/>
        <p:txBody>
          <a:bodyPr/>
          <a:lstStyle/>
          <a:p>
            <a:pPr marL="0" indent="0" algn="just">
              <a:buNone/>
            </a:pPr>
            <a:r>
              <a:rPr lang="sw-KE" dirty="0">
                <a:latin typeface="Times New Roman" panose="02020603050405020304" pitchFamily="18" charset="0"/>
                <a:cs typeface="Times New Roman" panose="02020603050405020304" pitchFamily="18" charset="0"/>
              </a:rPr>
              <a:t>ii.Conceptual and practical limitations</a:t>
            </a:r>
          </a:p>
          <a:p>
            <a:pPr marL="0" indent="0" algn="just">
              <a:buNone/>
            </a:pPr>
            <a:r>
              <a:rPr lang="en-US" dirty="0">
                <a:latin typeface="Times New Roman" panose="02020603050405020304" pitchFamily="18" charset="0"/>
                <a:cs typeface="Times New Roman" panose="02020603050405020304" pitchFamily="18" charset="0"/>
              </a:rPr>
              <a:t>Many real-world problems require ordered data (sorted lists, priority queues). Using sets forces a conversion step that adds time and complexity to the algorithm.</a:t>
            </a:r>
          </a:p>
          <a:p>
            <a:pPr marL="0" indent="0" algn="just">
              <a:buNone/>
            </a:pPr>
            <a:r>
              <a:rPr lang="en-US" dirty="0">
                <a:latin typeface="Times New Roman" panose="02020603050405020304" pitchFamily="18" charset="0"/>
                <a:cs typeface="Times New Roman" panose="02020603050405020304" pitchFamily="18" charset="0"/>
              </a:rPr>
              <a:t>Operations like union and intersection create NEW sets rather than modifying existing ones. This can lead to many temporary objects and increased garbage collection pressure.</a:t>
            </a:r>
          </a:p>
          <a:p>
            <a:pPr marL="0" indent="0" algn="just">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34182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FFD47-178A-7391-FA8D-62CB52495D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AE99D1-A1DD-3AC2-51F5-C288813C7418}"/>
              </a:ext>
            </a:extLst>
          </p:cNvPr>
          <p:cNvSpPr>
            <a:spLocks noGrp="1"/>
          </p:cNvSpPr>
          <p:nvPr>
            <p:ph type="title"/>
          </p:nvPr>
        </p:nvSpPr>
        <p:spPr/>
        <p:txBody>
          <a:bodyPr>
            <a:normAutofit fontScale="90000"/>
          </a:bodyPr>
          <a:lstStyle/>
          <a:p>
            <a:r>
              <a:rPr lang="en-US" dirty="0">
                <a:solidFill>
                  <a:srgbClr val="C00000"/>
                </a:solidFill>
                <a:latin typeface="Times New Roman" panose="02020603050405020304" pitchFamily="18" charset="0"/>
                <a:ea typeface="Calibri" pitchFamily="34" charset="-122"/>
                <a:cs typeface="Times New Roman" panose="02020603050405020304" pitchFamily="18" charset="0"/>
              </a:rPr>
              <a:t>Limitations of Set Theory in Computer Science and Engineering</a:t>
            </a:r>
            <a:br>
              <a:rPr lang="en-US" dirty="0">
                <a:latin typeface="Times New Roman" panose="02020603050405020304" pitchFamily="18" charset="0"/>
                <a:cs typeface="Times New Roman" panose="02020603050405020304" pitchFamily="18" charset="0"/>
              </a:rPr>
            </a:br>
            <a:endParaRPr lang="en-TZ" dirty="0"/>
          </a:p>
        </p:txBody>
      </p:sp>
      <p:sp>
        <p:nvSpPr>
          <p:cNvPr id="3" name="Content Placeholder 2">
            <a:extLst>
              <a:ext uri="{FF2B5EF4-FFF2-40B4-BE49-F238E27FC236}">
                <a16:creationId xmlns:a16="http://schemas.microsoft.com/office/drawing/2014/main" id="{4B70A935-FC2D-7CA0-8859-C7481C7FAE5C}"/>
              </a:ext>
            </a:extLst>
          </p:cNvPr>
          <p:cNvSpPr>
            <a:spLocks noGrp="1"/>
          </p:cNvSpPr>
          <p:nvPr>
            <p:ph idx="1"/>
          </p:nvPr>
        </p:nvSpPr>
        <p:spPr/>
        <p:txBody>
          <a:bodyPr/>
          <a:lstStyle/>
          <a:p>
            <a:pPr marL="0" indent="0" algn="just">
              <a:buNone/>
            </a:pPr>
            <a:r>
              <a:rPr lang="en-US" dirty="0" err="1">
                <a:latin typeface="Times New Roman" panose="02020603050405020304" pitchFamily="18" charset="0"/>
                <a:cs typeface="Times New Roman" panose="02020603050405020304" pitchFamily="18" charset="0"/>
              </a:rPr>
              <a:t>i.Incompleteness</a:t>
            </a:r>
            <a:r>
              <a:rPr lang="en-US" dirty="0">
                <a:latin typeface="Times New Roman" panose="02020603050405020304" pitchFamily="18" charset="0"/>
                <a:cs typeface="Times New Roman" panose="02020603050405020304" pitchFamily="18" charset="0"/>
              </a:rPr>
              <a:t> and Paradoxes</a:t>
            </a:r>
          </a:p>
          <a:p>
            <a:pPr marL="0" indent="0" algn="just">
              <a:buNone/>
            </a:pPr>
            <a:r>
              <a:rPr lang="en-US" dirty="0">
                <a:latin typeface="Times New Roman" panose="02020603050405020304" pitchFamily="18" charset="0"/>
                <a:cs typeface="Times New Roman" panose="02020603050405020304" pitchFamily="18" charset="0"/>
              </a:rPr>
              <a:t>Based on Rusell’s paradox who said that , Naive set theory (without axioms) allows the construction of paradoxical sets that cannot consistently exist. This forces the use of formal axiomatic systems that are more restrictive.</a:t>
            </a:r>
          </a:p>
          <a:p>
            <a:pPr marL="0" indent="0">
              <a:buNone/>
            </a:pPr>
            <a:r>
              <a:rPr lang="en-US" dirty="0">
                <a:latin typeface="Times New Roman" panose="02020603050405020304" pitchFamily="18" charset="0"/>
                <a:cs typeface="Times New Roman" panose="02020603050405020304" pitchFamily="18" charset="0"/>
              </a:rPr>
              <a:t>Some important mathematical statements (like the Continuum Hypothesis and the Axiom of Choice) are independent of ZFC so  they can be neither proved nor disproved within the system. This limits what set theory can formally determine.</a:t>
            </a: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745439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1D986-E703-99AD-C78B-B49145ED2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9F7260-1FC3-E6E1-22E4-DBA0F053F0F3}"/>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88FA763D-D297-304F-AD22-EF72334BF085}"/>
              </a:ext>
            </a:extLst>
          </p:cNvPr>
          <p:cNvSpPr>
            <a:spLocks noGrp="1"/>
          </p:cNvSpPr>
          <p:nvPr>
            <p:ph idx="1"/>
          </p:nvPr>
        </p:nvSpPr>
        <p:spPr/>
        <p:txBody>
          <a:bodyPr/>
          <a:lstStyle/>
          <a:p>
            <a:pPr marL="0" indent="0">
              <a:buNone/>
            </a:pPr>
            <a:r>
              <a:rPr lang="en-US" dirty="0" err="1">
                <a:latin typeface="Times New Roman" panose="02020603050405020304" pitchFamily="18" charset="0"/>
                <a:cs typeface="Times New Roman" panose="02020603050405020304" pitchFamily="18" charset="0"/>
              </a:rPr>
              <a:t>ii.Computational</a:t>
            </a:r>
            <a:r>
              <a:rPr lang="en-US" dirty="0">
                <a:latin typeface="Times New Roman" panose="02020603050405020304" pitchFamily="18" charset="0"/>
                <a:cs typeface="Times New Roman" panose="02020603050405020304" pitchFamily="18" charset="0"/>
              </a:rPr>
              <a:t> Limitations of Set Theory</a:t>
            </a:r>
          </a:p>
          <a:p>
            <a:pPr marL="0" indent="0">
              <a:buNone/>
            </a:pPr>
            <a:r>
              <a:rPr lang="en-US" dirty="0">
                <a:latin typeface="Times New Roman" panose="02020603050405020304" pitchFamily="18" charset="0"/>
                <a:cs typeface="Times New Roman" panose="02020603050405020304" pitchFamily="18" charset="0"/>
              </a:rPr>
              <a:t>Turing proved (using set-theoretic arguments) that the halting problem is undecidable so no program can determine if an arbitrary program terminates. </a:t>
            </a:r>
          </a:p>
          <a:p>
            <a:pPr marL="0" indent="0">
              <a:buNone/>
            </a:pPr>
            <a:r>
              <a:rPr lang="en-US" dirty="0">
                <a:latin typeface="Times New Roman" panose="02020603050405020304" pitchFamily="18" charset="0"/>
                <a:cs typeface="Times New Roman" panose="02020603050405020304" pitchFamily="18" charset="0"/>
              </a:rPr>
              <a:t>This is a fundamental computational limitation arising from set theory.</a:t>
            </a: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449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A552F-ED35-88B5-9BA4-2D0650EA8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AFA97-5CA1-CB4B-9FEA-FED2A1788ECA}"/>
              </a:ext>
            </a:extLst>
          </p:cNvPr>
          <p:cNvSpPr>
            <a:spLocks noGrp="1"/>
          </p:cNvSpPr>
          <p:nvPr>
            <p:ph type="title"/>
          </p:nvPr>
        </p:nvSpPr>
        <p:spPr/>
        <p:txBody>
          <a:bodyPr/>
          <a:lstStyle/>
          <a:p>
            <a:endParaRPr lang="en-TZ" dirty="0"/>
          </a:p>
        </p:txBody>
      </p:sp>
      <p:sp>
        <p:nvSpPr>
          <p:cNvPr id="3" name="Content Placeholder 2">
            <a:extLst>
              <a:ext uri="{FF2B5EF4-FFF2-40B4-BE49-F238E27FC236}">
                <a16:creationId xmlns:a16="http://schemas.microsoft.com/office/drawing/2014/main" id="{38E58281-EED7-D7EA-DF45-ACECED231FCA}"/>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Practical limitations when applying Set theory in real engineering systems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Scalability issues</a:t>
            </a:r>
          </a:p>
          <a:p>
            <a:r>
              <a:rPr lang="en-US" dirty="0">
                <a:latin typeface="Times New Roman" panose="02020603050405020304" pitchFamily="18" charset="0"/>
                <a:cs typeface="Times New Roman" panose="02020603050405020304" pitchFamily="18" charset="0"/>
              </a:rPr>
              <a:t>Real-time set operations on billions of records (social network graphs, genomics data) strain even the best implementations. Approximation algorithms (Bloom filters) sacrifice accuracy for speed.</a:t>
            </a:r>
          </a:p>
          <a:p>
            <a:pPr marL="0" indent="0">
              <a:buNone/>
            </a:pP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07768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3AF0C-3035-2519-005C-ABCFD53CF34E}"/>
              </a:ext>
            </a:extLst>
          </p:cNvPr>
          <p:cNvSpPr>
            <a:spLocks noGrp="1"/>
          </p:cNvSpPr>
          <p:nvPr>
            <p:ph type="title"/>
          </p:nvPr>
        </p:nvSpPr>
        <p:spPr/>
        <p:txBody>
          <a:bodyPr/>
          <a:lstStyle/>
          <a:p>
            <a:r>
              <a:rPr lang="en-US" b="1" dirty="0"/>
              <a:t>References</a:t>
            </a:r>
            <a:endParaRPr lang="en-TZ" b="1" dirty="0"/>
          </a:p>
        </p:txBody>
      </p:sp>
      <p:sp>
        <p:nvSpPr>
          <p:cNvPr id="3" name="Content Placeholder 2">
            <a:extLst>
              <a:ext uri="{FF2B5EF4-FFF2-40B4-BE49-F238E27FC236}">
                <a16:creationId xmlns:a16="http://schemas.microsoft.com/office/drawing/2014/main" id="{BD5431CE-D639-BF4B-14FB-74E122AF5E12}"/>
              </a:ext>
            </a:extLst>
          </p:cNvPr>
          <p:cNvSpPr>
            <a:spLocks noGrp="1"/>
          </p:cNvSpPr>
          <p:nvPr>
            <p:ph idx="1"/>
          </p:nvPr>
        </p:nvSpPr>
        <p:spPr/>
        <p:txBody>
          <a:bodyPr/>
          <a:lstStyle/>
          <a:p>
            <a:r>
              <a:rPr lang="en-US" dirty="0">
                <a:solidFill>
                  <a:srgbClr val="1A1A2E"/>
                </a:solidFill>
                <a:latin typeface="Calibri" pitchFamily="34" charset="0"/>
                <a:ea typeface="Calibri" pitchFamily="34" charset="-122"/>
                <a:cs typeface="Calibri" pitchFamily="34" charset="-120"/>
              </a:rPr>
              <a:t>[1] Rosen, K. H. (2019). Discrete Mathematics and Its Applications (8th ed.). McGraw-Hill Education. [Primary Textbook]</a:t>
            </a:r>
          </a:p>
          <a:p>
            <a:r>
              <a:rPr lang="en-US" dirty="0">
                <a:solidFill>
                  <a:srgbClr val="1A1A2E"/>
                </a:solidFill>
                <a:latin typeface="Calibri" pitchFamily="34" charset="0"/>
                <a:ea typeface="Calibri" pitchFamily="34" charset="-122"/>
                <a:cs typeface="Calibri" pitchFamily="34" charset="-120"/>
              </a:rPr>
              <a:t>[2] Pace, G.J. (2012). Mathematics of Discrete Structures for Computer Science. Springer-Verlag Berlin Heidelberg.</a:t>
            </a:r>
            <a:endParaRPr lang="en-US" dirty="0"/>
          </a:p>
          <a:p>
            <a:r>
              <a:rPr lang="en-US" dirty="0">
                <a:solidFill>
                  <a:srgbClr val="1A1A2E"/>
                </a:solidFill>
                <a:latin typeface="Calibri" pitchFamily="34" charset="0"/>
                <a:ea typeface="Calibri" pitchFamily="34" charset="-122"/>
                <a:cs typeface="Calibri" pitchFamily="34" charset="-120"/>
              </a:rPr>
              <a:t>[3] </a:t>
            </a:r>
            <a:r>
              <a:rPr lang="en-US" dirty="0" err="1">
                <a:solidFill>
                  <a:srgbClr val="1A1A2E"/>
                </a:solidFill>
                <a:latin typeface="Calibri" pitchFamily="34" charset="0"/>
                <a:ea typeface="Calibri" pitchFamily="34" charset="-122"/>
                <a:cs typeface="Calibri" pitchFamily="34" charset="-120"/>
              </a:rPr>
              <a:t>GeeksforGeeks</a:t>
            </a:r>
            <a:r>
              <a:rPr lang="en-US" dirty="0">
                <a:solidFill>
                  <a:srgbClr val="1A1A2E"/>
                </a:solidFill>
                <a:latin typeface="Calibri" pitchFamily="34" charset="0"/>
                <a:ea typeface="Calibri" pitchFamily="34" charset="-122"/>
                <a:cs typeface="Calibri" pitchFamily="34" charset="-120"/>
              </a:rPr>
              <a:t>. (2024). Set Theory — Definition, Types, Symbols, Examples &amp; Operations. https://www.geeksforgeeks.org/maths/set-theory/</a:t>
            </a:r>
            <a:endParaRPr lang="en-US" dirty="0"/>
          </a:p>
          <a:p>
            <a:r>
              <a:rPr lang="en-US" dirty="0">
                <a:solidFill>
                  <a:srgbClr val="1A1A2E"/>
                </a:solidFill>
                <a:latin typeface="Calibri" pitchFamily="34" charset="0"/>
                <a:ea typeface="Calibri" pitchFamily="34" charset="-122"/>
                <a:cs typeface="Calibri" pitchFamily="34" charset="-120"/>
              </a:rPr>
              <a:t>[4] </a:t>
            </a:r>
            <a:r>
              <a:rPr lang="en-US" dirty="0" err="1">
                <a:solidFill>
                  <a:srgbClr val="1A1A2E"/>
                </a:solidFill>
                <a:latin typeface="Calibri" pitchFamily="34" charset="0"/>
                <a:ea typeface="Calibri" pitchFamily="34" charset="-122"/>
                <a:cs typeface="Calibri" pitchFamily="34" charset="-120"/>
              </a:rPr>
              <a:t>Cormen</a:t>
            </a:r>
            <a:r>
              <a:rPr lang="en-US" dirty="0">
                <a:solidFill>
                  <a:srgbClr val="1A1A2E"/>
                </a:solidFill>
                <a:latin typeface="Calibri" pitchFamily="34" charset="0"/>
                <a:ea typeface="Calibri" pitchFamily="34" charset="-122"/>
                <a:cs typeface="Calibri" pitchFamily="34" charset="-120"/>
              </a:rPr>
              <a:t>, T.H., et al. (2009). Introduction to Algorithms (3rd ed.). MIT Press.</a:t>
            </a:r>
            <a:endParaRPr lang="en-US" dirty="0"/>
          </a:p>
          <a:p>
            <a:endParaRPr lang="en-US" dirty="0"/>
          </a:p>
          <a:p>
            <a:endParaRPr lang="en-TZ" i="1" dirty="0"/>
          </a:p>
        </p:txBody>
      </p:sp>
    </p:spTree>
    <p:extLst>
      <p:ext uri="{BB962C8B-B14F-4D97-AF65-F5344CB8AC3E}">
        <p14:creationId xmlns:p14="http://schemas.microsoft.com/office/powerpoint/2010/main" val="28130783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F4278-01B3-020D-2AEE-E31CD1234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EB6F94-FF07-2675-9A97-6CCC13A64914}"/>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4E1E6438-AA4A-C09B-55D9-2CCA10C5EB61}"/>
              </a:ext>
            </a:extLst>
          </p:cNvPr>
          <p:cNvSpPr>
            <a:spLocks noGrp="1"/>
          </p:cNvSpPr>
          <p:nvPr>
            <p:ph idx="1"/>
          </p:nvPr>
        </p:nvSpPr>
        <p:spPr/>
        <p:txBody>
          <a:bodyPr/>
          <a:lstStyle/>
          <a:p>
            <a:endParaRPr lang="en-US" dirty="0"/>
          </a:p>
          <a:p>
            <a:pPr algn="ctr"/>
            <a:endParaRPr lang="en-US" dirty="0"/>
          </a:p>
          <a:p>
            <a:pPr algn="ctr"/>
            <a:endParaRPr lang="en-US" dirty="0"/>
          </a:p>
          <a:p>
            <a:pPr marL="0" indent="0" algn="ctr">
              <a:buNone/>
            </a:pPr>
            <a:r>
              <a:rPr lang="en-US" sz="9600" b="1" dirty="0">
                <a:solidFill>
                  <a:srgbClr val="0070C0"/>
                </a:solidFill>
                <a:latin typeface="Times New Roman" panose="02020603050405020304" pitchFamily="18" charset="0"/>
                <a:cs typeface="Times New Roman" panose="02020603050405020304" pitchFamily="18" charset="0"/>
              </a:rPr>
              <a:t>THANK YOU!</a:t>
            </a:r>
            <a:endParaRPr lang="en-TZ" sz="9600"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085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715</TotalTime>
  <Words>4791</Words>
  <Application>Microsoft Office PowerPoint</Application>
  <PresentationFormat>Widescreen</PresentationFormat>
  <Paragraphs>511</Paragraphs>
  <Slides>80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80</vt:i4>
      </vt:variant>
    </vt:vector>
  </HeadingPairs>
  <TitlesOfParts>
    <vt:vector size="88" baseType="lpstr">
      <vt:lpstr>Arial</vt:lpstr>
      <vt:lpstr>Calibri</vt:lpstr>
      <vt:lpstr>Calibri Light</vt:lpstr>
      <vt:lpstr>Georgia</vt:lpstr>
      <vt:lpstr>Tahoma</vt:lpstr>
      <vt:lpstr>Times New Roman</vt:lpstr>
      <vt:lpstr>Wingdings</vt:lpstr>
      <vt:lpstr>Office Theme</vt:lpstr>
      <vt:lpstr>UNIVERSITY  OF  DAR ES SALAAM</vt:lpstr>
      <vt:lpstr>PowerPoint Presentation</vt:lpstr>
      <vt:lpstr>Contents</vt:lpstr>
      <vt:lpstr>Contents...</vt:lpstr>
      <vt:lpstr>Georg Cantor: The Father of Set Theory Historical Background of Set Theory in Computer Science 1918) The Father of Set Theory (1874–1897)</vt:lpstr>
      <vt:lpstr>Russell's Paradox and the Crisis of Set Theory </vt:lpstr>
      <vt:lpstr>The Resolution</vt:lpstr>
      <vt:lpstr>Zermelo-Fraenkel Axiomatic Set Theory </vt:lpstr>
      <vt:lpstr>Set Theory enters Computer Science </vt:lpstr>
      <vt:lpstr>PowerPoint Presentation</vt:lpstr>
      <vt:lpstr>Sets and Their Properties</vt:lpstr>
      <vt:lpstr>PowerPoint Presentation</vt:lpstr>
      <vt:lpstr>Set Notation and Representation </vt:lpstr>
      <vt:lpstr>PowerPoint Presentation</vt:lpstr>
      <vt:lpstr>Types of sets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Set Operations</vt:lpstr>
      <vt:lpstr>PowerPoint Presentation</vt:lpstr>
      <vt:lpstr>PowerPoint Presentation</vt:lpstr>
      <vt:lpstr>PowerPoint Presentation</vt:lpstr>
      <vt:lpstr>PowerPoint Presentation</vt:lpstr>
      <vt:lpstr>Set identities and Laws</vt:lpstr>
      <vt:lpstr>How Venn Diagrams are used in Set Theory</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Venn diagram:Three sets</vt:lpstr>
      <vt:lpstr>Relation between Set Theory, BooleanAlgebra,Propositional Logic and their applications in computer science. </vt:lpstr>
      <vt:lpstr>PowerPoint Presentation</vt:lpstr>
      <vt:lpstr>Set Theory vs Propositional Logic — Parallel Laws </vt:lpstr>
      <vt:lpstr>Boolean Algebra and Its Relationship to Set Theory </vt:lpstr>
      <vt:lpstr>PowerPoint Presentation</vt:lpstr>
      <vt:lpstr>PowerPoint Presentation</vt:lpstr>
      <vt:lpstr>PowerPoint Presentation</vt:lpstr>
      <vt:lpstr>PowerPoint Presentation</vt:lpstr>
      <vt:lpstr>Applications in CS: Logic Gates and Circuits </vt:lpstr>
      <vt:lpstr>PowerPoint Presentation</vt:lpstr>
      <vt:lpstr>PowerPoint Presentation</vt:lpstr>
      <vt:lpstr>PowerPoint Presentation</vt:lpstr>
      <vt:lpstr>PowerPoint Presentation</vt:lpstr>
      <vt:lpstr>How Structural Induction is used to prove properties of sets and  recursive data structures. </vt:lpstr>
      <vt:lpstr>PowerPoint Presentation</vt:lpstr>
      <vt:lpstr>Structural induction</vt:lpstr>
      <vt:lpstr>PowerPoint Presentation</vt:lpstr>
      <vt:lpstr>PowerPoint Presentation</vt:lpstr>
      <vt:lpstr>PowerPoint Presentation</vt:lpstr>
      <vt:lpstr>Recursive Data Structures</vt:lpstr>
      <vt:lpstr>PowerPoint Presentation</vt:lpstr>
      <vt:lpstr>PowerPoint Presentation</vt:lpstr>
      <vt:lpstr>Continue…</vt:lpstr>
      <vt:lpstr>Continue…</vt:lpstr>
      <vt:lpstr>Applications of Sets in Computer Science and Engineering </vt:lpstr>
      <vt:lpstr>PowerPoint Presentation</vt:lpstr>
      <vt:lpstr>PowerPoint Presentation</vt:lpstr>
      <vt:lpstr>PowerPoint Presentation</vt:lpstr>
      <vt:lpstr>Examples of data types suitable for sets in computer programming </vt:lpstr>
      <vt:lpstr>PowerPoint Presentation</vt:lpstr>
      <vt:lpstr>PowerPoint Presentation</vt:lpstr>
      <vt:lpstr>PowerPoint Presentation</vt:lpstr>
      <vt:lpstr>Advantages of Sets on their application in Computer Science </vt:lpstr>
      <vt:lpstr>PowerPoint Presentation</vt:lpstr>
      <vt:lpstr>PowerPoint Presentation</vt:lpstr>
      <vt:lpstr>Disdvantages of Sets on their application in Computer Science </vt:lpstr>
      <vt:lpstr>PowerPoint Presentation</vt:lpstr>
      <vt:lpstr>Limitations of Set Theory in Computer Science and Engineering </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Abdulrahman Ahmada</dc:creator>
  <cp:lastModifiedBy>Abdulrahman Ahmada</cp:lastModifiedBy>
  <cp:revision>148</cp:revision>
  <dcterms:created xsi:type="dcterms:W3CDTF">2026-03-21T08:50:14Z</dcterms:created>
  <dcterms:modified xsi:type="dcterms:W3CDTF">2026-03-21T16:53:38Z</dcterms:modified>
</cp:coreProperties>
</file>