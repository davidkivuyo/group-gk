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0" r:id="rId1"/>
  </p:sldMasterIdLst>
  <p:notesMasterIdLst>
    <p:notesMasterId r:id="rId87"/>
  </p:notesMasterIdLst>
  <p:sldIdLst>
    <p:sldId id="286" r:id="rId2"/>
    <p:sldId id="437" r:id="rId3"/>
    <p:sldId id="289" r:id="rId4"/>
    <p:sldId id="357" r:id="rId5"/>
    <p:sldId id="358" r:id="rId6"/>
    <p:sldId id="441" r:id="rId7"/>
    <p:sldId id="364" r:id="rId8"/>
    <p:sldId id="365" r:id="rId9"/>
    <p:sldId id="442" r:id="rId10"/>
    <p:sldId id="359" r:id="rId11"/>
    <p:sldId id="360" r:id="rId12"/>
    <p:sldId id="361" r:id="rId13"/>
    <p:sldId id="362" r:id="rId14"/>
    <p:sldId id="363" r:id="rId15"/>
    <p:sldId id="366" r:id="rId16"/>
    <p:sldId id="367" r:id="rId17"/>
    <p:sldId id="368" r:id="rId18"/>
    <p:sldId id="373" r:id="rId19"/>
    <p:sldId id="443" r:id="rId20"/>
    <p:sldId id="370" r:id="rId21"/>
    <p:sldId id="438" r:id="rId22"/>
    <p:sldId id="369" r:id="rId23"/>
    <p:sldId id="372" r:id="rId24"/>
    <p:sldId id="440" r:id="rId25"/>
    <p:sldId id="374" r:id="rId26"/>
    <p:sldId id="444" r:id="rId27"/>
    <p:sldId id="375" r:id="rId28"/>
    <p:sldId id="376" r:id="rId29"/>
    <p:sldId id="377" r:id="rId30"/>
    <p:sldId id="378" r:id="rId31"/>
    <p:sldId id="379" r:id="rId32"/>
    <p:sldId id="381" r:id="rId33"/>
    <p:sldId id="382" r:id="rId34"/>
    <p:sldId id="380" r:id="rId35"/>
    <p:sldId id="383" r:id="rId36"/>
    <p:sldId id="384" r:id="rId37"/>
    <p:sldId id="439" r:id="rId38"/>
    <p:sldId id="386" r:id="rId39"/>
    <p:sldId id="445" r:id="rId40"/>
    <p:sldId id="387" r:id="rId41"/>
    <p:sldId id="389" r:id="rId42"/>
    <p:sldId id="390" r:id="rId43"/>
    <p:sldId id="391" r:id="rId44"/>
    <p:sldId id="392" r:id="rId45"/>
    <p:sldId id="385" r:id="rId46"/>
    <p:sldId id="388" r:id="rId47"/>
    <p:sldId id="393" r:id="rId48"/>
    <p:sldId id="394" r:id="rId49"/>
    <p:sldId id="395" r:id="rId50"/>
    <p:sldId id="446" r:id="rId51"/>
    <p:sldId id="396" r:id="rId52"/>
    <p:sldId id="397" r:id="rId53"/>
    <p:sldId id="398" r:id="rId54"/>
    <p:sldId id="399" r:id="rId55"/>
    <p:sldId id="400" r:id="rId56"/>
    <p:sldId id="401" r:id="rId57"/>
    <p:sldId id="402" r:id="rId58"/>
    <p:sldId id="403" r:id="rId59"/>
    <p:sldId id="404" r:id="rId60"/>
    <p:sldId id="405" r:id="rId61"/>
    <p:sldId id="406" r:id="rId62"/>
    <p:sldId id="407" r:id="rId63"/>
    <p:sldId id="408" r:id="rId64"/>
    <p:sldId id="409" r:id="rId65"/>
    <p:sldId id="410" r:id="rId66"/>
    <p:sldId id="411" r:id="rId67"/>
    <p:sldId id="412" r:id="rId68"/>
    <p:sldId id="413" r:id="rId69"/>
    <p:sldId id="414" r:id="rId70"/>
    <p:sldId id="415" r:id="rId71"/>
    <p:sldId id="416" r:id="rId72"/>
    <p:sldId id="418" r:id="rId73"/>
    <p:sldId id="419" r:id="rId74"/>
    <p:sldId id="420" r:id="rId75"/>
    <p:sldId id="422" r:id="rId76"/>
    <p:sldId id="424" r:id="rId77"/>
    <p:sldId id="425" r:id="rId78"/>
    <p:sldId id="427" r:id="rId79"/>
    <p:sldId id="428" r:id="rId80"/>
    <p:sldId id="430" r:id="rId81"/>
    <p:sldId id="433" r:id="rId82"/>
    <p:sldId id="434" r:id="rId83"/>
    <p:sldId id="435" r:id="rId84"/>
    <p:sldId id="436" r:id="rId85"/>
    <p:sldId id="447" r:id="rId86"/>
  </p:sldIdLst>
  <p:sldSz cx="9144000" cy="5143500" type="screen16x9"/>
  <p:notesSz cx="7099300" cy="10234613"/>
  <p:embeddedFontLst>
    <p:embeddedFont>
      <p:font typeface="Constantia" panose="02030602050306030303" pitchFamily="18" charset="0"/>
      <p:regular r:id="rId88"/>
      <p:bold r:id="rId89"/>
      <p:italic r:id="rId90"/>
      <p:boldItalic r:id="rId91"/>
    </p:embeddedFont>
    <p:embeddedFont>
      <p:font typeface="Proxima Nova" panose="020B0604020202020204" charset="0"/>
      <p:regular r:id="rId92"/>
      <p:bold r:id="rId93"/>
      <p:italic r:id="rId94"/>
      <p:boldItalic r:id="rId9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15:guide id="1" orient="horz" pos="3224">
          <p15:clr>
            <a:srgbClr val="A4A3A4"/>
          </p15:clr>
        </p15:guide>
        <p15:guide id="2" pos="223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5252"/>
    <a:srgbClr val="FF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152" autoAdjust="0"/>
    <p:restoredTop sz="94908" autoAdjust="0"/>
  </p:normalViewPr>
  <p:slideViewPr>
    <p:cSldViewPr snapToGrid="0">
      <p:cViewPr>
        <p:scale>
          <a:sx n="108" d="100"/>
          <a:sy n="108" d="100"/>
        </p:scale>
        <p:origin x="96" y="104"/>
      </p:cViewPr>
      <p:guideLst>
        <p:guide orient="horz" pos="1620"/>
        <p:guide pos="2880"/>
      </p:guideLst>
    </p:cSldViewPr>
  </p:slideViewPr>
  <p:outlineViewPr>
    <p:cViewPr>
      <p:scale>
        <a:sx n="33" d="100"/>
        <a:sy n="33" d="100"/>
      </p:scale>
      <p:origin x="0" y="-17916"/>
    </p:cViewPr>
  </p:outlineViewPr>
  <p:notesTextViewPr>
    <p:cViewPr>
      <p:scale>
        <a:sx n="100" d="100"/>
        <a:sy n="100" d="100"/>
      </p:scale>
      <p:origin x="0" y="0"/>
    </p:cViewPr>
  </p:notesTextViewPr>
  <p:notesViewPr>
    <p:cSldViewPr snapToGrid="0">
      <p:cViewPr varScale="1">
        <p:scale>
          <a:sx n="52" d="100"/>
          <a:sy n="52" d="100"/>
        </p:scale>
        <p:origin x="-2892" y="-108"/>
      </p:cViewPr>
      <p:guideLst>
        <p:guide orient="horz" pos="3224"/>
        <p:guide pos="2236"/>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font" Target="fonts/font2.fntdata"/><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font" Target="fonts/font3.fntdata"/><Relationship Id="rId95" Type="http://schemas.openxmlformats.org/officeDocument/2006/relationships/font" Target="fonts/font8.fntdata"/><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font" Target="fonts/font1.fntdata"/><Relationship Id="rId91" Type="http://schemas.openxmlformats.org/officeDocument/2006/relationships/font" Target="fonts/font4.fntdata"/><Relationship Id="rId9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font" Target="fonts/font7.fntdata"/><Relationship Id="rId9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font" Target="fonts/font5.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notesMaster" Target="notesMasters/notesMaster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font" Target="fonts/font6.fntdata"/><Relationship Id="rId98"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41288" y="768350"/>
            <a:ext cx="6818312" cy="38369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4" name="Google Shape;4;n"/>
          <p:cNvSpPr txBox="1">
            <a:spLocks noGrp="1"/>
          </p:cNvSpPr>
          <p:nvPr>
            <p:ph type="body" idx="1"/>
          </p:nvPr>
        </p:nvSpPr>
        <p:spPr>
          <a:xfrm>
            <a:off x="709930" y="4861441"/>
            <a:ext cx="5679440" cy="4605576"/>
          </a:xfrm>
          <a:prstGeom prst="rect">
            <a:avLst/>
          </a:prstGeom>
          <a:noFill/>
          <a:ln>
            <a:noFill/>
          </a:ln>
        </p:spPr>
        <p:txBody>
          <a:bodyPr spcFirstLastPara="1" wrap="square" lIns="99032" tIns="99032" rIns="99032" bIns="99032"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9700" y="768350"/>
            <a:ext cx="6819900" cy="3836988"/>
          </a:xfrm>
        </p:spPr>
        <p:txBody>
          <a:bodyPr/>
          <a:lstStyle/>
          <a:p>
            <a:endParaRPr lang="en-US"/>
          </a:p>
        </p:txBody>
      </p:sp>
      <p:sp>
        <p:nvSpPr>
          <p:cNvPr id="3" name="Notes Placeholder 2"/>
          <p:cNvSpPr>
            <a:spLocks noGrp="1"/>
          </p:cNvSpPr>
          <p:nvPr>
            <p:ph type="body" idx="1"/>
          </p:nvPr>
        </p:nvSpPr>
        <p:spPr/>
        <p:txBody>
          <a:bodyPr/>
          <a:lstStyle/>
          <a:p>
            <a:pPr marL="185715" indent="-185715">
              <a:buNone/>
            </a:pPr>
            <a:endParaRPr lang="en-US" dirty="0"/>
          </a:p>
        </p:txBody>
      </p:sp>
      <p:sp>
        <p:nvSpPr>
          <p:cNvPr id="4" name="Slide Number Placeholder 3"/>
          <p:cNvSpPr>
            <a:spLocks noGrp="1"/>
          </p:cNvSpPr>
          <p:nvPr>
            <p:ph type="sldNum" sz="quarter" idx="10"/>
          </p:nvPr>
        </p:nvSpPr>
        <p:spPr>
          <a:xfrm>
            <a:off x="4021294" y="9721106"/>
            <a:ext cx="3076363" cy="511731"/>
          </a:xfrm>
          <a:prstGeom prst="rect">
            <a:avLst/>
          </a:prstGeom>
        </p:spPr>
        <p:txBody>
          <a:bodyPr lIns="99048" tIns="49524" rIns="99048" bIns="49524"/>
          <a:lstStyle/>
          <a:p>
            <a:pPr algn="r" defTabSz="990478">
              <a:buClrTx/>
              <a:defRPr/>
            </a:pPr>
            <a:fld id="{C372C856-B3B7-47AE-A1D4-392CF0DB580C}" type="slidenum">
              <a:rPr lang="en-US" sz="1300" kern="1200" smtClean="0">
                <a:solidFill>
                  <a:prstClr val="black"/>
                </a:solidFill>
                <a:latin typeface="Calibri" panose="020F0502020204030204"/>
                <a:ea typeface="+mn-ea"/>
                <a:cs typeface="+mn-cs"/>
              </a:rPr>
              <a:pPr algn="r" defTabSz="990478">
                <a:buClrTx/>
                <a:defRPr/>
              </a:pPr>
              <a:t>1</a:t>
            </a:fld>
            <a:endParaRPr lang="en-US" sz="1300" kern="1200" dirty="0">
              <a:solidFill>
                <a:prstClr val="black"/>
              </a:solidFill>
              <a:latin typeface="Calibri" panose="020F0502020204030204"/>
              <a:ea typeface="+mn-ea"/>
              <a:cs typeface="+mn-cs"/>
            </a:endParaRPr>
          </a:p>
        </p:txBody>
      </p:sp>
    </p:spTree>
    <p:extLst>
      <p:ext uri="{BB962C8B-B14F-4D97-AF65-F5344CB8AC3E}">
        <p14:creationId xmlns:p14="http://schemas.microsoft.com/office/powerpoint/2010/main" val="34207415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슬라이드 이미지 개체 틀 1"/>
          <p:cNvSpPr>
            <a:spLocks noGrp="1" noRot="1" noChangeAspect="1" noTextEdit="1"/>
          </p:cNvSpPr>
          <p:nvPr>
            <p:ph type="sldImg"/>
          </p:nvPr>
        </p:nvSpPr>
        <p:spPr>
          <a:xfrm>
            <a:off x="139700" y="768350"/>
            <a:ext cx="6819900" cy="3836988"/>
          </a:xfrm>
          <a:ln/>
        </p:spPr>
        <p:txBody>
          <a:bodyPr/>
          <a:lstStyle/>
          <a:p>
            <a:endParaRPr lang="en-US"/>
          </a:p>
        </p:txBody>
      </p:sp>
      <p:sp>
        <p:nvSpPr>
          <p:cNvPr id="23555" name="슬라이드 노트 개체 틀 2"/>
          <p:cNvSpPr>
            <a:spLocks noGrp="1"/>
          </p:cNvSpPr>
          <p:nvPr>
            <p:ph type="body" idx="1"/>
          </p:nvPr>
        </p:nvSpPr>
        <p:spPr>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a:buNone/>
            </a:pPr>
            <a:endParaRPr lang="ko-KR" altLang="en-US" dirty="0">
              <a:latin typeface="Times New Roman" charset="0"/>
              <a:ea typeface="굴림" charset="0"/>
            </a:endParaRPr>
          </a:p>
        </p:txBody>
      </p:sp>
      <p:sp>
        <p:nvSpPr>
          <p:cNvPr id="23556" name="슬라이드 번호 개체 틀 3"/>
          <p:cNvSpPr>
            <a:spLocks noGrp="1"/>
          </p:cNvSpPr>
          <p:nvPr>
            <p:ph type="sldNum" sz="quarter" idx="5"/>
          </p:nvPr>
        </p:nvSpPr>
        <p:spPr>
          <a:xfrm>
            <a:off x="4021294" y="9721106"/>
            <a:ext cx="3076363" cy="511731"/>
          </a:xfrm>
          <a:prstGeom prst="rect">
            <a:avLst/>
          </a:prstGeo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9048" tIns="49524" rIns="99048" bIns="49524"/>
          <a:lstStyle>
            <a:lvl1pPr eaLnBrk="0" hangingPunct="0">
              <a:defRPr>
                <a:solidFill>
                  <a:schemeClr val="tx1"/>
                </a:solidFill>
                <a:latin typeface="Arial" charset="0"/>
                <a:ea typeface="굴림" charset="0"/>
                <a:cs typeface="굴림" charset="0"/>
              </a:defRPr>
            </a:lvl1pPr>
            <a:lvl2pPr marL="804763" indent="-309524" eaLnBrk="0" hangingPunct="0">
              <a:defRPr>
                <a:solidFill>
                  <a:schemeClr val="tx1"/>
                </a:solidFill>
                <a:latin typeface="Arial" charset="0"/>
                <a:ea typeface="굴림" charset="0"/>
                <a:cs typeface="굴림" charset="0"/>
              </a:defRPr>
            </a:lvl2pPr>
            <a:lvl3pPr marL="1238098" indent="-247620" eaLnBrk="0" hangingPunct="0">
              <a:defRPr>
                <a:solidFill>
                  <a:schemeClr val="tx1"/>
                </a:solidFill>
                <a:latin typeface="Arial" charset="0"/>
                <a:ea typeface="굴림" charset="0"/>
                <a:cs typeface="굴림" charset="0"/>
              </a:defRPr>
            </a:lvl3pPr>
            <a:lvl4pPr marL="1733337" indent="-247620" eaLnBrk="0" hangingPunct="0">
              <a:defRPr>
                <a:solidFill>
                  <a:schemeClr val="tx1"/>
                </a:solidFill>
                <a:latin typeface="Arial" charset="0"/>
                <a:ea typeface="굴림" charset="0"/>
                <a:cs typeface="굴림" charset="0"/>
              </a:defRPr>
            </a:lvl4pPr>
            <a:lvl5pPr marL="2228576" indent="-247620" eaLnBrk="0" hangingPunct="0">
              <a:defRPr>
                <a:solidFill>
                  <a:schemeClr val="tx1"/>
                </a:solidFill>
                <a:latin typeface="Arial" charset="0"/>
                <a:ea typeface="굴림" charset="0"/>
                <a:cs typeface="굴림" charset="0"/>
              </a:defRPr>
            </a:lvl5pPr>
            <a:lvl6pPr marL="2723815" indent="-247620" eaLnBrk="0" fontAlgn="base" hangingPunct="0">
              <a:spcBef>
                <a:spcPct val="0"/>
              </a:spcBef>
              <a:spcAft>
                <a:spcPct val="0"/>
              </a:spcAft>
              <a:defRPr>
                <a:solidFill>
                  <a:schemeClr val="tx1"/>
                </a:solidFill>
                <a:latin typeface="Arial" charset="0"/>
                <a:ea typeface="굴림" charset="0"/>
                <a:cs typeface="굴림" charset="0"/>
              </a:defRPr>
            </a:lvl6pPr>
            <a:lvl7pPr marL="3219054" indent="-247620" eaLnBrk="0" fontAlgn="base" hangingPunct="0">
              <a:spcBef>
                <a:spcPct val="0"/>
              </a:spcBef>
              <a:spcAft>
                <a:spcPct val="0"/>
              </a:spcAft>
              <a:defRPr>
                <a:solidFill>
                  <a:schemeClr val="tx1"/>
                </a:solidFill>
                <a:latin typeface="Arial" charset="0"/>
                <a:ea typeface="굴림" charset="0"/>
                <a:cs typeface="굴림" charset="0"/>
              </a:defRPr>
            </a:lvl7pPr>
            <a:lvl8pPr marL="3714293" indent="-247620" eaLnBrk="0" fontAlgn="base" hangingPunct="0">
              <a:spcBef>
                <a:spcPct val="0"/>
              </a:spcBef>
              <a:spcAft>
                <a:spcPct val="0"/>
              </a:spcAft>
              <a:defRPr>
                <a:solidFill>
                  <a:schemeClr val="tx1"/>
                </a:solidFill>
                <a:latin typeface="Arial" charset="0"/>
                <a:ea typeface="굴림" charset="0"/>
                <a:cs typeface="굴림" charset="0"/>
              </a:defRPr>
            </a:lvl8pPr>
            <a:lvl9pPr marL="4209532" indent="-247620" eaLnBrk="0" fontAlgn="base" hangingPunct="0">
              <a:spcBef>
                <a:spcPct val="0"/>
              </a:spcBef>
              <a:spcAft>
                <a:spcPct val="0"/>
              </a:spcAft>
              <a:defRPr>
                <a:solidFill>
                  <a:schemeClr val="tx1"/>
                </a:solidFill>
                <a:latin typeface="Arial" charset="0"/>
                <a:ea typeface="굴림" charset="0"/>
                <a:cs typeface="굴림" charset="0"/>
              </a:defRPr>
            </a:lvl9pPr>
          </a:lstStyle>
          <a:p>
            <a:pPr eaLnBrk="1" hangingPunct="1"/>
            <a:fld id="{2EDCF0A1-79AF-2C43-96CC-401D1ED80296}" type="slidenum">
              <a:rPr lang="en-US" altLang="ko-KR">
                <a:latin typeface="Times New Roman" charset="0"/>
              </a:rPr>
              <a:pPr eaLnBrk="1" hangingPunct="1"/>
              <a:t>4</a:t>
            </a:fld>
            <a:endParaRPr lang="ko-KR">
              <a:latin typeface="Times New Roman" charset="0"/>
            </a:endParaRPr>
          </a:p>
        </p:txBody>
      </p:sp>
    </p:spTree>
    <p:extLst>
      <p:ext uri="{BB962C8B-B14F-4D97-AF65-F5344CB8AC3E}">
        <p14:creationId xmlns:p14="http://schemas.microsoft.com/office/powerpoint/2010/main" val="2855153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슬라이드 이미지 개체 틀 1"/>
          <p:cNvSpPr>
            <a:spLocks noGrp="1" noRot="1" noChangeAspect="1" noTextEdit="1"/>
          </p:cNvSpPr>
          <p:nvPr>
            <p:ph type="sldImg"/>
          </p:nvPr>
        </p:nvSpPr>
        <p:spPr>
          <a:xfrm>
            <a:off x="139700" y="768350"/>
            <a:ext cx="6819900" cy="3836988"/>
          </a:xfrm>
          <a:ln/>
        </p:spPr>
        <p:txBody>
          <a:bodyPr/>
          <a:lstStyle/>
          <a:p>
            <a:endParaRPr lang="en-US"/>
          </a:p>
        </p:txBody>
      </p:sp>
      <p:sp>
        <p:nvSpPr>
          <p:cNvPr id="23555" name="슬라이드 노트 개체 틀 2"/>
          <p:cNvSpPr>
            <a:spLocks noGrp="1"/>
          </p:cNvSpPr>
          <p:nvPr>
            <p:ph type="body" idx="1"/>
          </p:nvPr>
        </p:nvSpPr>
        <p:spPr>
          <a:noFill/>
          <a:ln/>
          <a:extLst>
            <a:ext uri="{FAA26D3D-D897-4be2-8F04-BA451C77F1D7}">
              <ma14:placeholderFlag xmlns:ma14="http://schemas.microsoft.com/office/mac/drawingml/2011/main" xmlns=""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a:buNone/>
            </a:pPr>
            <a:endParaRPr lang="ko-KR" altLang="en-US" dirty="0">
              <a:latin typeface="Times New Roman" charset="0"/>
              <a:ea typeface="굴림" charset="0"/>
            </a:endParaRPr>
          </a:p>
        </p:txBody>
      </p:sp>
      <p:sp>
        <p:nvSpPr>
          <p:cNvPr id="23556" name="슬라이드 번호 개체 틀 3"/>
          <p:cNvSpPr>
            <a:spLocks noGrp="1"/>
          </p:cNvSpPr>
          <p:nvPr>
            <p:ph type="sldNum" sz="quarter" idx="5"/>
          </p:nvPr>
        </p:nvSpPr>
        <p:spPr>
          <a:xfrm>
            <a:off x="4021294" y="9721106"/>
            <a:ext cx="3076363" cy="511731"/>
          </a:xfrm>
          <a:prstGeom prst="rect">
            <a:avLst/>
          </a:prstGeo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99048" tIns="49524" rIns="99048" bIns="49524"/>
          <a:lstStyle>
            <a:lvl1pPr eaLnBrk="0" hangingPunct="0">
              <a:defRPr>
                <a:solidFill>
                  <a:schemeClr val="tx1"/>
                </a:solidFill>
                <a:latin typeface="Arial" charset="0"/>
                <a:ea typeface="굴림" charset="0"/>
                <a:cs typeface="굴림" charset="0"/>
              </a:defRPr>
            </a:lvl1pPr>
            <a:lvl2pPr marL="804763" indent="-309524" eaLnBrk="0" hangingPunct="0">
              <a:defRPr>
                <a:solidFill>
                  <a:schemeClr val="tx1"/>
                </a:solidFill>
                <a:latin typeface="Arial" charset="0"/>
                <a:ea typeface="굴림" charset="0"/>
                <a:cs typeface="굴림" charset="0"/>
              </a:defRPr>
            </a:lvl2pPr>
            <a:lvl3pPr marL="1238098" indent="-247620" eaLnBrk="0" hangingPunct="0">
              <a:defRPr>
                <a:solidFill>
                  <a:schemeClr val="tx1"/>
                </a:solidFill>
                <a:latin typeface="Arial" charset="0"/>
                <a:ea typeface="굴림" charset="0"/>
                <a:cs typeface="굴림" charset="0"/>
              </a:defRPr>
            </a:lvl3pPr>
            <a:lvl4pPr marL="1733337" indent="-247620" eaLnBrk="0" hangingPunct="0">
              <a:defRPr>
                <a:solidFill>
                  <a:schemeClr val="tx1"/>
                </a:solidFill>
                <a:latin typeface="Arial" charset="0"/>
                <a:ea typeface="굴림" charset="0"/>
                <a:cs typeface="굴림" charset="0"/>
              </a:defRPr>
            </a:lvl4pPr>
            <a:lvl5pPr marL="2228576" indent="-247620" eaLnBrk="0" hangingPunct="0">
              <a:defRPr>
                <a:solidFill>
                  <a:schemeClr val="tx1"/>
                </a:solidFill>
                <a:latin typeface="Arial" charset="0"/>
                <a:ea typeface="굴림" charset="0"/>
                <a:cs typeface="굴림" charset="0"/>
              </a:defRPr>
            </a:lvl5pPr>
            <a:lvl6pPr marL="2723815" indent="-247620" eaLnBrk="0" fontAlgn="base" hangingPunct="0">
              <a:spcBef>
                <a:spcPct val="0"/>
              </a:spcBef>
              <a:spcAft>
                <a:spcPct val="0"/>
              </a:spcAft>
              <a:defRPr>
                <a:solidFill>
                  <a:schemeClr val="tx1"/>
                </a:solidFill>
                <a:latin typeface="Arial" charset="0"/>
                <a:ea typeface="굴림" charset="0"/>
                <a:cs typeface="굴림" charset="0"/>
              </a:defRPr>
            </a:lvl6pPr>
            <a:lvl7pPr marL="3219054" indent="-247620" eaLnBrk="0" fontAlgn="base" hangingPunct="0">
              <a:spcBef>
                <a:spcPct val="0"/>
              </a:spcBef>
              <a:spcAft>
                <a:spcPct val="0"/>
              </a:spcAft>
              <a:defRPr>
                <a:solidFill>
                  <a:schemeClr val="tx1"/>
                </a:solidFill>
                <a:latin typeface="Arial" charset="0"/>
                <a:ea typeface="굴림" charset="0"/>
                <a:cs typeface="굴림" charset="0"/>
              </a:defRPr>
            </a:lvl7pPr>
            <a:lvl8pPr marL="3714293" indent="-247620" eaLnBrk="0" fontAlgn="base" hangingPunct="0">
              <a:spcBef>
                <a:spcPct val="0"/>
              </a:spcBef>
              <a:spcAft>
                <a:spcPct val="0"/>
              </a:spcAft>
              <a:defRPr>
                <a:solidFill>
                  <a:schemeClr val="tx1"/>
                </a:solidFill>
                <a:latin typeface="Arial" charset="0"/>
                <a:ea typeface="굴림" charset="0"/>
                <a:cs typeface="굴림" charset="0"/>
              </a:defRPr>
            </a:lvl8pPr>
            <a:lvl9pPr marL="4209532" indent="-247620" eaLnBrk="0" fontAlgn="base" hangingPunct="0">
              <a:spcBef>
                <a:spcPct val="0"/>
              </a:spcBef>
              <a:spcAft>
                <a:spcPct val="0"/>
              </a:spcAft>
              <a:defRPr>
                <a:solidFill>
                  <a:schemeClr val="tx1"/>
                </a:solidFill>
                <a:latin typeface="Arial" charset="0"/>
                <a:ea typeface="굴림" charset="0"/>
                <a:cs typeface="굴림" charset="0"/>
              </a:defRPr>
            </a:lvl9pPr>
          </a:lstStyle>
          <a:p>
            <a:pPr eaLnBrk="1" hangingPunct="1"/>
            <a:fld id="{2EDCF0A1-79AF-2C43-96CC-401D1ED80296}" type="slidenum">
              <a:rPr lang="en-US" altLang="ko-KR">
                <a:latin typeface="Times New Roman" charset="0"/>
              </a:rPr>
              <a:pPr eaLnBrk="1" hangingPunct="1"/>
              <a:t>5</a:t>
            </a:fld>
            <a:endParaRPr lang="ko-KR">
              <a:latin typeface="Times New Roman" charset="0"/>
            </a:endParaRPr>
          </a:p>
        </p:txBody>
      </p:sp>
    </p:spTree>
    <p:extLst>
      <p:ext uri="{BB962C8B-B14F-4D97-AF65-F5344CB8AC3E}">
        <p14:creationId xmlns:p14="http://schemas.microsoft.com/office/powerpoint/2010/main" val="8998573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슬라이드 이미지 개체 틀 1"/>
          <p:cNvSpPr>
            <a:spLocks noGrp="1" noRot="1" noChangeAspect="1" noTextEdit="1"/>
          </p:cNvSpPr>
          <p:nvPr>
            <p:ph type="sldImg"/>
          </p:nvPr>
        </p:nvSpPr>
        <p:spPr>
          <a:xfrm>
            <a:off x="139700" y="768350"/>
            <a:ext cx="6819900" cy="3836988"/>
          </a:xfrm>
          <a:ln/>
        </p:spPr>
        <p:txBody>
          <a:bodyPr/>
          <a:lstStyle/>
          <a:p>
            <a:endParaRPr lang="en-US"/>
          </a:p>
        </p:txBody>
      </p:sp>
      <p:sp>
        <p:nvSpPr>
          <p:cNvPr id="23555" name="슬라이드 노트 개체 틀 2"/>
          <p:cNvSpPr>
            <a:spLocks noGrp="1"/>
          </p:cNvSpPr>
          <p:nvPr>
            <p:ph type="body" idx="1"/>
          </p:nvPr>
        </p:nvSpPr>
        <p:spPr>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a:buNone/>
            </a:pPr>
            <a:endParaRPr lang="ko-KR" altLang="en-US" dirty="0">
              <a:latin typeface="Times New Roman" charset="0"/>
              <a:ea typeface="굴림" charset="0"/>
            </a:endParaRPr>
          </a:p>
        </p:txBody>
      </p:sp>
      <p:sp>
        <p:nvSpPr>
          <p:cNvPr id="23556" name="슬라이드 번호 개체 틀 3"/>
          <p:cNvSpPr>
            <a:spLocks noGrp="1"/>
          </p:cNvSpPr>
          <p:nvPr>
            <p:ph type="sldNum" sz="quarter" idx="5"/>
          </p:nvPr>
        </p:nvSpPr>
        <p:spPr>
          <a:xfrm>
            <a:off x="4021294" y="9721106"/>
            <a:ext cx="3076363" cy="511731"/>
          </a:xfrm>
          <a:prstGeom prst="rect">
            <a:avLst/>
          </a:prstGeo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9048" tIns="49524" rIns="99048" bIns="49524"/>
          <a:lstStyle>
            <a:lvl1pPr eaLnBrk="0" hangingPunct="0">
              <a:defRPr>
                <a:solidFill>
                  <a:schemeClr val="tx1"/>
                </a:solidFill>
                <a:latin typeface="Arial" charset="0"/>
                <a:ea typeface="굴림" charset="0"/>
                <a:cs typeface="굴림" charset="0"/>
              </a:defRPr>
            </a:lvl1pPr>
            <a:lvl2pPr marL="804763" indent="-309524" eaLnBrk="0" hangingPunct="0">
              <a:defRPr>
                <a:solidFill>
                  <a:schemeClr val="tx1"/>
                </a:solidFill>
                <a:latin typeface="Arial" charset="0"/>
                <a:ea typeface="굴림" charset="0"/>
                <a:cs typeface="굴림" charset="0"/>
              </a:defRPr>
            </a:lvl2pPr>
            <a:lvl3pPr marL="1238098" indent="-247620" eaLnBrk="0" hangingPunct="0">
              <a:defRPr>
                <a:solidFill>
                  <a:schemeClr val="tx1"/>
                </a:solidFill>
                <a:latin typeface="Arial" charset="0"/>
                <a:ea typeface="굴림" charset="0"/>
                <a:cs typeface="굴림" charset="0"/>
              </a:defRPr>
            </a:lvl3pPr>
            <a:lvl4pPr marL="1733337" indent="-247620" eaLnBrk="0" hangingPunct="0">
              <a:defRPr>
                <a:solidFill>
                  <a:schemeClr val="tx1"/>
                </a:solidFill>
                <a:latin typeface="Arial" charset="0"/>
                <a:ea typeface="굴림" charset="0"/>
                <a:cs typeface="굴림" charset="0"/>
              </a:defRPr>
            </a:lvl4pPr>
            <a:lvl5pPr marL="2228576" indent="-247620" eaLnBrk="0" hangingPunct="0">
              <a:defRPr>
                <a:solidFill>
                  <a:schemeClr val="tx1"/>
                </a:solidFill>
                <a:latin typeface="Arial" charset="0"/>
                <a:ea typeface="굴림" charset="0"/>
                <a:cs typeface="굴림" charset="0"/>
              </a:defRPr>
            </a:lvl5pPr>
            <a:lvl6pPr marL="2723815" indent="-247620" eaLnBrk="0" fontAlgn="base" hangingPunct="0">
              <a:spcBef>
                <a:spcPct val="0"/>
              </a:spcBef>
              <a:spcAft>
                <a:spcPct val="0"/>
              </a:spcAft>
              <a:defRPr>
                <a:solidFill>
                  <a:schemeClr val="tx1"/>
                </a:solidFill>
                <a:latin typeface="Arial" charset="0"/>
                <a:ea typeface="굴림" charset="0"/>
                <a:cs typeface="굴림" charset="0"/>
              </a:defRPr>
            </a:lvl6pPr>
            <a:lvl7pPr marL="3219054" indent="-247620" eaLnBrk="0" fontAlgn="base" hangingPunct="0">
              <a:spcBef>
                <a:spcPct val="0"/>
              </a:spcBef>
              <a:spcAft>
                <a:spcPct val="0"/>
              </a:spcAft>
              <a:defRPr>
                <a:solidFill>
                  <a:schemeClr val="tx1"/>
                </a:solidFill>
                <a:latin typeface="Arial" charset="0"/>
                <a:ea typeface="굴림" charset="0"/>
                <a:cs typeface="굴림" charset="0"/>
              </a:defRPr>
            </a:lvl7pPr>
            <a:lvl8pPr marL="3714293" indent="-247620" eaLnBrk="0" fontAlgn="base" hangingPunct="0">
              <a:spcBef>
                <a:spcPct val="0"/>
              </a:spcBef>
              <a:spcAft>
                <a:spcPct val="0"/>
              </a:spcAft>
              <a:defRPr>
                <a:solidFill>
                  <a:schemeClr val="tx1"/>
                </a:solidFill>
                <a:latin typeface="Arial" charset="0"/>
                <a:ea typeface="굴림" charset="0"/>
                <a:cs typeface="굴림" charset="0"/>
              </a:defRPr>
            </a:lvl8pPr>
            <a:lvl9pPr marL="4209532" indent="-247620" eaLnBrk="0" fontAlgn="base" hangingPunct="0">
              <a:spcBef>
                <a:spcPct val="0"/>
              </a:spcBef>
              <a:spcAft>
                <a:spcPct val="0"/>
              </a:spcAft>
              <a:defRPr>
                <a:solidFill>
                  <a:schemeClr val="tx1"/>
                </a:solidFill>
                <a:latin typeface="Arial" charset="0"/>
                <a:ea typeface="굴림" charset="0"/>
                <a:cs typeface="굴림" charset="0"/>
              </a:defRPr>
            </a:lvl9pPr>
          </a:lstStyle>
          <a:p>
            <a:pPr eaLnBrk="1" hangingPunct="1"/>
            <a:fld id="{2EDCF0A1-79AF-2C43-96CC-401D1ED80296}" type="slidenum">
              <a:rPr lang="en-US" altLang="ko-KR">
                <a:latin typeface="Times New Roman" charset="0"/>
              </a:rPr>
              <a:pPr eaLnBrk="1" hangingPunct="1"/>
              <a:t>10</a:t>
            </a:fld>
            <a:endParaRPr lang="ko-KR">
              <a:latin typeface="Times New Roman" charset="0"/>
            </a:endParaRPr>
          </a:p>
        </p:txBody>
      </p:sp>
    </p:spTree>
    <p:extLst>
      <p:ext uri="{BB962C8B-B14F-4D97-AF65-F5344CB8AC3E}">
        <p14:creationId xmlns:p14="http://schemas.microsoft.com/office/powerpoint/2010/main" val="29205979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슬라이드 이미지 개체 틀 1"/>
          <p:cNvSpPr>
            <a:spLocks noGrp="1" noRot="1" noChangeAspect="1" noTextEdit="1"/>
          </p:cNvSpPr>
          <p:nvPr>
            <p:ph type="sldImg"/>
          </p:nvPr>
        </p:nvSpPr>
        <p:spPr>
          <a:xfrm>
            <a:off x="139700" y="768350"/>
            <a:ext cx="6819900" cy="3836988"/>
          </a:xfrm>
          <a:ln/>
        </p:spPr>
        <p:txBody>
          <a:bodyPr/>
          <a:lstStyle/>
          <a:p>
            <a:endParaRPr lang="en-US"/>
          </a:p>
        </p:txBody>
      </p:sp>
      <p:sp>
        <p:nvSpPr>
          <p:cNvPr id="23555" name="슬라이드 노트 개체 틀 2"/>
          <p:cNvSpPr>
            <a:spLocks noGrp="1"/>
          </p:cNvSpPr>
          <p:nvPr>
            <p:ph type="body" idx="1"/>
          </p:nvPr>
        </p:nvSpPr>
        <p:spPr>
          <a:noFill/>
          <a:ln/>
          <a:extLst>
            <a:ext uri="{FAA26D3D-D897-4be2-8F04-BA451C77F1D7}">
              <ma14:placeholderFlag xmlns:ma14="http://schemas.microsoft.com/office/mac/drawingml/2011/main" xmlns=""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a:buNone/>
            </a:pPr>
            <a:endParaRPr lang="ko-KR" altLang="en-US" dirty="0">
              <a:latin typeface="Times New Roman" charset="0"/>
              <a:ea typeface="굴림" charset="0"/>
            </a:endParaRPr>
          </a:p>
        </p:txBody>
      </p:sp>
      <p:sp>
        <p:nvSpPr>
          <p:cNvPr id="23556" name="슬라이드 번호 개체 틀 3"/>
          <p:cNvSpPr>
            <a:spLocks noGrp="1"/>
          </p:cNvSpPr>
          <p:nvPr>
            <p:ph type="sldNum" sz="quarter" idx="5"/>
          </p:nvPr>
        </p:nvSpPr>
        <p:spPr>
          <a:xfrm>
            <a:off x="4021294" y="9721106"/>
            <a:ext cx="3076363" cy="511731"/>
          </a:xfrm>
          <a:prstGeom prst="rect">
            <a:avLst/>
          </a:prstGeo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99048" tIns="49524" rIns="99048" bIns="49524"/>
          <a:lstStyle>
            <a:lvl1pPr eaLnBrk="0" hangingPunct="0">
              <a:defRPr>
                <a:solidFill>
                  <a:schemeClr val="tx1"/>
                </a:solidFill>
                <a:latin typeface="Arial" charset="0"/>
                <a:ea typeface="굴림" charset="0"/>
                <a:cs typeface="굴림" charset="0"/>
              </a:defRPr>
            </a:lvl1pPr>
            <a:lvl2pPr marL="804763" indent="-309524" eaLnBrk="0" hangingPunct="0">
              <a:defRPr>
                <a:solidFill>
                  <a:schemeClr val="tx1"/>
                </a:solidFill>
                <a:latin typeface="Arial" charset="0"/>
                <a:ea typeface="굴림" charset="0"/>
                <a:cs typeface="굴림" charset="0"/>
              </a:defRPr>
            </a:lvl2pPr>
            <a:lvl3pPr marL="1238098" indent="-247620" eaLnBrk="0" hangingPunct="0">
              <a:defRPr>
                <a:solidFill>
                  <a:schemeClr val="tx1"/>
                </a:solidFill>
                <a:latin typeface="Arial" charset="0"/>
                <a:ea typeface="굴림" charset="0"/>
                <a:cs typeface="굴림" charset="0"/>
              </a:defRPr>
            </a:lvl3pPr>
            <a:lvl4pPr marL="1733337" indent="-247620" eaLnBrk="0" hangingPunct="0">
              <a:defRPr>
                <a:solidFill>
                  <a:schemeClr val="tx1"/>
                </a:solidFill>
                <a:latin typeface="Arial" charset="0"/>
                <a:ea typeface="굴림" charset="0"/>
                <a:cs typeface="굴림" charset="0"/>
              </a:defRPr>
            </a:lvl4pPr>
            <a:lvl5pPr marL="2228576" indent="-247620" eaLnBrk="0" hangingPunct="0">
              <a:defRPr>
                <a:solidFill>
                  <a:schemeClr val="tx1"/>
                </a:solidFill>
                <a:latin typeface="Arial" charset="0"/>
                <a:ea typeface="굴림" charset="0"/>
                <a:cs typeface="굴림" charset="0"/>
              </a:defRPr>
            </a:lvl5pPr>
            <a:lvl6pPr marL="2723815" indent="-247620" eaLnBrk="0" fontAlgn="base" hangingPunct="0">
              <a:spcBef>
                <a:spcPct val="0"/>
              </a:spcBef>
              <a:spcAft>
                <a:spcPct val="0"/>
              </a:spcAft>
              <a:defRPr>
                <a:solidFill>
                  <a:schemeClr val="tx1"/>
                </a:solidFill>
                <a:latin typeface="Arial" charset="0"/>
                <a:ea typeface="굴림" charset="0"/>
                <a:cs typeface="굴림" charset="0"/>
              </a:defRPr>
            </a:lvl6pPr>
            <a:lvl7pPr marL="3219054" indent="-247620" eaLnBrk="0" fontAlgn="base" hangingPunct="0">
              <a:spcBef>
                <a:spcPct val="0"/>
              </a:spcBef>
              <a:spcAft>
                <a:spcPct val="0"/>
              </a:spcAft>
              <a:defRPr>
                <a:solidFill>
                  <a:schemeClr val="tx1"/>
                </a:solidFill>
                <a:latin typeface="Arial" charset="0"/>
                <a:ea typeface="굴림" charset="0"/>
                <a:cs typeface="굴림" charset="0"/>
              </a:defRPr>
            </a:lvl7pPr>
            <a:lvl8pPr marL="3714293" indent="-247620" eaLnBrk="0" fontAlgn="base" hangingPunct="0">
              <a:spcBef>
                <a:spcPct val="0"/>
              </a:spcBef>
              <a:spcAft>
                <a:spcPct val="0"/>
              </a:spcAft>
              <a:defRPr>
                <a:solidFill>
                  <a:schemeClr val="tx1"/>
                </a:solidFill>
                <a:latin typeface="Arial" charset="0"/>
                <a:ea typeface="굴림" charset="0"/>
                <a:cs typeface="굴림" charset="0"/>
              </a:defRPr>
            </a:lvl8pPr>
            <a:lvl9pPr marL="4209532" indent="-247620" eaLnBrk="0" fontAlgn="base" hangingPunct="0">
              <a:spcBef>
                <a:spcPct val="0"/>
              </a:spcBef>
              <a:spcAft>
                <a:spcPct val="0"/>
              </a:spcAft>
              <a:defRPr>
                <a:solidFill>
                  <a:schemeClr val="tx1"/>
                </a:solidFill>
                <a:latin typeface="Arial" charset="0"/>
                <a:ea typeface="굴림" charset="0"/>
                <a:cs typeface="굴림" charset="0"/>
              </a:defRPr>
            </a:lvl9pPr>
          </a:lstStyle>
          <a:p>
            <a:pPr eaLnBrk="1" hangingPunct="1"/>
            <a:fld id="{2EDCF0A1-79AF-2C43-96CC-401D1ED80296}" type="slidenum">
              <a:rPr lang="en-US" altLang="ko-KR">
                <a:latin typeface="Times New Roman" charset="0"/>
              </a:rPr>
              <a:pPr eaLnBrk="1" hangingPunct="1"/>
              <a:t>11</a:t>
            </a:fld>
            <a:endParaRPr lang="ko-KR">
              <a:latin typeface="Times New Roman" charset="0"/>
            </a:endParaRPr>
          </a:p>
        </p:txBody>
      </p:sp>
    </p:spTree>
    <p:extLst>
      <p:ext uri="{BB962C8B-B14F-4D97-AF65-F5344CB8AC3E}">
        <p14:creationId xmlns:p14="http://schemas.microsoft.com/office/powerpoint/2010/main" val="32674583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슬라이드 이미지 개체 틀 1"/>
          <p:cNvSpPr>
            <a:spLocks noGrp="1" noRot="1" noChangeAspect="1" noTextEdit="1"/>
          </p:cNvSpPr>
          <p:nvPr>
            <p:ph type="sldImg"/>
          </p:nvPr>
        </p:nvSpPr>
        <p:spPr>
          <a:xfrm>
            <a:off x="139700" y="768350"/>
            <a:ext cx="6819900" cy="3836988"/>
          </a:xfrm>
          <a:ln/>
        </p:spPr>
        <p:txBody>
          <a:bodyPr/>
          <a:lstStyle/>
          <a:p>
            <a:endParaRPr lang="en-US"/>
          </a:p>
        </p:txBody>
      </p:sp>
      <p:sp>
        <p:nvSpPr>
          <p:cNvPr id="23555" name="슬라이드 노트 개체 틀 2"/>
          <p:cNvSpPr>
            <a:spLocks noGrp="1"/>
          </p:cNvSpPr>
          <p:nvPr>
            <p:ph type="body" idx="1"/>
          </p:nvPr>
        </p:nvSpPr>
        <p:spPr>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a:buNone/>
            </a:pPr>
            <a:endParaRPr lang="ko-KR" altLang="en-US" dirty="0">
              <a:latin typeface="Times New Roman" charset="0"/>
              <a:ea typeface="굴림" charset="0"/>
            </a:endParaRPr>
          </a:p>
        </p:txBody>
      </p:sp>
      <p:sp>
        <p:nvSpPr>
          <p:cNvPr id="23556" name="슬라이드 번호 개체 틀 3"/>
          <p:cNvSpPr>
            <a:spLocks noGrp="1"/>
          </p:cNvSpPr>
          <p:nvPr>
            <p:ph type="sldNum" sz="quarter" idx="5"/>
          </p:nvPr>
        </p:nvSpPr>
        <p:spPr>
          <a:xfrm>
            <a:off x="4021294" y="9721106"/>
            <a:ext cx="3076363" cy="511731"/>
          </a:xfrm>
          <a:prstGeom prst="rect">
            <a:avLst/>
          </a:prstGeo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9048" tIns="49524" rIns="99048" bIns="49524"/>
          <a:lstStyle>
            <a:lvl1pPr eaLnBrk="0" hangingPunct="0">
              <a:defRPr>
                <a:solidFill>
                  <a:schemeClr val="tx1"/>
                </a:solidFill>
                <a:latin typeface="Arial" charset="0"/>
                <a:ea typeface="굴림" charset="0"/>
                <a:cs typeface="굴림" charset="0"/>
              </a:defRPr>
            </a:lvl1pPr>
            <a:lvl2pPr marL="804763" indent="-309524" eaLnBrk="0" hangingPunct="0">
              <a:defRPr>
                <a:solidFill>
                  <a:schemeClr val="tx1"/>
                </a:solidFill>
                <a:latin typeface="Arial" charset="0"/>
                <a:ea typeface="굴림" charset="0"/>
                <a:cs typeface="굴림" charset="0"/>
              </a:defRPr>
            </a:lvl2pPr>
            <a:lvl3pPr marL="1238098" indent="-247620" eaLnBrk="0" hangingPunct="0">
              <a:defRPr>
                <a:solidFill>
                  <a:schemeClr val="tx1"/>
                </a:solidFill>
                <a:latin typeface="Arial" charset="0"/>
                <a:ea typeface="굴림" charset="0"/>
                <a:cs typeface="굴림" charset="0"/>
              </a:defRPr>
            </a:lvl3pPr>
            <a:lvl4pPr marL="1733337" indent="-247620" eaLnBrk="0" hangingPunct="0">
              <a:defRPr>
                <a:solidFill>
                  <a:schemeClr val="tx1"/>
                </a:solidFill>
                <a:latin typeface="Arial" charset="0"/>
                <a:ea typeface="굴림" charset="0"/>
                <a:cs typeface="굴림" charset="0"/>
              </a:defRPr>
            </a:lvl4pPr>
            <a:lvl5pPr marL="2228576" indent="-247620" eaLnBrk="0" hangingPunct="0">
              <a:defRPr>
                <a:solidFill>
                  <a:schemeClr val="tx1"/>
                </a:solidFill>
                <a:latin typeface="Arial" charset="0"/>
                <a:ea typeface="굴림" charset="0"/>
                <a:cs typeface="굴림" charset="0"/>
              </a:defRPr>
            </a:lvl5pPr>
            <a:lvl6pPr marL="2723815" indent="-247620" eaLnBrk="0" fontAlgn="base" hangingPunct="0">
              <a:spcBef>
                <a:spcPct val="0"/>
              </a:spcBef>
              <a:spcAft>
                <a:spcPct val="0"/>
              </a:spcAft>
              <a:defRPr>
                <a:solidFill>
                  <a:schemeClr val="tx1"/>
                </a:solidFill>
                <a:latin typeface="Arial" charset="0"/>
                <a:ea typeface="굴림" charset="0"/>
                <a:cs typeface="굴림" charset="0"/>
              </a:defRPr>
            </a:lvl6pPr>
            <a:lvl7pPr marL="3219054" indent="-247620" eaLnBrk="0" fontAlgn="base" hangingPunct="0">
              <a:spcBef>
                <a:spcPct val="0"/>
              </a:spcBef>
              <a:spcAft>
                <a:spcPct val="0"/>
              </a:spcAft>
              <a:defRPr>
                <a:solidFill>
                  <a:schemeClr val="tx1"/>
                </a:solidFill>
                <a:latin typeface="Arial" charset="0"/>
                <a:ea typeface="굴림" charset="0"/>
                <a:cs typeface="굴림" charset="0"/>
              </a:defRPr>
            </a:lvl7pPr>
            <a:lvl8pPr marL="3714293" indent="-247620" eaLnBrk="0" fontAlgn="base" hangingPunct="0">
              <a:spcBef>
                <a:spcPct val="0"/>
              </a:spcBef>
              <a:spcAft>
                <a:spcPct val="0"/>
              </a:spcAft>
              <a:defRPr>
                <a:solidFill>
                  <a:schemeClr val="tx1"/>
                </a:solidFill>
                <a:latin typeface="Arial" charset="0"/>
                <a:ea typeface="굴림" charset="0"/>
                <a:cs typeface="굴림" charset="0"/>
              </a:defRPr>
            </a:lvl8pPr>
            <a:lvl9pPr marL="4209532" indent="-247620" eaLnBrk="0" fontAlgn="base" hangingPunct="0">
              <a:spcBef>
                <a:spcPct val="0"/>
              </a:spcBef>
              <a:spcAft>
                <a:spcPct val="0"/>
              </a:spcAft>
              <a:defRPr>
                <a:solidFill>
                  <a:schemeClr val="tx1"/>
                </a:solidFill>
                <a:latin typeface="Arial" charset="0"/>
                <a:ea typeface="굴림" charset="0"/>
                <a:cs typeface="굴림" charset="0"/>
              </a:defRPr>
            </a:lvl9pPr>
          </a:lstStyle>
          <a:p>
            <a:pPr eaLnBrk="1" hangingPunct="1"/>
            <a:fld id="{2EDCF0A1-79AF-2C43-96CC-401D1ED80296}" type="slidenum">
              <a:rPr lang="en-US" altLang="ko-KR">
                <a:latin typeface="Times New Roman" charset="0"/>
              </a:rPr>
              <a:pPr eaLnBrk="1" hangingPunct="1"/>
              <a:t>12</a:t>
            </a:fld>
            <a:endParaRPr lang="ko-KR">
              <a:latin typeface="Times New Roman" charset="0"/>
            </a:endParaRPr>
          </a:p>
        </p:txBody>
      </p:sp>
    </p:spTree>
    <p:extLst>
      <p:ext uri="{BB962C8B-B14F-4D97-AF65-F5344CB8AC3E}">
        <p14:creationId xmlns:p14="http://schemas.microsoft.com/office/powerpoint/2010/main" val="12643266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슬라이드 이미지 개체 틀 1"/>
          <p:cNvSpPr>
            <a:spLocks noGrp="1" noRot="1" noChangeAspect="1" noTextEdit="1"/>
          </p:cNvSpPr>
          <p:nvPr>
            <p:ph type="sldImg"/>
          </p:nvPr>
        </p:nvSpPr>
        <p:spPr>
          <a:xfrm>
            <a:off x="139700" y="768350"/>
            <a:ext cx="6819900" cy="3836988"/>
          </a:xfrm>
          <a:ln/>
        </p:spPr>
        <p:txBody>
          <a:bodyPr/>
          <a:lstStyle/>
          <a:p>
            <a:endParaRPr lang="en-US"/>
          </a:p>
        </p:txBody>
      </p:sp>
      <p:sp>
        <p:nvSpPr>
          <p:cNvPr id="23555" name="슬라이드 노트 개체 틀 2"/>
          <p:cNvSpPr>
            <a:spLocks noGrp="1"/>
          </p:cNvSpPr>
          <p:nvPr>
            <p:ph type="body" idx="1"/>
          </p:nvPr>
        </p:nvSpPr>
        <p:spPr>
          <a:noFill/>
          <a:ln/>
          <a:extLst>
            <a:ext uri="{FAA26D3D-D897-4be2-8F04-BA451C77F1D7}">
              <ma14:placeholderFlag xmlns:ma14="http://schemas.microsoft.com/office/mac/drawingml/2011/main" xmlns=""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a:buNone/>
            </a:pPr>
            <a:endParaRPr lang="ko-KR" altLang="en-US" dirty="0">
              <a:latin typeface="Times New Roman" charset="0"/>
              <a:ea typeface="굴림" charset="0"/>
            </a:endParaRPr>
          </a:p>
        </p:txBody>
      </p:sp>
      <p:sp>
        <p:nvSpPr>
          <p:cNvPr id="23556" name="슬라이드 번호 개체 틀 3"/>
          <p:cNvSpPr>
            <a:spLocks noGrp="1"/>
          </p:cNvSpPr>
          <p:nvPr>
            <p:ph type="sldNum" sz="quarter" idx="5"/>
          </p:nvPr>
        </p:nvSpPr>
        <p:spPr>
          <a:xfrm>
            <a:off x="4021294" y="9721106"/>
            <a:ext cx="3076363" cy="511731"/>
          </a:xfrm>
          <a:prstGeom prst="rect">
            <a:avLst/>
          </a:prstGeo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99048" tIns="49524" rIns="99048" bIns="49524"/>
          <a:lstStyle>
            <a:lvl1pPr eaLnBrk="0" hangingPunct="0">
              <a:defRPr>
                <a:solidFill>
                  <a:schemeClr val="tx1"/>
                </a:solidFill>
                <a:latin typeface="Arial" charset="0"/>
                <a:ea typeface="굴림" charset="0"/>
                <a:cs typeface="굴림" charset="0"/>
              </a:defRPr>
            </a:lvl1pPr>
            <a:lvl2pPr marL="804763" indent="-309524" eaLnBrk="0" hangingPunct="0">
              <a:defRPr>
                <a:solidFill>
                  <a:schemeClr val="tx1"/>
                </a:solidFill>
                <a:latin typeface="Arial" charset="0"/>
                <a:ea typeface="굴림" charset="0"/>
                <a:cs typeface="굴림" charset="0"/>
              </a:defRPr>
            </a:lvl2pPr>
            <a:lvl3pPr marL="1238098" indent="-247620" eaLnBrk="0" hangingPunct="0">
              <a:defRPr>
                <a:solidFill>
                  <a:schemeClr val="tx1"/>
                </a:solidFill>
                <a:latin typeface="Arial" charset="0"/>
                <a:ea typeface="굴림" charset="0"/>
                <a:cs typeface="굴림" charset="0"/>
              </a:defRPr>
            </a:lvl3pPr>
            <a:lvl4pPr marL="1733337" indent="-247620" eaLnBrk="0" hangingPunct="0">
              <a:defRPr>
                <a:solidFill>
                  <a:schemeClr val="tx1"/>
                </a:solidFill>
                <a:latin typeface="Arial" charset="0"/>
                <a:ea typeface="굴림" charset="0"/>
                <a:cs typeface="굴림" charset="0"/>
              </a:defRPr>
            </a:lvl4pPr>
            <a:lvl5pPr marL="2228576" indent="-247620" eaLnBrk="0" hangingPunct="0">
              <a:defRPr>
                <a:solidFill>
                  <a:schemeClr val="tx1"/>
                </a:solidFill>
                <a:latin typeface="Arial" charset="0"/>
                <a:ea typeface="굴림" charset="0"/>
                <a:cs typeface="굴림" charset="0"/>
              </a:defRPr>
            </a:lvl5pPr>
            <a:lvl6pPr marL="2723815" indent="-247620" eaLnBrk="0" fontAlgn="base" hangingPunct="0">
              <a:spcBef>
                <a:spcPct val="0"/>
              </a:spcBef>
              <a:spcAft>
                <a:spcPct val="0"/>
              </a:spcAft>
              <a:defRPr>
                <a:solidFill>
                  <a:schemeClr val="tx1"/>
                </a:solidFill>
                <a:latin typeface="Arial" charset="0"/>
                <a:ea typeface="굴림" charset="0"/>
                <a:cs typeface="굴림" charset="0"/>
              </a:defRPr>
            </a:lvl6pPr>
            <a:lvl7pPr marL="3219054" indent="-247620" eaLnBrk="0" fontAlgn="base" hangingPunct="0">
              <a:spcBef>
                <a:spcPct val="0"/>
              </a:spcBef>
              <a:spcAft>
                <a:spcPct val="0"/>
              </a:spcAft>
              <a:defRPr>
                <a:solidFill>
                  <a:schemeClr val="tx1"/>
                </a:solidFill>
                <a:latin typeface="Arial" charset="0"/>
                <a:ea typeface="굴림" charset="0"/>
                <a:cs typeface="굴림" charset="0"/>
              </a:defRPr>
            </a:lvl7pPr>
            <a:lvl8pPr marL="3714293" indent="-247620" eaLnBrk="0" fontAlgn="base" hangingPunct="0">
              <a:spcBef>
                <a:spcPct val="0"/>
              </a:spcBef>
              <a:spcAft>
                <a:spcPct val="0"/>
              </a:spcAft>
              <a:defRPr>
                <a:solidFill>
                  <a:schemeClr val="tx1"/>
                </a:solidFill>
                <a:latin typeface="Arial" charset="0"/>
                <a:ea typeface="굴림" charset="0"/>
                <a:cs typeface="굴림" charset="0"/>
              </a:defRPr>
            </a:lvl8pPr>
            <a:lvl9pPr marL="4209532" indent="-247620" eaLnBrk="0" fontAlgn="base" hangingPunct="0">
              <a:spcBef>
                <a:spcPct val="0"/>
              </a:spcBef>
              <a:spcAft>
                <a:spcPct val="0"/>
              </a:spcAft>
              <a:defRPr>
                <a:solidFill>
                  <a:schemeClr val="tx1"/>
                </a:solidFill>
                <a:latin typeface="Arial" charset="0"/>
                <a:ea typeface="굴림" charset="0"/>
                <a:cs typeface="굴림" charset="0"/>
              </a:defRPr>
            </a:lvl9pPr>
          </a:lstStyle>
          <a:p>
            <a:pPr eaLnBrk="1" hangingPunct="1"/>
            <a:fld id="{2EDCF0A1-79AF-2C43-96CC-401D1ED80296}" type="slidenum">
              <a:rPr lang="en-US" altLang="ko-KR">
                <a:latin typeface="Times New Roman" charset="0"/>
              </a:rPr>
              <a:pPr eaLnBrk="1" hangingPunct="1"/>
              <a:t>13</a:t>
            </a:fld>
            <a:endParaRPr lang="ko-KR">
              <a:latin typeface="Times New Roman" charset="0"/>
            </a:endParaRPr>
          </a:p>
        </p:txBody>
      </p:sp>
    </p:spTree>
    <p:extLst>
      <p:ext uri="{BB962C8B-B14F-4D97-AF65-F5344CB8AC3E}">
        <p14:creationId xmlns:p14="http://schemas.microsoft.com/office/powerpoint/2010/main" val="30051018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슬라이드 이미지 개체 틀 1"/>
          <p:cNvSpPr>
            <a:spLocks noGrp="1" noRot="1" noChangeAspect="1" noTextEdit="1"/>
          </p:cNvSpPr>
          <p:nvPr>
            <p:ph type="sldImg"/>
          </p:nvPr>
        </p:nvSpPr>
        <p:spPr>
          <a:xfrm>
            <a:off x="139700" y="768350"/>
            <a:ext cx="6819900" cy="3836988"/>
          </a:xfrm>
          <a:ln/>
        </p:spPr>
        <p:txBody>
          <a:bodyPr/>
          <a:lstStyle/>
          <a:p>
            <a:endParaRPr lang="en-US"/>
          </a:p>
        </p:txBody>
      </p:sp>
      <p:sp>
        <p:nvSpPr>
          <p:cNvPr id="23555" name="슬라이드 노트 개체 틀 2"/>
          <p:cNvSpPr>
            <a:spLocks noGrp="1"/>
          </p:cNvSpPr>
          <p:nvPr>
            <p:ph type="body" idx="1"/>
          </p:nvPr>
        </p:nvSpPr>
        <p:spPr>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a:buNone/>
            </a:pPr>
            <a:endParaRPr lang="ko-KR" altLang="en-US" dirty="0">
              <a:latin typeface="Times New Roman" charset="0"/>
              <a:ea typeface="굴림" charset="0"/>
            </a:endParaRPr>
          </a:p>
        </p:txBody>
      </p:sp>
      <p:sp>
        <p:nvSpPr>
          <p:cNvPr id="23556" name="슬라이드 번호 개체 틀 3"/>
          <p:cNvSpPr>
            <a:spLocks noGrp="1"/>
          </p:cNvSpPr>
          <p:nvPr>
            <p:ph type="sldNum" sz="quarter" idx="5"/>
          </p:nvPr>
        </p:nvSpPr>
        <p:spPr>
          <a:xfrm>
            <a:off x="4021294" y="9721106"/>
            <a:ext cx="3076363" cy="511731"/>
          </a:xfrm>
          <a:prstGeom prst="rect">
            <a:avLst/>
          </a:prstGeo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9048" tIns="49524" rIns="99048" bIns="49524"/>
          <a:lstStyle>
            <a:lvl1pPr eaLnBrk="0" hangingPunct="0">
              <a:defRPr>
                <a:solidFill>
                  <a:schemeClr val="tx1"/>
                </a:solidFill>
                <a:latin typeface="Arial" charset="0"/>
                <a:ea typeface="굴림" charset="0"/>
                <a:cs typeface="굴림" charset="0"/>
              </a:defRPr>
            </a:lvl1pPr>
            <a:lvl2pPr marL="804763" indent="-309524" eaLnBrk="0" hangingPunct="0">
              <a:defRPr>
                <a:solidFill>
                  <a:schemeClr val="tx1"/>
                </a:solidFill>
                <a:latin typeface="Arial" charset="0"/>
                <a:ea typeface="굴림" charset="0"/>
                <a:cs typeface="굴림" charset="0"/>
              </a:defRPr>
            </a:lvl2pPr>
            <a:lvl3pPr marL="1238098" indent="-247620" eaLnBrk="0" hangingPunct="0">
              <a:defRPr>
                <a:solidFill>
                  <a:schemeClr val="tx1"/>
                </a:solidFill>
                <a:latin typeface="Arial" charset="0"/>
                <a:ea typeface="굴림" charset="0"/>
                <a:cs typeface="굴림" charset="0"/>
              </a:defRPr>
            </a:lvl3pPr>
            <a:lvl4pPr marL="1733337" indent="-247620" eaLnBrk="0" hangingPunct="0">
              <a:defRPr>
                <a:solidFill>
                  <a:schemeClr val="tx1"/>
                </a:solidFill>
                <a:latin typeface="Arial" charset="0"/>
                <a:ea typeface="굴림" charset="0"/>
                <a:cs typeface="굴림" charset="0"/>
              </a:defRPr>
            </a:lvl4pPr>
            <a:lvl5pPr marL="2228576" indent="-247620" eaLnBrk="0" hangingPunct="0">
              <a:defRPr>
                <a:solidFill>
                  <a:schemeClr val="tx1"/>
                </a:solidFill>
                <a:latin typeface="Arial" charset="0"/>
                <a:ea typeface="굴림" charset="0"/>
                <a:cs typeface="굴림" charset="0"/>
              </a:defRPr>
            </a:lvl5pPr>
            <a:lvl6pPr marL="2723815" indent="-247620" eaLnBrk="0" fontAlgn="base" hangingPunct="0">
              <a:spcBef>
                <a:spcPct val="0"/>
              </a:spcBef>
              <a:spcAft>
                <a:spcPct val="0"/>
              </a:spcAft>
              <a:defRPr>
                <a:solidFill>
                  <a:schemeClr val="tx1"/>
                </a:solidFill>
                <a:latin typeface="Arial" charset="0"/>
                <a:ea typeface="굴림" charset="0"/>
                <a:cs typeface="굴림" charset="0"/>
              </a:defRPr>
            </a:lvl6pPr>
            <a:lvl7pPr marL="3219054" indent="-247620" eaLnBrk="0" fontAlgn="base" hangingPunct="0">
              <a:spcBef>
                <a:spcPct val="0"/>
              </a:spcBef>
              <a:spcAft>
                <a:spcPct val="0"/>
              </a:spcAft>
              <a:defRPr>
                <a:solidFill>
                  <a:schemeClr val="tx1"/>
                </a:solidFill>
                <a:latin typeface="Arial" charset="0"/>
                <a:ea typeface="굴림" charset="0"/>
                <a:cs typeface="굴림" charset="0"/>
              </a:defRPr>
            </a:lvl7pPr>
            <a:lvl8pPr marL="3714293" indent="-247620" eaLnBrk="0" fontAlgn="base" hangingPunct="0">
              <a:spcBef>
                <a:spcPct val="0"/>
              </a:spcBef>
              <a:spcAft>
                <a:spcPct val="0"/>
              </a:spcAft>
              <a:defRPr>
                <a:solidFill>
                  <a:schemeClr val="tx1"/>
                </a:solidFill>
                <a:latin typeface="Arial" charset="0"/>
                <a:ea typeface="굴림" charset="0"/>
                <a:cs typeface="굴림" charset="0"/>
              </a:defRPr>
            </a:lvl8pPr>
            <a:lvl9pPr marL="4209532" indent="-247620" eaLnBrk="0" fontAlgn="base" hangingPunct="0">
              <a:spcBef>
                <a:spcPct val="0"/>
              </a:spcBef>
              <a:spcAft>
                <a:spcPct val="0"/>
              </a:spcAft>
              <a:defRPr>
                <a:solidFill>
                  <a:schemeClr val="tx1"/>
                </a:solidFill>
                <a:latin typeface="Arial" charset="0"/>
                <a:ea typeface="굴림" charset="0"/>
                <a:cs typeface="굴림" charset="0"/>
              </a:defRPr>
            </a:lvl9pPr>
          </a:lstStyle>
          <a:p>
            <a:pPr eaLnBrk="1" hangingPunct="1"/>
            <a:fld id="{2EDCF0A1-79AF-2C43-96CC-401D1ED80296}" type="slidenum">
              <a:rPr lang="en-US" altLang="ko-KR">
                <a:latin typeface="Times New Roman" charset="0"/>
              </a:rPr>
              <a:pPr eaLnBrk="1" hangingPunct="1"/>
              <a:t>14</a:t>
            </a:fld>
            <a:endParaRPr lang="ko-KR">
              <a:latin typeface="Times New Roman" charset="0"/>
            </a:endParaRPr>
          </a:p>
        </p:txBody>
      </p:sp>
    </p:spTree>
    <p:extLst>
      <p:ext uri="{BB962C8B-B14F-4D97-AF65-F5344CB8AC3E}">
        <p14:creationId xmlns:p14="http://schemas.microsoft.com/office/powerpoint/2010/main" val="7816710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91600" y="183600"/>
            <a:ext cx="8520600" cy="436160"/>
          </a:xfrm>
        </p:spPr>
        <p:txBody>
          <a:bodyPr/>
          <a:lstStyle>
            <a:lvl1pPr>
              <a:defRPr sz="2400" b="1">
                <a:solidFill>
                  <a:srgbClr val="FF5252"/>
                </a:solidFill>
                <a:effectLst>
                  <a:outerShdw blurRad="38100" dist="38100" dir="2700000" algn="tl">
                    <a:srgbClr val="000000">
                      <a:alpha val="43137"/>
                    </a:srgbClr>
                  </a:outerShdw>
                </a:effectLst>
                <a:latin typeface="Proxima Nova" charset="0"/>
              </a:defRPr>
            </a:lvl1pPr>
          </a:lstStyle>
          <a:p>
            <a:r>
              <a:rPr lang="en-US" dirty="0"/>
              <a:t>Click to edit Master title style</a:t>
            </a:r>
          </a:p>
        </p:txBody>
      </p:sp>
      <p:sp>
        <p:nvSpPr>
          <p:cNvPr id="3" name="Content Placeholder 2"/>
          <p:cNvSpPr>
            <a:spLocks noGrp="1"/>
          </p:cNvSpPr>
          <p:nvPr>
            <p:ph idx="1"/>
          </p:nvPr>
        </p:nvSpPr>
        <p:spPr>
          <a:xfrm>
            <a:off x="291600" y="662400"/>
            <a:ext cx="8520600" cy="3416400"/>
          </a:xfrm>
        </p:spPr>
        <p:txBody>
          <a:bodyPr/>
          <a:lstStyle>
            <a:lvl1pPr>
              <a:lnSpc>
                <a:spcPct val="105000"/>
              </a:lnSpc>
              <a:defRPr sz="2600">
                <a:latin typeface="Constantia" pitchFamily="18" charset="0"/>
              </a:defRPr>
            </a:lvl1pPr>
            <a:lvl2pPr>
              <a:defRPr sz="2400">
                <a:solidFill>
                  <a:srgbClr val="002060"/>
                </a:solidFill>
              </a:defRPr>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1435401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1600"/>
              </a:spcBef>
              <a:spcAft>
                <a:spcPts val="0"/>
              </a:spcAft>
              <a:buClr>
                <a:schemeClr val="dk2"/>
              </a:buClr>
              <a:buSzPts val="1400"/>
              <a:buChar char="○"/>
              <a:defRPr>
                <a:solidFill>
                  <a:schemeClr val="dk2"/>
                </a:solidFill>
              </a:defRPr>
            </a:lvl2pPr>
            <a:lvl3pPr marL="1371600" lvl="2" indent="-317500">
              <a:lnSpc>
                <a:spcPct val="115000"/>
              </a:lnSpc>
              <a:spcBef>
                <a:spcPts val="1600"/>
              </a:spcBef>
              <a:spcAft>
                <a:spcPts val="0"/>
              </a:spcAft>
              <a:buClr>
                <a:schemeClr val="dk2"/>
              </a:buClr>
              <a:buSzPts val="1400"/>
              <a:buChar char="■"/>
              <a:defRPr>
                <a:solidFill>
                  <a:schemeClr val="dk2"/>
                </a:solidFill>
              </a:defRPr>
            </a:lvl3pPr>
            <a:lvl4pPr marL="1828800" lvl="3" indent="-317500">
              <a:lnSpc>
                <a:spcPct val="115000"/>
              </a:lnSpc>
              <a:spcBef>
                <a:spcPts val="1600"/>
              </a:spcBef>
              <a:spcAft>
                <a:spcPts val="0"/>
              </a:spcAft>
              <a:buClr>
                <a:schemeClr val="dk2"/>
              </a:buClr>
              <a:buSzPts val="1400"/>
              <a:buChar char="●"/>
              <a:defRPr>
                <a:solidFill>
                  <a:schemeClr val="dk2"/>
                </a:solidFill>
              </a:defRPr>
            </a:lvl4pPr>
            <a:lvl5pPr marL="2286000" lvl="4" indent="-317500">
              <a:lnSpc>
                <a:spcPct val="115000"/>
              </a:lnSpc>
              <a:spcBef>
                <a:spcPts val="1600"/>
              </a:spcBef>
              <a:spcAft>
                <a:spcPts val="0"/>
              </a:spcAft>
              <a:buClr>
                <a:schemeClr val="dk2"/>
              </a:buClr>
              <a:buSzPts val="1400"/>
              <a:buChar char="○"/>
              <a:defRPr>
                <a:solidFill>
                  <a:schemeClr val="dk2"/>
                </a:solidFill>
              </a:defRPr>
            </a:lvl5pPr>
            <a:lvl6pPr marL="2743200" lvl="5" indent="-317500">
              <a:lnSpc>
                <a:spcPct val="115000"/>
              </a:lnSpc>
              <a:spcBef>
                <a:spcPts val="1600"/>
              </a:spcBef>
              <a:spcAft>
                <a:spcPts val="0"/>
              </a:spcAft>
              <a:buClr>
                <a:schemeClr val="dk2"/>
              </a:buClr>
              <a:buSzPts val="1400"/>
              <a:buChar char="■"/>
              <a:defRPr>
                <a:solidFill>
                  <a:schemeClr val="dk2"/>
                </a:solidFill>
              </a:defRPr>
            </a:lvl6pPr>
            <a:lvl7pPr marL="3200400" lvl="6" indent="-317500">
              <a:lnSpc>
                <a:spcPct val="115000"/>
              </a:lnSpc>
              <a:spcBef>
                <a:spcPts val="1600"/>
              </a:spcBef>
              <a:spcAft>
                <a:spcPts val="0"/>
              </a:spcAft>
              <a:buClr>
                <a:schemeClr val="dk2"/>
              </a:buClr>
              <a:buSzPts val="1400"/>
              <a:buChar char="●"/>
              <a:defRPr>
                <a:solidFill>
                  <a:schemeClr val="dk2"/>
                </a:solidFill>
              </a:defRPr>
            </a:lvl7pPr>
            <a:lvl8pPr marL="3657600" lvl="7" indent="-317500">
              <a:lnSpc>
                <a:spcPct val="115000"/>
              </a:lnSpc>
              <a:spcBef>
                <a:spcPts val="1600"/>
              </a:spcBef>
              <a:spcAft>
                <a:spcPts val="0"/>
              </a:spcAft>
              <a:buClr>
                <a:schemeClr val="dk2"/>
              </a:buClr>
              <a:buSzPts val="1400"/>
              <a:buChar char="○"/>
              <a:defRPr>
                <a:solidFill>
                  <a:schemeClr val="dk2"/>
                </a:solidFill>
              </a:defRPr>
            </a:lvl8pPr>
            <a:lvl9pPr marL="4114800" lvl="8" indent="-317500">
              <a:lnSpc>
                <a:spcPct val="115000"/>
              </a:lnSpc>
              <a:spcBef>
                <a:spcPts val="1600"/>
              </a:spcBef>
              <a:spcAft>
                <a:spcPts val="160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3" r:id="rId4"/>
    <p:sldLayoutId id="2147483654" r:id="rId5"/>
    <p:sldLayoutId id="2147483655" r:id="rId6"/>
    <p:sldLayoutId id="2147483656" r:id="rId7"/>
    <p:sldLayoutId id="2147483657" r:id="rId8"/>
    <p:sldLayoutId id="2147483671"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9.xml"/></Relationships>
</file>

<file path=ppt/slides/_rels/slide7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9.xml"/></Relationships>
</file>

<file path=ppt/slides/_rels/slide7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9.xml"/></Relationships>
</file>

<file path=ppt/slides/_rels/slide7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7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7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7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9.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2.xml.rels><?xml version="1.0" encoding="UTF-8" standalone="yes"?>
<Relationships xmlns="http://schemas.openxmlformats.org/package/2006/relationships"><Relationship Id="rId2" Type="http://schemas.openxmlformats.org/officeDocument/2006/relationships/hyperlink" Target="https://en.wikipedia.org/wiki/Propositional_logic#History" TargetMode="External"/><Relationship Id="rId1" Type="http://schemas.openxmlformats.org/officeDocument/2006/relationships/slideLayout" Target="../slideLayouts/slideLayout9.xml"/></Relationships>
</file>

<file path=ppt/slides/_rels/slide83.xml.rels><?xml version="1.0" encoding="UTF-8" standalone="yes"?>
<Relationships xmlns="http://schemas.openxmlformats.org/package/2006/relationships"><Relationship Id="rId2" Type="http://schemas.openxmlformats.org/officeDocument/2006/relationships/hyperlink" Target="https://www.geeksforgeeks.org/engineering-mathematics/proposition-logic/" TargetMode="External"/><Relationship Id="rId1" Type="http://schemas.openxmlformats.org/officeDocument/2006/relationships/slideLayout" Target="../slideLayouts/slideLayout9.xml"/></Relationships>
</file>

<file path=ppt/slides/_rels/slide84.xml.rels><?xml version="1.0" encoding="UTF-8" standalone="yes"?>
<Relationships xmlns="http://schemas.openxmlformats.org/package/2006/relationships"><Relationship Id="rId3" Type="http://schemas.openxmlformats.org/officeDocument/2006/relationships/hyperlink" Target="https://www.cs.cornell.edu/selman/papers/pdf/97.ijcai.challenge.pdf" TargetMode="External"/><Relationship Id="rId2" Type="http://schemas.openxmlformats.org/officeDocument/2006/relationships/hyperlink" Target="https://www.cs.ox.ac.uk/people/michael.wooldridge/teaching/soft-eng/lect07.pdf" TargetMode="External"/><Relationship Id="rId1" Type="http://schemas.openxmlformats.org/officeDocument/2006/relationships/slideLayout" Target="../slideLayouts/slideLayout9.xml"/></Relationships>
</file>

<file path=ppt/slides/_rels/slide85.xml.rels><?xml version="1.0" encoding="UTF-8" standalone="yes"?>
<Relationships xmlns="http://schemas.openxmlformats.org/package/2006/relationships"><Relationship Id="rId2" Type="http://schemas.openxmlformats.org/officeDocument/2006/relationships/hyperlink" Target="https://www.geeksforgeeks.org/digital-logic/logic-gates/" TargetMode="Externa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851592-4A41-49EB-BA56-146E688455A1}"/>
              </a:ext>
            </a:extLst>
          </p:cNvPr>
          <p:cNvSpPr>
            <a:spLocks noGrp="1"/>
          </p:cNvSpPr>
          <p:nvPr>
            <p:ph type="ctrTitle"/>
          </p:nvPr>
        </p:nvSpPr>
        <p:spPr>
          <a:xfrm>
            <a:off x="135082" y="2247041"/>
            <a:ext cx="8884227" cy="1126151"/>
          </a:xfrm>
        </p:spPr>
        <p:txBody>
          <a:bodyPr anchor="ctr" anchorCtr="0">
            <a:normAutofit fontScale="90000"/>
          </a:bodyPr>
          <a:lstStyle/>
          <a:p>
            <a:r>
              <a:rPr lang="en-GB" sz="3500" b="1" dirty="0">
                <a:solidFill>
                  <a:srgbClr val="0070C0"/>
                </a:solidFill>
                <a:latin typeface="Arial" panose="020B0604020202020204" pitchFamily="34" charset="0"/>
                <a:cs typeface="Arial" panose="020B0604020202020204" pitchFamily="34" charset="0"/>
              </a:rPr>
              <a:t>Discrete Structure</a:t>
            </a:r>
            <a:br>
              <a:rPr lang="en-GB" sz="3500" b="1" dirty="0">
                <a:solidFill>
                  <a:srgbClr val="0070C0"/>
                </a:solidFill>
                <a:latin typeface="Arial" panose="020B0604020202020204" pitchFamily="34" charset="0"/>
                <a:cs typeface="Arial" panose="020B0604020202020204" pitchFamily="34" charset="0"/>
              </a:rPr>
            </a:br>
            <a:r>
              <a:rPr lang="en-GB" sz="2700" b="1" dirty="0">
                <a:solidFill>
                  <a:srgbClr val="0070C0"/>
                </a:solidFill>
                <a:latin typeface="Arial" panose="020B0604020202020204" pitchFamily="34" charset="0"/>
                <a:cs typeface="Arial" panose="020B0604020202020204" pitchFamily="34" charset="0"/>
              </a:rPr>
              <a:t>(</a:t>
            </a:r>
            <a:r>
              <a:rPr lang="en-GB" sz="2700" b="1" dirty="0" err="1">
                <a:solidFill>
                  <a:srgbClr val="0070C0"/>
                </a:solidFill>
                <a:latin typeface="Arial" panose="020B0604020202020204" pitchFamily="34" charset="0"/>
                <a:cs typeface="Arial" panose="020B0604020202020204" pitchFamily="34" charset="0"/>
              </a:rPr>
              <a:t>IS143</a:t>
            </a:r>
            <a:r>
              <a:rPr lang="en-GB" sz="2700" b="1" dirty="0">
                <a:solidFill>
                  <a:srgbClr val="0070C0"/>
                </a:solidFill>
                <a:latin typeface="Arial" panose="020B0604020202020204" pitchFamily="34" charset="0"/>
                <a:cs typeface="Arial" panose="020B0604020202020204" pitchFamily="34" charset="0"/>
              </a:rPr>
              <a:t>)</a:t>
            </a:r>
            <a:endParaRPr lang="en-US" sz="2700" dirty="0">
              <a:solidFill>
                <a:srgbClr val="0070C0"/>
              </a:solidFill>
              <a:latin typeface="Arial" panose="020B0604020202020204" pitchFamily="34" charset="0"/>
              <a:cs typeface="Arial" panose="020B0604020202020204" pitchFamily="34" charset="0"/>
            </a:endParaRPr>
          </a:p>
        </p:txBody>
      </p:sp>
      <p:sp>
        <p:nvSpPr>
          <p:cNvPr id="3" name="Subtitle 2">
            <a:extLst>
              <a:ext uri="{FF2B5EF4-FFF2-40B4-BE49-F238E27FC236}">
                <a16:creationId xmlns:a16="http://schemas.microsoft.com/office/drawing/2014/main" id="{9798A2FA-E282-4C95-ADA0-8546E74562CF}"/>
              </a:ext>
            </a:extLst>
          </p:cNvPr>
          <p:cNvSpPr>
            <a:spLocks noGrp="1"/>
          </p:cNvSpPr>
          <p:nvPr>
            <p:ph type="subTitle" idx="1"/>
          </p:nvPr>
        </p:nvSpPr>
        <p:spPr>
          <a:xfrm>
            <a:off x="166254" y="4087985"/>
            <a:ext cx="8832273" cy="659178"/>
          </a:xfrm>
          <a:solidFill>
            <a:schemeClr val="bg1"/>
          </a:solidFill>
        </p:spPr>
        <p:txBody>
          <a:bodyPr>
            <a:noAutofit/>
          </a:bodyPr>
          <a:lstStyle/>
          <a:p>
            <a:pPr marL="0" indent="0"/>
            <a:r>
              <a:rPr lang="en-GB" sz="3200" b="1" dirty="0">
                <a:solidFill>
                  <a:srgbClr val="0070C0"/>
                </a:solidFill>
                <a:latin typeface="Arial" panose="020B0604020202020204" pitchFamily="34" charset="0"/>
                <a:cs typeface="Arial" panose="020B0604020202020204" pitchFamily="34" charset="0"/>
              </a:rPr>
              <a:t>Presentation on Propositional Logic</a:t>
            </a:r>
            <a:endParaRPr lang="en-US" sz="3200" b="1" dirty="0">
              <a:solidFill>
                <a:srgbClr val="0070C0"/>
              </a:solidFill>
              <a:latin typeface="Arial" panose="020B0604020202020204" pitchFamily="34" charset="0"/>
              <a:cs typeface="Arial" panose="020B0604020202020204" pitchFamily="34" charset="0"/>
            </a:endParaRPr>
          </a:p>
        </p:txBody>
      </p:sp>
      <p:sp>
        <p:nvSpPr>
          <p:cNvPr id="6" name="Slide Number Placeholder 5">
            <a:extLst>
              <a:ext uri="{FF2B5EF4-FFF2-40B4-BE49-F238E27FC236}">
                <a16:creationId xmlns:a16="http://schemas.microsoft.com/office/drawing/2014/main" id="{71CD92D9-83E9-44C2-B5B6-EBFF102CC211}"/>
              </a:ext>
            </a:extLst>
          </p:cNvPr>
          <p:cNvSpPr>
            <a:spLocks noGrp="1"/>
          </p:cNvSpPr>
          <p:nvPr>
            <p:ph type="sldNum" sz="quarter" idx="12"/>
          </p:nvPr>
        </p:nvSpPr>
        <p:spPr>
          <a:xfrm>
            <a:off x="6457950" y="4767263"/>
            <a:ext cx="2057400" cy="273844"/>
          </a:xfrm>
        </p:spPr>
        <p:txBody>
          <a:bodyPr/>
          <a:lstStyle/>
          <a:p>
            <a:pPr defTabSz="685800">
              <a:buClrTx/>
              <a:defRPr/>
            </a:pPr>
            <a:fld id="{C7773E89-C0E2-436E-99D0-DC8F61A3F0D6}" type="slidenum">
              <a:rPr lang="en-US" sz="900" kern="1200" smtClean="0">
                <a:solidFill>
                  <a:prstClr val="black">
                    <a:tint val="75000"/>
                  </a:prstClr>
                </a:solidFill>
                <a:latin typeface="Calibri" panose="020F0502020204030204"/>
                <a:ea typeface="+mn-ea"/>
                <a:cs typeface="+mn-cs"/>
              </a:rPr>
              <a:pPr defTabSz="685800">
                <a:buClrTx/>
                <a:defRPr/>
              </a:pPr>
              <a:t>1</a:t>
            </a:fld>
            <a:endParaRPr lang="en-US" sz="900" kern="1200" dirty="0">
              <a:solidFill>
                <a:prstClr val="black">
                  <a:tint val="75000"/>
                </a:prstClr>
              </a:solidFill>
              <a:latin typeface="Calibri" panose="020F0502020204030204"/>
              <a:ea typeface="+mn-ea"/>
              <a:cs typeface="+mn-cs"/>
            </a:endParaRPr>
          </a:p>
        </p:txBody>
      </p:sp>
      <p:sp>
        <p:nvSpPr>
          <p:cNvPr id="4" name="Title 1">
            <a:extLst>
              <a:ext uri="{FF2B5EF4-FFF2-40B4-BE49-F238E27FC236}">
                <a16:creationId xmlns:a16="http://schemas.microsoft.com/office/drawing/2014/main" id="{AFCE1657-6664-1FA6-53E9-37ADC2B561E3}"/>
              </a:ext>
            </a:extLst>
          </p:cNvPr>
          <p:cNvSpPr txBox="1">
            <a:spLocks/>
          </p:cNvSpPr>
          <p:nvPr/>
        </p:nvSpPr>
        <p:spPr>
          <a:xfrm>
            <a:off x="142010" y="160184"/>
            <a:ext cx="8884227" cy="1126151"/>
          </a:xfrm>
          <a:prstGeom prst="rect">
            <a:avLst/>
          </a:prstGeom>
          <a:noFill/>
          <a:ln>
            <a:noFill/>
          </a:ln>
        </p:spPr>
        <p:txBody>
          <a:bodyPr spcFirstLastPara="1" wrap="square" lIns="91425" tIns="91425" rIns="91425" bIns="91425" anchor="ctr" anchorCtr="0">
            <a:normAutofit fontScale="60000" lnSpcReduction="20000"/>
          </a:bodyPr>
          <a:lstStyle/>
          <a:p>
            <a:pPr marL="0" marR="0" lvl="0" indent="0" algn="ctr" defTabSz="914400" rtl="0" eaLnBrk="1" fontAlgn="auto" latinLnBrk="0" hangingPunct="1">
              <a:lnSpc>
                <a:spcPct val="100000"/>
              </a:lnSpc>
              <a:spcBef>
                <a:spcPts val="0"/>
              </a:spcBef>
              <a:spcAft>
                <a:spcPts val="0"/>
              </a:spcAft>
              <a:buClr>
                <a:schemeClr val="dk1"/>
              </a:buClr>
              <a:buSzPts val="5200"/>
              <a:buFont typeface="Arial"/>
              <a:buNone/>
              <a:tabLst/>
              <a:defRPr/>
            </a:pPr>
            <a:r>
              <a:rPr kumimoji="0" lang="en-GB" sz="5300" b="1" i="0" u="none" strike="noStrike" kern="0" cap="none" spc="0" normalizeH="0" baseline="0" noProof="0" dirty="0">
                <a:ln>
                  <a:noFill/>
                </a:ln>
                <a:solidFill>
                  <a:schemeClr val="tx1"/>
                </a:solidFill>
                <a:effectLst/>
                <a:uLnTx/>
                <a:uFillTx/>
                <a:latin typeface="Arial" panose="020B0604020202020204" pitchFamily="34" charset="0"/>
                <a:ea typeface="Arial"/>
                <a:cs typeface="Arial" panose="020B0604020202020204" pitchFamily="34" charset="0"/>
                <a:sym typeface="Arial"/>
              </a:rPr>
              <a:t>UNIVERSITY OF DAR</a:t>
            </a:r>
            <a:r>
              <a:rPr kumimoji="0" lang="en-GB" sz="5300" b="1" i="0" u="none" strike="noStrike" kern="0" cap="none" spc="0" normalizeH="0" noProof="0" dirty="0">
                <a:ln>
                  <a:noFill/>
                </a:ln>
                <a:solidFill>
                  <a:schemeClr val="tx1"/>
                </a:solidFill>
                <a:effectLst/>
                <a:uLnTx/>
                <a:uFillTx/>
                <a:latin typeface="Arial" panose="020B0604020202020204" pitchFamily="34" charset="0"/>
                <a:ea typeface="Arial"/>
                <a:cs typeface="Arial" panose="020B0604020202020204" pitchFamily="34" charset="0"/>
                <a:sym typeface="Arial"/>
              </a:rPr>
              <a:t> ES SALAAM</a:t>
            </a:r>
          </a:p>
          <a:p>
            <a:pPr marL="0" marR="0" lvl="0" indent="0" algn="ctr" defTabSz="914400" rtl="0" eaLnBrk="1" fontAlgn="auto" latinLnBrk="0" hangingPunct="1">
              <a:lnSpc>
                <a:spcPct val="100000"/>
              </a:lnSpc>
              <a:spcBef>
                <a:spcPts val="0"/>
              </a:spcBef>
              <a:spcAft>
                <a:spcPts val="0"/>
              </a:spcAft>
              <a:buClr>
                <a:schemeClr val="dk1"/>
              </a:buClr>
              <a:buSzPts val="5200"/>
              <a:buFont typeface="Arial"/>
              <a:buNone/>
              <a:tabLst/>
              <a:defRPr/>
            </a:pPr>
            <a:br>
              <a:rPr kumimoji="0" lang="en-GB" sz="3500" b="1" i="0" u="none" strike="noStrike" kern="0" cap="none" spc="0" normalizeH="0" baseline="0" noProof="0" dirty="0">
                <a:ln>
                  <a:noFill/>
                </a:ln>
                <a:solidFill>
                  <a:schemeClr val="tx1"/>
                </a:solidFill>
                <a:effectLst/>
                <a:uLnTx/>
                <a:uFillTx/>
                <a:latin typeface="Arial" panose="020B0604020202020204" pitchFamily="34" charset="0"/>
                <a:ea typeface="Arial"/>
                <a:cs typeface="Arial" panose="020B0604020202020204" pitchFamily="34" charset="0"/>
                <a:sym typeface="Arial"/>
              </a:rPr>
            </a:br>
            <a:r>
              <a:rPr kumimoji="0" lang="en-GB" sz="3500" b="1" i="0" u="none" strike="noStrike" kern="0" cap="none" spc="0" normalizeH="0" baseline="0" noProof="0" dirty="0">
                <a:ln>
                  <a:noFill/>
                </a:ln>
                <a:solidFill>
                  <a:schemeClr val="tx1"/>
                </a:solidFill>
                <a:effectLst/>
                <a:uLnTx/>
                <a:uFillTx/>
                <a:latin typeface="Arial" panose="020B0604020202020204" pitchFamily="34" charset="0"/>
                <a:ea typeface="Arial"/>
                <a:cs typeface="Arial" panose="020B0604020202020204" pitchFamily="34" charset="0"/>
                <a:sym typeface="Arial"/>
              </a:rPr>
              <a:t>Department of Computer Science &amp; Engineering</a:t>
            </a:r>
            <a:endParaRPr kumimoji="0" lang="en-US" sz="3500" b="0" i="0" u="none" strike="noStrike" kern="0" cap="none" spc="0" normalizeH="0" baseline="0" noProof="0" dirty="0">
              <a:ln>
                <a:noFill/>
              </a:ln>
              <a:solidFill>
                <a:schemeClr val="tx1"/>
              </a:solidFill>
              <a:effectLst/>
              <a:uLnTx/>
              <a:uFillTx/>
              <a:latin typeface="Arial" panose="020B0604020202020204" pitchFamily="34" charset="0"/>
              <a:ea typeface="Arial"/>
              <a:cs typeface="Arial" panose="020B0604020202020204" pitchFamily="34" charset="0"/>
              <a:sym typeface="Arial"/>
            </a:endParaRPr>
          </a:p>
        </p:txBody>
      </p:sp>
      <p:pic>
        <p:nvPicPr>
          <p:cNvPr id="5" name="Picture 4" descr="Image result for udsm logo">
            <a:extLst>
              <a:ext uri="{FF2B5EF4-FFF2-40B4-BE49-F238E27FC236}">
                <a16:creationId xmlns:a16="http://schemas.microsoft.com/office/drawing/2014/main" id="{37BE2BE4-086E-791D-7A59-E6C616FC755A}"/>
              </a:ext>
            </a:extLst>
          </p:cNvPr>
          <p:cNvPicPr>
            <a:picLocks noChangeAspect="1" noChangeArrowheads="1"/>
          </p:cNvPicPr>
          <p:nvPr/>
        </p:nvPicPr>
        <p:blipFill>
          <a:blip r:embed="rId3"/>
          <a:stretch>
            <a:fillRect/>
          </a:stretch>
        </p:blipFill>
        <p:spPr bwMode="auto">
          <a:xfrm>
            <a:off x="183467" y="97109"/>
            <a:ext cx="878114" cy="9782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282138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9928" y="183763"/>
            <a:ext cx="8640000" cy="468000"/>
          </a:xfrm>
          <a:noFill/>
          <a:ln>
            <a:noFill/>
          </a:ln>
        </p:spPr>
        <p:txBody>
          <a:bodyPr spcFirstLastPara="1" wrap="square" lIns="91425" tIns="91425" rIns="91425" bIns="91425" anchor="t" anchorCtr="0">
            <a:noAutofit/>
          </a:bodyPr>
          <a:lstStyle/>
          <a:p>
            <a:r>
              <a:rPr dirty="0"/>
              <a:t>Group </a:t>
            </a:r>
            <a:r>
              <a:rPr lang="en-US" dirty="0"/>
              <a:t>20 </a:t>
            </a:r>
            <a:r>
              <a:rPr dirty="0"/>
              <a:t>Members</a:t>
            </a:r>
          </a:p>
        </p:txBody>
      </p:sp>
      <p:sp>
        <p:nvSpPr>
          <p:cNvPr id="3" name="Content Placeholder 2"/>
          <p:cNvSpPr>
            <a:spLocks noGrp="1"/>
          </p:cNvSpPr>
          <p:nvPr>
            <p:ph idx="1"/>
          </p:nvPr>
        </p:nvSpPr>
        <p:spPr>
          <a:xfrm>
            <a:off x="136484" y="3632465"/>
            <a:ext cx="4233627" cy="1140285"/>
          </a:xfrm>
        </p:spPr>
        <p:txBody>
          <a:bodyPr/>
          <a:lstStyle/>
          <a:p>
            <a:pPr marL="0" marR="0" lvl="0" indent="-5715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000000"/>
                </a:solidFill>
                <a:effectLst/>
                <a:uLnTx/>
                <a:uFillTx/>
                <a:sym typeface="Arial"/>
              </a:rPr>
              <a:t>Student Name: 	</a:t>
            </a:r>
            <a:r>
              <a:rPr kumimoji="0" lang="en-US" sz="1600" b="0" i="0" u="none" strike="noStrike" kern="0" cap="none" spc="0" normalizeH="0" baseline="0" noProof="0" dirty="0">
                <a:ln>
                  <a:noFill/>
                </a:ln>
                <a:solidFill>
                  <a:srgbClr val="FF0000"/>
                </a:solidFill>
                <a:effectLst/>
                <a:uLnTx/>
                <a:uFillTx/>
                <a:sym typeface="Arial"/>
              </a:rPr>
              <a:t>James </a:t>
            </a:r>
            <a:r>
              <a:rPr kumimoji="0" lang="en-US" sz="1600" b="0" i="0" u="none" strike="noStrike" kern="0" cap="none" spc="0" normalizeH="0" baseline="0" noProof="0" dirty="0" err="1">
                <a:ln>
                  <a:noFill/>
                </a:ln>
                <a:solidFill>
                  <a:srgbClr val="FF0000"/>
                </a:solidFill>
                <a:effectLst/>
                <a:uLnTx/>
                <a:uFillTx/>
                <a:sym typeface="Arial"/>
              </a:rPr>
              <a:t>Yosse</a:t>
            </a:r>
            <a:r>
              <a:rPr kumimoji="0" lang="en-US" sz="1600" b="0" i="0" u="none" strike="noStrike" kern="0" cap="none" spc="0" normalizeH="0" baseline="0" noProof="0" dirty="0">
                <a:ln>
                  <a:noFill/>
                </a:ln>
                <a:solidFill>
                  <a:srgbClr val="FF0000"/>
                </a:solidFill>
                <a:effectLst/>
                <a:uLnTx/>
                <a:uFillTx/>
                <a:sym typeface="Arial"/>
              </a:rPr>
              <a:t> </a:t>
            </a:r>
            <a:r>
              <a:rPr kumimoji="0" lang="en-US" sz="1600" b="0" i="0" u="none" strike="noStrike" kern="0" cap="none" spc="0" normalizeH="0" baseline="0" noProof="0" dirty="0" err="1">
                <a:ln>
                  <a:noFill/>
                </a:ln>
                <a:solidFill>
                  <a:srgbClr val="FF0000"/>
                </a:solidFill>
                <a:effectLst/>
                <a:uLnTx/>
                <a:uFillTx/>
                <a:sym typeface="Arial"/>
              </a:rPr>
              <a:t>Mwanri</a:t>
            </a:r>
            <a:endParaRPr kumimoji="0" lang="en-US" sz="1600" b="0" i="0" u="none" strike="noStrike" kern="0" cap="none" spc="0" normalizeH="0" baseline="0" noProof="0" dirty="0">
              <a:ln>
                <a:noFill/>
              </a:ln>
              <a:solidFill>
                <a:srgbClr val="FF0000"/>
              </a:solidFill>
              <a:effectLst/>
              <a:uLnTx/>
              <a:uFillTx/>
              <a:sym typeface="Arial"/>
            </a:endParaRPr>
          </a:p>
          <a:p>
            <a:pPr marL="0" marR="0" lvl="0" indent="-5715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err="1">
                <a:ln>
                  <a:noFill/>
                </a:ln>
                <a:solidFill>
                  <a:srgbClr val="000000"/>
                </a:solidFill>
                <a:effectLst/>
                <a:uLnTx/>
                <a:uFillTx/>
                <a:sym typeface="Arial"/>
              </a:rPr>
              <a:t>Programme</a:t>
            </a:r>
            <a:r>
              <a:rPr kumimoji="0" lang="en-US" sz="1600" b="0" i="0" u="none" strike="noStrike" kern="0" cap="none" spc="0" normalizeH="0" baseline="0" noProof="0" dirty="0">
                <a:ln>
                  <a:noFill/>
                </a:ln>
                <a:solidFill>
                  <a:srgbClr val="000000"/>
                </a:solidFill>
                <a:effectLst/>
                <a:uLnTx/>
                <a:uFillTx/>
                <a:sym typeface="Arial"/>
              </a:rPr>
              <a:t>:	</a:t>
            </a:r>
            <a:r>
              <a:rPr kumimoji="0" lang="en-US" sz="1600" b="0" i="0" u="none" strike="noStrike" kern="0" cap="none" spc="0" normalizeH="0" baseline="0" noProof="0" dirty="0">
                <a:ln>
                  <a:noFill/>
                </a:ln>
                <a:solidFill>
                  <a:srgbClr val="FF0000"/>
                </a:solidFill>
                <a:effectLst/>
                <a:uLnTx/>
                <a:uFillTx/>
                <a:sym typeface="Arial"/>
              </a:rPr>
              <a:t>Computer Science</a:t>
            </a:r>
            <a:endParaRPr kumimoji="0" lang="en-US" sz="1600" b="0" i="0" u="none" strike="noStrike" kern="0" cap="none" spc="0" normalizeH="0" baseline="0" noProof="0" dirty="0">
              <a:ln>
                <a:noFill/>
              </a:ln>
              <a:solidFill>
                <a:srgbClr val="000000"/>
              </a:solidFill>
              <a:effectLst/>
              <a:uLnTx/>
              <a:uFillTx/>
              <a:sym typeface="Arial"/>
            </a:endParaRPr>
          </a:p>
          <a:p>
            <a:pPr marL="0" marR="0" lvl="0" indent="-5715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000000"/>
                </a:solidFill>
                <a:effectLst/>
                <a:uLnTx/>
                <a:uFillTx/>
                <a:sym typeface="Arial"/>
              </a:rPr>
              <a:t>Registration no.:	2025-04-08224</a:t>
            </a:r>
          </a:p>
          <a:p>
            <a:pPr marL="0" marR="0" lvl="0" indent="-5715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000000"/>
                </a:solidFill>
                <a:effectLst/>
                <a:uLnTx/>
                <a:uFillTx/>
                <a:sym typeface="Arial"/>
              </a:rPr>
              <a:t>Gender:		Male</a:t>
            </a:r>
            <a:endParaRPr dirty="0"/>
          </a:p>
        </p:txBody>
      </p:sp>
      <p:sp>
        <p:nvSpPr>
          <p:cNvPr id="4" name="Content Placeholder 2">
            <a:extLst>
              <a:ext uri="{FF2B5EF4-FFF2-40B4-BE49-F238E27FC236}">
                <a16:creationId xmlns:a16="http://schemas.microsoft.com/office/drawing/2014/main" id="{C475D215-4951-DC85-7FD6-51061D78448C}"/>
              </a:ext>
            </a:extLst>
          </p:cNvPr>
          <p:cNvSpPr txBox="1">
            <a:spLocks/>
          </p:cNvSpPr>
          <p:nvPr/>
        </p:nvSpPr>
        <p:spPr>
          <a:xfrm>
            <a:off x="136484" y="651763"/>
            <a:ext cx="4066239" cy="114028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5000"/>
              </a:lnSpc>
              <a:spcBef>
                <a:spcPts val="0"/>
              </a:spcBef>
              <a:spcAft>
                <a:spcPts val="0"/>
              </a:spcAft>
              <a:buClr>
                <a:schemeClr val="dk2"/>
              </a:buClr>
              <a:buSzPts val="1800"/>
              <a:buFont typeface="Arial"/>
              <a:buChar char="●"/>
              <a:defRPr sz="2600" b="0" i="0" u="none" strike="noStrike" cap="none">
                <a:solidFill>
                  <a:schemeClr val="dk2"/>
                </a:solidFill>
                <a:latin typeface="Constantia" pitchFamily="18" charset="0"/>
                <a:ea typeface="Arial"/>
                <a:cs typeface="Arial"/>
                <a:sym typeface="Arial"/>
              </a:defRPr>
            </a:lvl1pPr>
            <a:lvl2pPr marL="914400" marR="0" lvl="1" indent="-317500" algn="l" rtl="0">
              <a:lnSpc>
                <a:spcPct val="115000"/>
              </a:lnSpc>
              <a:spcBef>
                <a:spcPts val="1600"/>
              </a:spcBef>
              <a:spcAft>
                <a:spcPts val="0"/>
              </a:spcAft>
              <a:buClr>
                <a:schemeClr val="dk2"/>
              </a:buClr>
              <a:buSzPts val="1400"/>
              <a:buFont typeface="Arial"/>
              <a:buChar char="○"/>
              <a:defRPr sz="2400" b="0" i="0" u="none" strike="noStrike" cap="none">
                <a:solidFill>
                  <a:srgbClr val="002060"/>
                </a:solidFill>
                <a:latin typeface="Arial"/>
                <a:ea typeface="Arial"/>
                <a:cs typeface="Arial"/>
                <a:sym typeface="Arial"/>
              </a:defRPr>
            </a:lvl2pPr>
            <a:lvl3pPr marL="1371600" marR="0" lvl="2"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1600"/>
              </a:spcBef>
              <a:spcAft>
                <a:spcPts val="160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0" marR="0" lvl="0" indent="-57150" algn="l" defTabSz="914400" rtl="0" eaLnBrk="1" fontAlgn="auto" latinLnBrk="0" hangingPunct="1">
              <a:lnSpc>
                <a:spcPct val="100000"/>
              </a:lnSpc>
              <a:spcBef>
                <a:spcPts val="0"/>
              </a:spcBef>
              <a:spcAft>
                <a:spcPts val="0"/>
              </a:spcAft>
              <a:buClr>
                <a:srgbClr val="595959"/>
              </a:buClr>
              <a:buSzPts val="1800"/>
              <a:buFont typeface="Arial"/>
              <a:buNone/>
              <a:tabLst/>
              <a:defRPr/>
            </a:pPr>
            <a:r>
              <a:rPr kumimoji="0" lang="en-US" sz="1600" b="0" i="0" u="none" strike="noStrike" kern="0" cap="none" spc="0" normalizeH="0" baseline="0" noProof="0" dirty="0">
                <a:ln>
                  <a:noFill/>
                </a:ln>
                <a:solidFill>
                  <a:srgbClr val="595959"/>
                </a:solidFill>
                <a:effectLst/>
                <a:uLnTx/>
                <a:uFillTx/>
                <a:latin typeface="Constantia" pitchFamily="18" charset="0"/>
                <a:cs typeface="Arial"/>
                <a:sym typeface="Arial"/>
              </a:rPr>
              <a:t>Student Name: 	</a:t>
            </a:r>
            <a:r>
              <a:rPr kumimoji="0" lang="en-US" sz="1600" b="0" i="0" u="none" strike="noStrike" kern="0" cap="none" spc="0" normalizeH="0" baseline="0" noProof="0" dirty="0" err="1">
                <a:ln>
                  <a:noFill/>
                </a:ln>
                <a:solidFill>
                  <a:srgbClr val="FF0000"/>
                </a:solidFill>
                <a:effectLst/>
                <a:uLnTx/>
                <a:uFillTx/>
                <a:latin typeface="Constantia" pitchFamily="18" charset="0"/>
                <a:cs typeface="Arial"/>
                <a:sym typeface="Arial"/>
              </a:rPr>
              <a:t>Ridhiwani</a:t>
            </a:r>
            <a:r>
              <a:rPr kumimoji="0" lang="en-US" sz="1600" b="0" i="0" u="none" strike="noStrike" kern="0" cap="none" spc="0" normalizeH="0" baseline="0" noProof="0" dirty="0">
                <a:ln>
                  <a:noFill/>
                </a:ln>
                <a:solidFill>
                  <a:srgbClr val="FF0000"/>
                </a:solidFill>
                <a:effectLst/>
                <a:uLnTx/>
                <a:uFillTx/>
                <a:latin typeface="Constantia" pitchFamily="18" charset="0"/>
                <a:cs typeface="Arial"/>
                <a:sym typeface="Arial"/>
              </a:rPr>
              <a:t> Ally </a:t>
            </a:r>
            <a:r>
              <a:rPr kumimoji="0" lang="en-US" sz="1600" b="0" i="0" u="none" strike="noStrike" kern="0" cap="none" spc="0" normalizeH="0" baseline="0" noProof="0" dirty="0" err="1">
                <a:ln>
                  <a:noFill/>
                </a:ln>
                <a:solidFill>
                  <a:srgbClr val="FF0000"/>
                </a:solidFill>
                <a:effectLst/>
                <a:uLnTx/>
                <a:uFillTx/>
                <a:latin typeface="Constantia" pitchFamily="18" charset="0"/>
                <a:cs typeface="Arial"/>
                <a:sym typeface="Arial"/>
              </a:rPr>
              <a:t>Mkwasi</a:t>
            </a:r>
            <a:endParaRPr kumimoji="0" lang="en-US" sz="1600" b="0" i="0" u="none" strike="noStrike" kern="0" cap="none" spc="0" normalizeH="0" baseline="0" noProof="0" dirty="0">
              <a:ln>
                <a:noFill/>
              </a:ln>
              <a:solidFill>
                <a:srgbClr val="FF0000"/>
              </a:solidFill>
              <a:effectLst/>
              <a:uLnTx/>
              <a:uFillTx/>
              <a:latin typeface="Constantia" pitchFamily="18" charset="0"/>
              <a:cs typeface="Arial"/>
              <a:sym typeface="Arial"/>
            </a:endParaRPr>
          </a:p>
          <a:p>
            <a:pPr marL="0" marR="0" lvl="0" indent="-57150" algn="l" defTabSz="914400" rtl="0" eaLnBrk="1" fontAlgn="auto" latinLnBrk="0" hangingPunct="1">
              <a:lnSpc>
                <a:spcPct val="100000"/>
              </a:lnSpc>
              <a:spcBef>
                <a:spcPts val="0"/>
              </a:spcBef>
              <a:spcAft>
                <a:spcPts val="0"/>
              </a:spcAft>
              <a:buClr>
                <a:srgbClr val="595959"/>
              </a:buClr>
              <a:buSzPts val="1800"/>
              <a:buFont typeface="Arial"/>
              <a:buNone/>
              <a:tabLst/>
              <a:defRPr/>
            </a:pPr>
            <a:r>
              <a:rPr kumimoji="0" lang="en-US" sz="1600" b="0" i="0" u="none" strike="noStrike" kern="0" cap="none" spc="0" normalizeH="0" baseline="0" noProof="0" dirty="0">
                <a:ln>
                  <a:noFill/>
                </a:ln>
                <a:solidFill>
                  <a:srgbClr val="595959"/>
                </a:solidFill>
                <a:effectLst/>
                <a:uLnTx/>
                <a:uFillTx/>
                <a:latin typeface="Constantia" pitchFamily="18" charset="0"/>
                <a:cs typeface="Arial"/>
                <a:sym typeface="Arial"/>
              </a:rPr>
              <a:t>Programme:	</a:t>
            </a:r>
            <a:r>
              <a:rPr kumimoji="0" lang="en-US" sz="1600" b="0" i="0" u="none" strike="noStrike" kern="0" cap="none" spc="0" normalizeH="0" baseline="0" noProof="0" dirty="0">
                <a:ln>
                  <a:noFill/>
                </a:ln>
                <a:solidFill>
                  <a:srgbClr val="FF0000"/>
                </a:solidFill>
                <a:effectLst/>
                <a:uLnTx/>
                <a:uFillTx/>
                <a:latin typeface="Constantia" pitchFamily="18" charset="0"/>
                <a:cs typeface="Arial"/>
                <a:sym typeface="Arial"/>
              </a:rPr>
              <a:t>Computer Science</a:t>
            </a:r>
            <a:endParaRPr kumimoji="0" lang="en-US" sz="1600" b="0" i="0" u="none" strike="noStrike" kern="0" cap="none" spc="0" normalizeH="0" baseline="0" noProof="0" dirty="0">
              <a:ln>
                <a:noFill/>
              </a:ln>
              <a:solidFill>
                <a:srgbClr val="595959"/>
              </a:solidFill>
              <a:effectLst/>
              <a:uLnTx/>
              <a:uFillTx/>
              <a:latin typeface="Constantia" pitchFamily="18" charset="0"/>
              <a:cs typeface="Arial"/>
              <a:sym typeface="Arial"/>
            </a:endParaRPr>
          </a:p>
          <a:p>
            <a:pPr marL="0" marR="0" lvl="0" indent="-57150" algn="l" defTabSz="914400" rtl="0" eaLnBrk="1" fontAlgn="auto" latinLnBrk="0" hangingPunct="1">
              <a:lnSpc>
                <a:spcPct val="100000"/>
              </a:lnSpc>
              <a:spcBef>
                <a:spcPts val="0"/>
              </a:spcBef>
              <a:spcAft>
                <a:spcPts val="0"/>
              </a:spcAft>
              <a:buClr>
                <a:srgbClr val="595959"/>
              </a:buClr>
              <a:buSzPts val="1800"/>
              <a:buFont typeface="Arial"/>
              <a:buNone/>
              <a:tabLst/>
              <a:defRPr/>
            </a:pPr>
            <a:r>
              <a:rPr kumimoji="0" lang="en-US" sz="1600" b="0" i="0" u="none" strike="noStrike" kern="0" cap="none" spc="0" normalizeH="0" baseline="0" noProof="0" dirty="0">
                <a:ln>
                  <a:noFill/>
                </a:ln>
                <a:solidFill>
                  <a:srgbClr val="595959"/>
                </a:solidFill>
                <a:effectLst/>
                <a:uLnTx/>
                <a:uFillTx/>
                <a:latin typeface="Constantia" pitchFamily="18" charset="0"/>
                <a:cs typeface="Arial"/>
                <a:sym typeface="Arial"/>
              </a:rPr>
              <a:t>Registration no.:	2025-04-06806 Gender:		Male</a:t>
            </a:r>
          </a:p>
        </p:txBody>
      </p:sp>
      <p:sp>
        <p:nvSpPr>
          <p:cNvPr id="5" name="Content Placeholder 2">
            <a:extLst>
              <a:ext uri="{FF2B5EF4-FFF2-40B4-BE49-F238E27FC236}">
                <a16:creationId xmlns:a16="http://schemas.microsoft.com/office/drawing/2014/main" id="{7D483245-FA68-8C24-3B5C-F32415017CE8}"/>
              </a:ext>
            </a:extLst>
          </p:cNvPr>
          <p:cNvSpPr txBox="1">
            <a:spLocks/>
          </p:cNvSpPr>
          <p:nvPr/>
        </p:nvSpPr>
        <p:spPr>
          <a:xfrm>
            <a:off x="136484" y="2142114"/>
            <a:ext cx="4435516" cy="114028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5000"/>
              </a:lnSpc>
              <a:spcBef>
                <a:spcPts val="0"/>
              </a:spcBef>
              <a:spcAft>
                <a:spcPts val="0"/>
              </a:spcAft>
              <a:buClr>
                <a:schemeClr val="dk2"/>
              </a:buClr>
              <a:buSzPts val="1800"/>
              <a:buFont typeface="Arial"/>
              <a:buChar char="●"/>
              <a:defRPr sz="2600" b="0" i="0" u="none" strike="noStrike" cap="none">
                <a:solidFill>
                  <a:schemeClr val="dk2"/>
                </a:solidFill>
                <a:latin typeface="Constantia" pitchFamily="18" charset="0"/>
                <a:ea typeface="Arial"/>
                <a:cs typeface="Arial"/>
                <a:sym typeface="Arial"/>
              </a:defRPr>
            </a:lvl1pPr>
            <a:lvl2pPr marL="914400" marR="0" lvl="1" indent="-317500" algn="l" rtl="0">
              <a:lnSpc>
                <a:spcPct val="115000"/>
              </a:lnSpc>
              <a:spcBef>
                <a:spcPts val="1600"/>
              </a:spcBef>
              <a:spcAft>
                <a:spcPts val="0"/>
              </a:spcAft>
              <a:buClr>
                <a:schemeClr val="dk2"/>
              </a:buClr>
              <a:buSzPts val="1400"/>
              <a:buFont typeface="Arial"/>
              <a:buChar char="○"/>
              <a:defRPr sz="2400" b="0" i="0" u="none" strike="noStrike" cap="none">
                <a:solidFill>
                  <a:srgbClr val="002060"/>
                </a:solidFill>
                <a:latin typeface="Arial"/>
                <a:ea typeface="Arial"/>
                <a:cs typeface="Arial"/>
                <a:sym typeface="Arial"/>
              </a:defRPr>
            </a:lvl2pPr>
            <a:lvl3pPr marL="1371600" marR="0" lvl="2"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1600"/>
              </a:spcBef>
              <a:spcAft>
                <a:spcPts val="160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0" marR="0" lvl="0" indent="-57150" algn="l" defTabSz="914400" rtl="0" eaLnBrk="1" fontAlgn="auto" latinLnBrk="0" hangingPunct="1">
              <a:lnSpc>
                <a:spcPct val="100000"/>
              </a:lnSpc>
              <a:spcBef>
                <a:spcPts val="0"/>
              </a:spcBef>
              <a:spcAft>
                <a:spcPts val="0"/>
              </a:spcAft>
              <a:buClr>
                <a:srgbClr val="595959"/>
              </a:buClr>
              <a:buSzPts val="1800"/>
              <a:buFont typeface="Arial"/>
              <a:buNone/>
              <a:tabLst/>
              <a:defRPr/>
            </a:pPr>
            <a:r>
              <a:rPr kumimoji="0" lang="en-US" sz="1600" b="0" i="0" u="none" strike="noStrike" kern="0" cap="none" spc="0" normalizeH="0" baseline="0" noProof="0" dirty="0">
                <a:ln>
                  <a:noFill/>
                </a:ln>
                <a:solidFill>
                  <a:srgbClr val="595959"/>
                </a:solidFill>
                <a:effectLst/>
                <a:uLnTx/>
                <a:uFillTx/>
                <a:latin typeface="Constantia" pitchFamily="18" charset="0"/>
                <a:cs typeface="Arial"/>
                <a:sym typeface="Arial"/>
              </a:rPr>
              <a:t>Student Name: 	</a:t>
            </a:r>
            <a:r>
              <a:rPr kumimoji="0" lang="en-US" sz="1600" b="0" i="0" u="none" strike="noStrike" kern="0" cap="none" spc="0" normalizeH="0" baseline="0" noProof="0" dirty="0">
                <a:ln>
                  <a:noFill/>
                </a:ln>
                <a:solidFill>
                  <a:srgbClr val="FF0000"/>
                </a:solidFill>
                <a:effectLst/>
                <a:uLnTx/>
                <a:uFillTx/>
                <a:latin typeface="Constantia" pitchFamily="18" charset="0"/>
                <a:cs typeface="Arial"/>
                <a:sym typeface="Arial"/>
              </a:rPr>
              <a:t>Kennedy Philipo </a:t>
            </a:r>
            <a:r>
              <a:rPr kumimoji="0" lang="en-US" sz="1600" b="0" i="0" u="none" strike="noStrike" kern="0" cap="none" spc="0" normalizeH="0" baseline="0" noProof="0" dirty="0" err="1">
                <a:ln>
                  <a:noFill/>
                </a:ln>
                <a:solidFill>
                  <a:srgbClr val="FF0000"/>
                </a:solidFill>
                <a:effectLst/>
                <a:uLnTx/>
                <a:uFillTx/>
                <a:latin typeface="Constantia" pitchFamily="18" charset="0"/>
                <a:cs typeface="Arial"/>
                <a:sym typeface="Arial"/>
              </a:rPr>
              <a:t>Shigela</a:t>
            </a:r>
            <a:endParaRPr kumimoji="0" lang="en-US" sz="1600" b="0" i="0" u="none" strike="noStrike" kern="0" cap="none" spc="0" normalizeH="0" baseline="0" noProof="0" dirty="0">
              <a:ln>
                <a:noFill/>
              </a:ln>
              <a:solidFill>
                <a:srgbClr val="FF0000"/>
              </a:solidFill>
              <a:effectLst/>
              <a:uLnTx/>
              <a:uFillTx/>
              <a:latin typeface="Constantia" pitchFamily="18" charset="0"/>
              <a:cs typeface="Arial"/>
              <a:sym typeface="Arial"/>
            </a:endParaRPr>
          </a:p>
          <a:p>
            <a:pPr marL="0" marR="0" lvl="0" indent="-57150" algn="l" defTabSz="914400" rtl="0" eaLnBrk="1" fontAlgn="auto" latinLnBrk="0" hangingPunct="1">
              <a:lnSpc>
                <a:spcPct val="100000"/>
              </a:lnSpc>
              <a:spcBef>
                <a:spcPts val="0"/>
              </a:spcBef>
              <a:spcAft>
                <a:spcPts val="0"/>
              </a:spcAft>
              <a:buClr>
                <a:srgbClr val="595959"/>
              </a:buClr>
              <a:buSzPts val="1800"/>
              <a:buFont typeface="Arial"/>
              <a:buNone/>
              <a:tabLst/>
              <a:defRPr/>
            </a:pPr>
            <a:r>
              <a:rPr kumimoji="0" lang="en-US" sz="1600" b="0" i="0" u="none" strike="noStrike" kern="0" cap="none" spc="0" normalizeH="0" baseline="0" noProof="0" dirty="0">
                <a:ln>
                  <a:noFill/>
                </a:ln>
                <a:solidFill>
                  <a:srgbClr val="595959"/>
                </a:solidFill>
                <a:effectLst/>
                <a:uLnTx/>
                <a:uFillTx/>
                <a:latin typeface="Constantia" pitchFamily="18" charset="0"/>
                <a:cs typeface="Arial"/>
                <a:sym typeface="Arial"/>
              </a:rPr>
              <a:t>Programme:	</a:t>
            </a:r>
            <a:r>
              <a:rPr kumimoji="0" lang="en-US" sz="1600" b="0" i="0" u="none" strike="noStrike" kern="0" cap="none" spc="0" normalizeH="0" baseline="0" noProof="0" dirty="0">
                <a:ln>
                  <a:noFill/>
                </a:ln>
                <a:solidFill>
                  <a:srgbClr val="FF0000"/>
                </a:solidFill>
                <a:effectLst/>
                <a:uLnTx/>
                <a:uFillTx/>
                <a:latin typeface="Constantia" pitchFamily="18" charset="0"/>
                <a:cs typeface="Arial"/>
                <a:sym typeface="Arial"/>
              </a:rPr>
              <a:t>Computer Science</a:t>
            </a:r>
            <a:endParaRPr kumimoji="0" lang="en-US" sz="1600" b="0" i="0" u="none" strike="noStrike" kern="0" cap="none" spc="0" normalizeH="0" baseline="0" noProof="0" dirty="0">
              <a:ln>
                <a:noFill/>
              </a:ln>
              <a:solidFill>
                <a:srgbClr val="595959"/>
              </a:solidFill>
              <a:effectLst/>
              <a:uLnTx/>
              <a:uFillTx/>
              <a:latin typeface="Constantia" pitchFamily="18" charset="0"/>
              <a:cs typeface="Arial"/>
              <a:sym typeface="Arial"/>
            </a:endParaRPr>
          </a:p>
          <a:p>
            <a:pPr marL="0" marR="0" lvl="0" indent="-57150" algn="l" defTabSz="914400" rtl="0" eaLnBrk="1" fontAlgn="auto" latinLnBrk="0" hangingPunct="1">
              <a:lnSpc>
                <a:spcPct val="100000"/>
              </a:lnSpc>
              <a:spcBef>
                <a:spcPts val="0"/>
              </a:spcBef>
              <a:spcAft>
                <a:spcPts val="0"/>
              </a:spcAft>
              <a:buClr>
                <a:srgbClr val="595959"/>
              </a:buClr>
              <a:buSzPts val="1800"/>
              <a:buFont typeface="Arial"/>
              <a:buNone/>
              <a:tabLst/>
              <a:defRPr/>
            </a:pPr>
            <a:r>
              <a:rPr kumimoji="0" lang="en-US" sz="1600" b="0" i="0" u="none" strike="noStrike" kern="0" cap="none" spc="0" normalizeH="0" baseline="0" noProof="0" dirty="0">
                <a:ln>
                  <a:noFill/>
                </a:ln>
                <a:solidFill>
                  <a:srgbClr val="595959"/>
                </a:solidFill>
                <a:effectLst/>
                <a:uLnTx/>
                <a:uFillTx/>
                <a:latin typeface="Constantia" pitchFamily="18" charset="0"/>
                <a:cs typeface="Arial"/>
                <a:sym typeface="Arial"/>
              </a:rPr>
              <a:t>Registration no.:	2025-04-10693</a:t>
            </a:r>
          </a:p>
          <a:p>
            <a:pPr marL="0" marR="0" lvl="0" indent="-57150" algn="l" defTabSz="914400" rtl="0" eaLnBrk="1" fontAlgn="auto" latinLnBrk="0" hangingPunct="1">
              <a:lnSpc>
                <a:spcPct val="100000"/>
              </a:lnSpc>
              <a:spcBef>
                <a:spcPts val="0"/>
              </a:spcBef>
              <a:spcAft>
                <a:spcPts val="0"/>
              </a:spcAft>
              <a:buClr>
                <a:srgbClr val="595959"/>
              </a:buClr>
              <a:buSzPts val="1800"/>
              <a:buFont typeface="Arial"/>
              <a:buNone/>
              <a:tabLst/>
              <a:defRPr/>
            </a:pPr>
            <a:r>
              <a:rPr kumimoji="0" lang="en-US" sz="1600" b="0" i="0" u="none" strike="noStrike" kern="0" cap="none" spc="0" normalizeH="0" baseline="0" noProof="0" dirty="0">
                <a:ln>
                  <a:noFill/>
                </a:ln>
                <a:solidFill>
                  <a:srgbClr val="595959"/>
                </a:solidFill>
                <a:effectLst/>
                <a:uLnTx/>
                <a:uFillTx/>
                <a:latin typeface="Constantia" pitchFamily="18" charset="0"/>
                <a:cs typeface="Arial"/>
                <a:sym typeface="Arial"/>
              </a:rPr>
              <a:t>Gender:		Male</a:t>
            </a:r>
          </a:p>
        </p:txBody>
      </p:sp>
      <p:sp>
        <p:nvSpPr>
          <p:cNvPr id="6" name="Content Placeholder 2">
            <a:extLst>
              <a:ext uri="{FF2B5EF4-FFF2-40B4-BE49-F238E27FC236}">
                <a16:creationId xmlns:a16="http://schemas.microsoft.com/office/drawing/2014/main" id="{5FFFF573-7F91-0F4D-DDE0-0CC5B891426D}"/>
              </a:ext>
            </a:extLst>
          </p:cNvPr>
          <p:cNvSpPr txBox="1">
            <a:spLocks/>
          </p:cNvSpPr>
          <p:nvPr/>
        </p:nvSpPr>
        <p:spPr>
          <a:xfrm>
            <a:off x="4890408" y="651763"/>
            <a:ext cx="4192963" cy="114028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5000"/>
              </a:lnSpc>
              <a:spcBef>
                <a:spcPts val="0"/>
              </a:spcBef>
              <a:spcAft>
                <a:spcPts val="0"/>
              </a:spcAft>
              <a:buClr>
                <a:schemeClr val="dk2"/>
              </a:buClr>
              <a:buSzPts val="1800"/>
              <a:buFont typeface="Arial"/>
              <a:buChar char="●"/>
              <a:defRPr sz="2600" b="0" i="0" u="none" strike="noStrike" cap="none">
                <a:solidFill>
                  <a:schemeClr val="dk2"/>
                </a:solidFill>
                <a:latin typeface="Constantia" pitchFamily="18" charset="0"/>
                <a:ea typeface="Arial"/>
                <a:cs typeface="Arial"/>
                <a:sym typeface="Arial"/>
              </a:defRPr>
            </a:lvl1pPr>
            <a:lvl2pPr marL="914400" marR="0" lvl="1" indent="-317500" algn="l" rtl="0">
              <a:lnSpc>
                <a:spcPct val="115000"/>
              </a:lnSpc>
              <a:spcBef>
                <a:spcPts val="1600"/>
              </a:spcBef>
              <a:spcAft>
                <a:spcPts val="0"/>
              </a:spcAft>
              <a:buClr>
                <a:schemeClr val="dk2"/>
              </a:buClr>
              <a:buSzPts val="1400"/>
              <a:buFont typeface="Arial"/>
              <a:buChar char="○"/>
              <a:defRPr sz="2400" b="0" i="0" u="none" strike="noStrike" cap="none">
                <a:solidFill>
                  <a:srgbClr val="002060"/>
                </a:solidFill>
                <a:latin typeface="Arial"/>
                <a:ea typeface="Arial"/>
                <a:cs typeface="Arial"/>
                <a:sym typeface="Arial"/>
              </a:defRPr>
            </a:lvl2pPr>
            <a:lvl3pPr marL="1371600" marR="0" lvl="2"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1600"/>
              </a:spcBef>
              <a:spcAft>
                <a:spcPts val="160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0" marR="0" lvl="0" indent="-57150" algn="l" defTabSz="914400" rtl="0" eaLnBrk="1" fontAlgn="auto" latinLnBrk="0" hangingPunct="1">
              <a:lnSpc>
                <a:spcPct val="100000"/>
              </a:lnSpc>
              <a:spcBef>
                <a:spcPts val="0"/>
              </a:spcBef>
              <a:spcAft>
                <a:spcPts val="0"/>
              </a:spcAft>
              <a:buClr>
                <a:srgbClr val="595959"/>
              </a:buClr>
              <a:buSzPts val="1800"/>
              <a:buFont typeface="Arial"/>
              <a:buNone/>
              <a:tabLst/>
              <a:defRPr/>
            </a:pPr>
            <a:r>
              <a:rPr kumimoji="0" lang="en-US" sz="1600" b="0" i="0" u="none" strike="noStrike" kern="0" cap="none" spc="0" normalizeH="0" baseline="0" noProof="0" dirty="0">
                <a:ln>
                  <a:noFill/>
                </a:ln>
                <a:solidFill>
                  <a:srgbClr val="595959"/>
                </a:solidFill>
                <a:effectLst/>
                <a:uLnTx/>
                <a:uFillTx/>
                <a:latin typeface="Constantia" pitchFamily="18" charset="0"/>
                <a:cs typeface="Arial"/>
                <a:sym typeface="Arial"/>
              </a:rPr>
              <a:t>Student Name: 	</a:t>
            </a:r>
            <a:r>
              <a:rPr kumimoji="0" lang="en-US" sz="1600" b="0" i="0" u="none" strike="noStrike" kern="0" cap="none" spc="0" normalizeH="0" baseline="0" noProof="0" dirty="0">
                <a:ln>
                  <a:noFill/>
                </a:ln>
                <a:solidFill>
                  <a:srgbClr val="FF0000"/>
                </a:solidFill>
                <a:effectLst/>
                <a:uLnTx/>
                <a:uFillTx/>
                <a:latin typeface="Constantia" pitchFamily="18" charset="0"/>
                <a:cs typeface="Arial"/>
                <a:sym typeface="Arial"/>
              </a:rPr>
              <a:t>Fredrick Alfred </a:t>
            </a:r>
            <a:r>
              <a:rPr kumimoji="0" lang="en-US" sz="1600" b="0" i="0" u="none" strike="noStrike" kern="0" cap="none" spc="0" normalizeH="0" baseline="0" noProof="0" dirty="0" err="1">
                <a:ln>
                  <a:noFill/>
                </a:ln>
                <a:solidFill>
                  <a:srgbClr val="FF0000"/>
                </a:solidFill>
                <a:effectLst/>
                <a:uLnTx/>
                <a:uFillTx/>
                <a:latin typeface="Constantia" pitchFamily="18" charset="0"/>
                <a:cs typeface="Arial"/>
                <a:sym typeface="Arial"/>
              </a:rPr>
              <a:t>Mganga</a:t>
            </a:r>
            <a:endParaRPr kumimoji="0" lang="en-US" sz="1600" b="0" i="0" u="none" strike="noStrike" kern="0" cap="none" spc="0" normalizeH="0" baseline="0" noProof="0" dirty="0">
              <a:ln>
                <a:noFill/>
              </a:ln>
              <a:solidFill>
                <a:srgbClr val="FF0000"/>
              </a:solidFill>
              <a:effectLst/>
              <a:uLnTx/>
              <a:uFillTx/>
              <a:latin typeface="Constantia" pitchFamily="18" charset="0"/>
              <a:cs typeface="Arial"/>
              <a:sym typeface="Arial"/>
            </a:endParaRPr>
          </a:p>
          <a:p>
            <a:pPr marL="0" marR="0" lvl="0" indent="-57150" algn="l" defTabSz="914400" rtl="0" eaLnBrk="1" fontAlgn="auto" latinLnBrk="0" hangingPunct="1">
              <a:lnSpc>
                <a:spcPct val="100000"/>
              </a:lnSpc>
              <a:spcBef>
                <a:spcPts val="0"/>
              </a:spcBef>
              <a:spcAft>
                <a:spcPts val="0"/>
              </a:spcAft>
              <a:buClr>
                <a:srgbClr val="595959"/>
              </a:buClr>
              <a:buSzPts val="1800"/>
              <a:buFont typeface="Arial"/>
              <a:buNone/>
              <a:tabLst/>
              <a:defRPr/>
            </a:pPr>
            <a:r>
              <a:rPr kumimoji="0" lang="en-US" sz="1600" b="0" i="0" u="none" strike="noStrike" kern="0" cap="none" spc="0" normalizeH="0" baseline="0" noProof="0" dirty="0">
                <a:ln>
                  <a:noFill/>
                </a:ln>
                <a:solidFill>
                  <a:srgbClr val="595959"/>
                </a:solidFill>
                <a:effectLst/>
                <a:uLnTx/>
                <a:uFillTx/>
                <a:latin typeface="Constantia" pitchFamily="18" charset="0"/>
                <a:cs typeface="Arial"/>
                <a:sym typeface="Arial"/>
              </a:rPr>
              <a:t>Programme:	</a:t>
            </a:r>
            <a:r>
              <a:rPr kumimoji="0" lang="en-US" sz="1600" b="0" i="0" u="none" strike="noStrike" kern="0" cap="none" spc="0" normalizeH="0" baseline="0" noProof="0" dirty="0">
                <a:ln>
                  <a:noFill/>
                </a:ln>
                <a:solidFill>
                  <a:srgbClr val="FF0000"/>
                </a:solidFill>
                <a:effectLst/>
                <a:uLnTx/>
                <a:uFillTx/>
                <a:latin typeface="Constantia" pitchFamily="18" charset="0"/>
                <a:cs typeface="Arial"/>
                <a:sym typeface="Arial"/>
              </a:rPr>
              <a:t>Computer Science</a:t>
            </a:r>
            <a:endParaRPr kumimoji="0" lang="en-US" sz="1600" b="0" i="0" u="none" strike="noStrike" kern="0" cap="none" spc="0" normalizeH="0" baseline="0" noProof="0" dirty="0">
              <a:ln>
                <a:noFill/>
              </a:ln>
              <a:solidFill>
                <a:srgbClr val="595959"/>
              </a:solidFill>
              <a:effectLst/>
              <a:uLnTx/>
              <a:uFillTx/>
              <a:latin typeface="Constantia" pitchFamily="18" charset="0"/>
              <a:cs typeface="Arial"/>
              <a:sym typeface="Arial"/>
            </a:endParaRPr>
          </a:p>
          <a:p>
            <a:pPr marL="0" marR="0" lvl="0" indent="-57150" algn="l" defTabSz="914400" rtl="0" eaLnBrk="1" fontAlgn="auto" latinLnBrk="0" hangingPunct="1">
              <a:lnSpc>
                <a:spcPct val="100000"/>
              </a:lnSpc>
              <a:spcBef>
                <a:spcPts val="0"/>
              </a:spcBef>
              <a:spcAft>
                <a:spcPts val="0"/>
              </a:spcAft>
              <a:buClr>
                <a:srgbClr val="595959"/>
              </a:buClr>
              <a:buSzPts val="1800"/>
              <a:buFont typeface="Arial"/>
              <a:buNone/>
              <a:tabLst/>
              <a:defRPr/>
            </a:pPr>
            <a:r>
              <a:rPr kumimoji="0" lang="en-US" sz="1600" b="0" i="0" u="none" strike="noStrike" kern="0" cap="none" spc="0" normalizeH="0" baseline="0" noProof="0" dirty="0">
                <a:ln>
                  <a:noFill/>
                </a:ln>
                <a:solidFill>
                  <a:srgbClr val="595959"/>
                </a:solidFill>
                <a:effectLst/>
                <a:uLnTx/>
                <a:uFillTx/>
                <a:latin typeface="Constantia" pitchFamily="18" charset="0"/>
                <a:cs typeface="Arial"/>
                <a:sym typeface="Arial"/>
              </a:rPr>
              <a:t>Registration no.:	2025-04-06403</a:t>
            </a:r>
          </a:p>
          <a:p>
            <a:pPr marL="0" marR="0" lvl="0" indent="-57150" algn="l" defTabSz="914400" rtl="0" eaLnBrk="1" fontAlgn="auto" latinLnBrk="0" hangingPunct="1">
              <a:lnSpc>
                <a:spcPct val="100000"/>
              </a:lnSpc>
              <a:spcBef>
                <a:spcPts val="0"/>
              </a:spcBef>
              <a:spcAft>
                <a:spcPts val="0"/>
              </a:spcAft>
              <a:buClr>
                <a:srgbClr val="595959"/>
              </a:buClr>
              <a:buSzPts val="1800"/>
              <a:buFont typeface="Arial"/>
              <a:buNone/>
              <a:tabLst/>
              <a:defRPr/>
            </a:pPr>
            <a:r>
              <a:rPr kumimoji="0" lang="en-US" sz="1600" b="0" i="0" u="none" strike="noStrike" kern="0" cap="none" spc="0" normalizeH="0" baseline="0" noProof="0" dirty="0">
                <a:ln>
                  <a:noFill/>
                </a:ln>
                <a:solidFill>
                  <a:srgbClr val="595959"/>
                </a:solidFill>
                <a:effectLst/>
                <a:uLnTx/>
                <a:uFillTx/>
                <a:latin typeface="Constantia" pitchFamily="18" charset="0"/>
                <a:cs typeface="Arial"/>
                <a:sym typeface="Arial"/>
              </a:rPr>
              <a:t>Gender:		Male</a:t>
            </a:r>
          </a:p>
        </p:txBody>
      </p:sp>
      <p:sp>
        <p:nvSpPr>
          <p:cNvPr id="7" name="Content Placeholder 2">
            <a:extLst>
              <a:ext uri="{FF2B5EF4-FFF2-40B4-BE49-F238E27FC236}">
                <a16:creationId xmlns:a16="http://schemas.microsoft.com/office/drawing/2014/main" id="{B7786609-DB3C-FB73-7CD5-772E0D1779A4}"/>
              </a:ext>
            </a:extLst>
          </p:cNvPr>
          <p:cNvSpPr txBox="1">
            <a:spLocks/>
          </p:cNvSpPr>
          <p:nvPr/>
        </p:nvSpPr>
        <p:spPr>
          <a:xfrm>
            <a:off x="4890408" y="2143109"/>
            <a:ext cx="4253591" cy="114028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5000"/>
              </a:lnSpc>
              <a:spcBef>
                <a:spcPts val="0"/>
              </a:spcBef>
              <a:spcAft>
                <a:spcPts val="0"/>
              </a:spcAft>
              <a:buClr>
                <a:schemeClr val="dk2"/>
              </a:buClr>
              <a:buSzPts val="1800"/>
              <a:buFont typeface="Arial"/>
              <a:buChar char="●"/>
              <a:defRPr sz="2600" b="0" i="0" u="none" strike="noStrike" cap="none">
                <a:solidFill>
                  <a:schemeClr val="dk2"/>
                </a:solidFill>
                <a:latin typeface="Constantia" pitchFamily="18" charset="0"/>
                <a:ea typeface="Arial"/>
                <a:cs typeface="Arial"/>
                <a:sym typeface="Arial"/>
              </a:defRPr>
            </a:lvl1pPr>
            <a:lvl2pPr marL="914400" marR="0" lvl="1" indent="-317500" algn="l" rtl="0">
              <a:lnSpc>
                <a:spcPct val="115000"/>
              </a:lnSpc>
              <a:spcBef>
                <a:spcPts val="1600"/>
              </a:spcBef>
              <a:spcAft>
                <a:spcPts val="0"/>
              </a:spcAft>
              <a:buClr>
                <a:schemeClr val="dk2"/>
              </a:buClr>
              <a:buSzPts val="1400"/>
              <a:buFont typeface="Arial"/>
              <a:buChar char="○"/>
              <a:defRPr sz="2400" b="0" i="0" u="none" strike="noStrike" cap="none">
                <a:solidFill>
                  <a:srgbClr val="002060"/>
                </a:solidFill>
                <a:latin typeface="Arial"/>
                <a:ea typeface="Arial"/>
                <a:cs typeface="Arial"/>
                <a:sym typeface="Arial"/>
              </a:defRPr>
            </a:lvl2pPr>
            <a:lvl3pPr marL="1371600" marR="0" lvl="2"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1600"/>
              </a:spcBef>
              <a:spcAft>
                <a:spcPts val="160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0" marR="0" lvl="0" indent="-57150" algn="l" defTabSz="914400" rtl="0" eaLnBrk="1" fontAlgn="auto" latinLnBrk="0" hangingPunct="1">
              <a:lnSpc>
                <a:spcPct val="100000"/>
              </a:lnSpc>
              <a:spcBef>
                <a:spcPts val="0"/>
              </a:spcBef>
              <a:spcAft>
                <a:spcPts val="0"/>
              </a:spcAft>
              <a:buClr>
                <a:srgbClr val="595959"/>
              </a:buClr>
              <a:buSzPts val="1800"/>
              <a:buFont typeface="Arial"/>
              <a:buNone/>
              <a:tabLst/>
              <a:defRPr/>
            </a:pPr>
            <a:r>
              <a:rPr kumimoji="0" lang="en-US" sz="1600" b="0" i="0" u="none" strike="noStrike" kern="0" cap="none" spc="0" normalizeH="0" baseline="0" noProof="0" dirty="0">
                <a:ln>
                  <a:noFill/>
                </a:ln>
                <a:solidFill>
                  <a:srgbClr val="595959"/>
                </a:solidFill>
                <a:effectLst/>
                <a:uLnTx/>
                <a:uFillTx/>
                <a:latin typeface="Constantia" pitchFamily="18" charset="0"/>
                <a:cs typeface="Arial"/>
                <a:sym typeface="Arial"/>
              </a:rPr>
              <a:t>Student Name: 	</a:t>
            </a:r>
            <a:r>
              <a:rPr kumimoji="0" lang="en-US" sz="1600" b="0" i="0" u="none" strike="noStrike" kern="0" cap="none" spc="0" normalizeH="0" baseline="0" noProof="0" dirty="0">
                <a:ln>
                  <a:noFill/>
                </a:ln>
                <a:solidFill>
                  <a:srgbClr val="FF0000"/>
                </a:solidFill>
                <a:effectLst/>
                <a:uLnTx/>
                <a:uFillTx/>
                <a:latin typeface="Constantia" pitchFamily="18" charset="0"/>
                <a:cs typeface="Arial"/>
                <a:sym typeface="Arial"/>
              </a:rPr>
              <a:t>Oscar Henry </a:t>
            </a:r>
            <a:r>
              <a:rPr kumimoji="0" lang="en-US" sz="1600" b="0" i="0" u="none" strike="noStrike" kern="0" cap="none" spc="0" normalizeH="0" baseline="0" noProof="0" dirty="0" err="1">
                <a:ln>
                  <a:noFill/>
                </a:ln>
                <a:solidFill>
                  <a:srgbClr val="FF0000"/>
                </a:solidFill>
                <a:effectLst/>
                <a:uLnTx/>
                <a:uFillTx/>
                <a:latin typeface="Constantia" pitchFamily="18" charset="0"/>
                <a:cs typeface="Arial"/>
                <a:sym typeface="Arial"/>
              </a:rPr>
              <a:t>Mwambene</a:t>
            </a:r>
            <a:endParaRPr kumimoji="0" lang="en-US" sz="1600" b="0" i="0" u="none" strike="noStrike" kern="0" cap="none" spc="0" normalizeH="0" baseline="0" noProof="0" dirty="0">
              <a:ln>
                <a:noFill/>
              </a:ln>
              <a:solidFill>
                <a:srgbClr val="FF0000"/>
              </a:solidFill>
              <a:effectLst/>
              <a:uLnTx/>
              <a:uFillTx/>
              <a:latin typeface="Constantia" pitchFamily="18" charset="0"/>
              <a:cs typeface="Arial"/>
              <a:sym typeface="Arial"/>
            </a:endParaRPr>
          </a:p>
          <a:p>
            <a:pPr marL="0" marR="0" lvl="0" indent="-57150" algn="l" defTabSz="914400" rtl="0" eaLnBrk="1" fontAlgn="auto" latinLnBrk="0" hangingPunct="1">
              <a:lnSpc>
                <a:spcPct val="100000"/>
              </a:lnSpc>
              <a:spcBef>
                <a:spcPts val="0"/>
              </a:spcBef>
              <a:spcAft>
                <a:spcPts val="0"/>
              </a:spcAft>
              <a:buClr>
                <a:srgbClr val="595959"/>
              </a:buClr>
              <a:buSzPts val="1800"/>
              <a:buFont typeface="Arial"/>
              <a:buNone/>
              <a:tabLst/>
              <a:defRPr/>
            </a:pPr>
            <a:r>
              <a:rPr kumimoji="0" lang="en-US" sz="1600" b="0" i="0" u="none" strike="noStrike" kern="0" cap="none" spc="0" normalizeH="0" baseline="0" noProof="0" dirty="0">
                <a:ln>
                  <a:noFill/>
                </a:ln>
                <a:solidFill>
                  <a:srgbClr val="595959"/>
                </a:solidFill>
                <a:effectLst/>
                <a:uLnTx/>
                <a:uFillTx/>
                <a:latin typeface="Constantia" pitchFamily="18" charset="0"/>
                <a:cs typeface="Arial"/>
                <a:sym typeface="Arial"/>
              </a:rPr>
              <a:t>Programme:	</a:t>
            </a:r>
            <a:r>
              <a:rPr kumimoji="0" lang="en-US" sz="1600" b="0" i="0" u="none" strike="noStrike" kern="0" cap="none" spc="0" normalizeH="0" baseline="0" noProof="0" dirty="0">
                <a:ln>
                  <a:noFill/>
                </a:ln>
                <a:solidFill>
                  <a:srgbClr val="FF0000"/>
                </a:solidFill>
                <a:effectLst/>
                <a:uLnTx/>
                <a:uFillTx/>
                <a:latin typeface="Constantia" pitchFamily="18" charset="0"/>
                <a:cs typeface="Arial"/>
                <a:sym typeface="Arial"/>
              </a:rPr>
              <a:t>Computer Science</a:t>
            </a:r>
            <a:endParaRPr kumimoji="0" lang="en-US" sz="1600" b="0" i="0" u="none" strike="noStrike" kern="0" cap="none" spc="0" normalizeH="0" baseline="0" noProof="0" dirty="0">
              <a:ln>
                <a:noFill/>
              </a:ln>
              <a:solidFill>
                <a:srgbClr val="595959"/>
              </a:solidFill>
              <a:effectLst/>
              <a:uLnTx/>
              <a:uFillTx/>
              <a:latin typeface="Constantia" pitchFamily="18" charset="0"/>
              <a:cs typeface="Arial"/>
              <a:sym typeface="Arial"/>
            </a:endParaRPr>
          </a:p>
          <a:p>
            <a:pPr marL="0" marR="0" lvl="0" indent="-57150" algn="l" defTabSz="914400" rtl="0" eaLnBrk="1" fontAlgn="auto" latinLnBrk="0" hangingPunct="1">
              <a:lnSpc>
                <a:spcPct val="100000"/>
              </a:lnSpc>
              <a:spcBef>
                <a:spcPts val="0"/>
              </a:spcBef>
              <a:spcAft>
                <a:spcPts val="0"/>
              </a:spcAft>
              <a:buClr>
                <a:srgbClr val="595959"/>
              </a:buClr>
              <a:buSzPts val="1800"/>
              <a:buFont typeface="Arial"/>
              <a:buNone/>
              <a:tabLst/>
              <a:defRPr/>
            </a:pPr>
            <a:r>
              <a:rPr kumimoji="0" lang="en-US" sz="1600" b="0" i="0" u="none" strike="noStrike" kern="0" cap="none" spc="0" normalizeH="0" baseline="0" noProof="0" dirty="0">
                <a:ln>
                  <a:noFill/>
                </a:ln>
                <a:solidFill>
                  <a:srgbClr val="595959"/>
                </a:solidFill>
                <a:effectLst/>
                <a:uLnTx/>
                <a:uFillTx/>
                <a:latin typeface="Constantia" pitchFamily="18" charset="0"/>
                <a:cs typeface="Arial"/>
                <a:sym typeface="Arial"/>
              </a:rPr>
              <a:t>Registration no.:	2025-04-08104</a:t>
            </a:r>
          </a:p>
          <a:p>
            <a:pPr marL="0" marR="0" lvl="0" indent="-57150" algn="l" defTabSz="914400" rtl="0" eaLnBrk="1" fontAlgn="auto" latinLnBrk="0" hangingPunct="1">
              <a:lnSpc>
                <a:spcPct val="100000"/>
              </a:lnSpc>
              <a:spcBef>
                <a:spcPts val="0"/>
              </a:spcBef>
              <a:spcAft>
                <a:spcPts val="0"/>
              </a:spcAft>
              <a:buClr>
                <a:srgbClr val="595959"/>
              </a:buClr>
              <a:buSzPts val="1800"/>
              <a:buFont typeface="Arial"/>
              <a:buNone/>
              <a:tabLst/>
              <a:defRPr/>
            </a:pPr>
            <a:r>
              <a:rPr kumimoji="0" lang="en-US" sz="1600" b="0" i="0" u="none" strike="noStrike" kern="0" cap="none" spc="0" normalizeH="0" baseline="0" noProof="0" dirty="0">
                <a:ln>
                  <a:noFill/>
                </a:ln>
                <a:solidFill>
                  <a:srgbClr val="595959"/>
                </a:solidFill>
                <a:effectLst/>
                <a:uLnTx/>
                <a:uFillTx/>
                <a:latin typeface="Constantia" pitchFamily="18" charset="0"/>
                <a:cs typeface="Arial"/>
                <a:sym typeface="Arial"/>
              </a:rPr>
              <a:t>Gender:		Male</a:t>
            </a:r>
          </a:p>
        </p:txBody>
      </p:sp>
    </p:spTree>
    <p:extLst>
      <p:ext uri="{BB962C8B-B14F-4D97-AF65-F5344CB8AC3E}">
        <p14:creationId xmlns:p14="http://schemas.microsoft.com/office/powerpoint/2010/main" val="32667138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Content Placeholder 2"/>
          <p:cNvSpPr>
            <a:spLocks noGrp="1"/>
          </p:cNvSpPr>
          <p:nvPr>
            <p:ph idx="1"/>
          </p:nvPr>
        </p:nvSpPr>
        <p:spPr>
          <a:xfrm>
            <a:off x="293915" y="669472"/>
            <a:ext cx="8640000" cy="4343400"/>
          </a:xfrm>
        </p:spPr>
        <p:txBody>
          <a:bodyPr/>
          <a:lstStyle/>
          <a:p>
            <a:pPr eaLnBrk="1" hangingPunct="1">
              <a:lnSpc>
                <a:spcPct val="100000"/>
              </a:lnSpc>
              <a:spcBef>
                <a:spcPct val="0"/>
              </a:spcBef>
              <a:spcAft>
                <a:spcPts val="600"/>
              </a:spcAft>
            </a:pPr>
            <a:r>
              <a:rPr lang="en-GB" sz="2400" dirty="0"/>
              <a:t>Introduction</a:t>
            </a:r>
            <a:endParaRPr lang="en-US" sz="2400" dirty="0"/>
          </a:p>
          <a:p>
            <a:pPr>
              <a:lnSpc>
                <a:spcPct val="100000"/>
              </a:lnSpc>
              <a:spcBef>
                <a:spcPct val="0"/>
              </a:spcBef>
              <a:spcAft>
                <a:spcPts val="600"/>
              </a:spcAft>
            </a:pPr>
            <a:r>
              <a:rPr lang="en-US" sz="2400" dirty="0">
                <a:ea typeface="Calibri" panose="020F0502020204030204" pitchFamily="34" charset="0"/>
                <a:cs typeface="Calibri" panose="020F0502020204030204" pitchFamily="34" charset="0"/>
              </a:rPr>
              <a:t>History of the propositional logic concept</a:t>
            </a:r>
          </a:p>
          <a:p>
            <a:pPr>
              <a:lnSpc>
                <a:spcPct val="100000"/>
              </a:lnSpc>
              <a:spcBef>
                <a:spcPct val="0"/>
              </a:spcBef>
              <a:spcAft>
                <a:spcPts val="600"/>
              </a:spcAft>
            </a:pPr>
            <a:r>
              <a:rPr lang="en-US" sz="2400" dirty="0">
                <a:ea typeface="Calibri" panose="020F0502020204030204" pitchFamily="34" charset="0"/>
                <a:cs typeface="Calibri" panose="020F0502020204030204" pitchFamily="34" charset="0"/>
              </a:rPr>
              <a:t>Definitions of the propositional logic</a:t>
            </a:r>
          </a:p>
          <a:p>
            <a:pPr>
              <a:lnSpc>
                <a:spcPct val="100000"/>
              </a:lnSpc>
              <a:spcBef>
                <a:spcPct val="0"/>
              </a:spcBef>
              <a:spcAft>
                <a:spcPts val="600"/>
              </a:spcAft>
            </a:pPr>
            <a:r>
              <a:rPr lang="en-US" sz="2400" dirty="0"/>
              <a:t>Propositional variables</a:t>
            </a:r>
          </a:p>
          <a:p>
            <a:pPr>
              <a:lnSpc>
                <a:spcPct val="100000"/>
              </a:lnSpc>
              <a:spcBef>
                <a:spcPct val="0"/>
              </a:spcBef>
              <a:spcAft>
                <a:spcPts val="600"/>
              </a:spcAft>
            </a:pPr>
            <a:r>
              <a:rPr lang="en-US" sz="2400" dirty="0"/>
              <a:t>Propositional connectives</a:t>
            </a:r>
          </a:p>
          <a:p>
            <a:pPr>
              <a:lnSpc>
                <a:spcPct val="100000"/>
              </a:lnSpc>
              <a:spcBef>
                <a:spcPct val="0"/>
              </a:spcBef>
              <a:spcAft>
                <a:spcPts val="600"/>
              </a:spcAft>
            </a:pPr>
            <a:r>
              <a:rPr lang="en-US" sz="2400" dirty="0"/>
              <a:t>Tautologies, contradictions, and contingents characteristics</a:t>
            </a:r>
          </a:p>
          <a:p>
            <a:pPr>
              <a:lnSpc>
                <a:spcPct val="100000"/>
              </a:lnSpc>
              <a:spcBef>
                <a:spcPct val="0"/>
              </a:spcBef>
              <a:spcAft>
                <a:spcPts val="600"/>
              </a:spcAft>
            </a:pPr>
            <a:r>
              <a:rPr lang="en-US" sz="2400" dirty="0">
                <a:ea typeface="Calibri" panose="020F0502020204030204" pitchFamily="34" charset="0"/>
                <a:cs typeface="Calibri" panose="020F0502020204030204" pitchFamily="34" charset="0"/>
              </a:rPr>
              <a:t>Mathematical implication</a:t>
            </a:r>
          </a:p>
          <a:p>
            <a:pPr>
              <a:lnSpc>
                <a:spcPct val="100000"/>
              </a:lnSpc>
              <a:spcBef>
                <a:spcPct val="0"/>
              </a:spcBef>
              <a:spcAft>
                <a:spcPts val="600"/>
              </a:spcAft>
            </a:pPr>
            <a:r>
              <a:rPr lang="en-US" sz="2400" dirty="0">
                <a:ea typeface="Calibri" panose="020F0502020204030204" pitchFamily="34" charset="0"/>
                <a:cs typeface="Calibri" panose="020F0502020204030204" pitchFamily="34" charset="0"/>
              </a:rPr>
              <a:t>concepts of vacuous true and trivial true of mathematical implication</a:t>
            </a:r>
          </a:p>
        </p:txBody>
      </p:sp>
      <p:sp>
        <p:nvSpPr>
          <p:cNvPr id="4" name="Title 1"/>
          <p:cNvSpPr txBox="1">
            <a:spLocks/>
          </p:cNvSpPr>
          <p:nvPr/>
        </p:nvSpPr>
        <p:spPr>
          <a:xfrm>
            <a:off x="289928" y="183763"/>
            <a:ext cx="8640000" cy="468000"/>
          </a:xfrm>
          <a:prstGeom prst="rect">
            <a:avLst/>
          </a:prstGeom>
          <a:noFill/>
          <a:ln>
            <a:noFill/>
          </a:ln>
        </p:spPr>
        <p:txBody>
          <a:bodyPr spcFirstLastPara="1" wrap="square" lIns="91425" tIns="91425" rIns="91425" bIns="91425" anchor="t" anchorCtr="0">
            <a:noAutofit/>
          </a:bodyPr>
          <a:lstStyle/>
          <a:p>
            <a:pPr lvl="0">
              <a:buSzPts val="2800"/>
            </a:pPr>
            <a:r>
              <a:rPr lang="en-US" sz="2400" b="1" dirty="0">
                <a:solidFill>
                  <a:srgbClr val="FF5252"/>
                </a:solidFill>
                <a:effectLst>
                  <a:outerShdw blurRad="38100" dist="38100" dir="2700000" algn="tl">
                    <a:srgbClr val="000000">
                      <a:alpha val="43137"/>
                    </a:srgbClr>
                  </a:outerShdw>
                </a:effectLst>
                <a:latin typeface="Proxima Nova"/>
                <a:ea typeface="Proxima Nova"/>
                <a:cs typeface="Proxima Nova"/>
                <a:sym typeface="Proxima Nova"/>
              </a:rPr>
              <a:t>Contents</a:t>
            </a:r>
            <a:endParaRPr kumimoji="0" lang="en-US" sz="2400" b="1" i="0" u="none" strike="noStrike" kern="0" cap="none" spc="0" normalizeH="0" baseline="0" noProof="0" dirty="0">
              <a:ln>
                <a:noFill/>
              </a:ln>
              <a:solidFill>
                <a:srgbClr val="FF5252"/>
              </a:solidFill>
              <a:effectLst>
                <a:outerShdw blurRad="38100" dist="38100" dir="2700000" algn="tl">
                  <a:srgbClr val="000000">
                    <a:alpha val="43137"/>
                  </a:srgbClr>
                </a:outerShdw>
              </a:effectLst>
              <a:uLnTx/>
              <a:uFillTx/>
              <a:latin typeface="Proxima Nova"/>
              <a:ea typeface="Proxima Nova"/>
              <a:cs typeface="Proxima Nova"/>
              <a:sym typeface="Proxima Nova"/>
            </a:endParaRPr>
          </a:p>
        </p:txBody>
      </p:sp>
    </p:spTree>
    <p:extLst>
      <p:ext uri="{BB962C8B-B14F-4D97-AF65-F5344CB8AC3E}">
        <p14:creationId xmlns:p14="http://schemas.microsoft.com/office/powerpoint/2010/main" val="12509111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3"/>
          <p:cNvSpPr>
            <a:spLocks noGrp="1" noChangeArrowheads="1"/>
          </p:cNvSpPr>
          <p:nvPr>
            <p:ph type="body" idx="1"/>
          </p:nvPr>
        </p:nvSpPr>
        <p:spPr>
          <a:xfrm>
            <a:off x="293911" y="666747"/>
            <a:ext cx="8640000" cy="4329795"/>
          </a:xfrm>
        </p:spPr>
        <p:txBody>
          <a:bodyPr/>
          <a:lstStyle/>
          <a:p>
            <a:pPr>
              <a:lnSpc>
                <a:spcPct val="110000"/>
              </a:lnSpc>
            </a:pPr>
            <a:r>
              <a:rPr lang="en-US" dirty="0"/>
              <a:t>Mathematical biconditional connective</a:t>
            </a:r>
          </a:p>
          <a:p>
            <a:pPr>
              <a:lnSpc>
                <a:spcPct val="110000"/>
              </a:lnSpc>
            </a:pPr>
            <a:r>
              <a:rPr lang="en-US" dirty="0"/>
              <a:t>Laws of propositional logic equivalences</a:t>
            </a:r>
          </a:p>
          <a:p>
            <a:pPr>
              <a:lnSpc>
                <a:spcPct val="110000"/>
              </a:lnSpc>
            </a:pPr>
            <a:r>
              <a:rPr lang="en-US" dirty="0"/>
              <a:t>Operators' precedence and logical gates</a:t>
            </a:r>
          </a:p>
          <a:p>
            <a:pPr>
              <a:lnSpc>
                <a:spcPct val="110000"/>
              </a:lnSpc>
            </a:pPr>
            <a:r>
              <a:rPr lang="en-US" dirty="0"/>
              <a:t>Limitations of propositional logic in the context of computer science and engineering</a:t>
            </a:r>
          </a:p>
          <a:p>
            <a:pPr>
              <a:lnSpc>
                <a:spcPct val="110000"/>
              </a:lnSpc>
            </a:pPr>
            <a:r>
              <a:rPr lang="en-US" sz="2400" dirty="0"/>
              <a:t>References</a:t>
            </a:r>
          </a:p>
        </p:txBody>
      </p:sp>
      <p:sp>
        <p:nvSpPr>
          <p:cNvPr id="4" name="Title 1"/>
          <p:cNvSpPr txBox="1">
            <a:spLocks/>
          </p:cNvSpPr>
          <p:nvPr/>
        </p:nvSpPr>
        <p:spPr>
          <a:xfrm>
            <a:off x="289928" y="183763"/>
            <a:ext cx="8640000" cy="468000"/>
          </a:xfrm>
          <a:prstGeom prst="rect">
            <a:avLst/>
          </a:prstGeom>
          <a:noFill/>
          <a:ln>
            <a:noFill/>
          </a:ln>
        </p:spPr>
        <p:txBody>
          <a:bodyPr spcFirstLastPara="1" wrap="square" lIns="91425" tIns="91425" rIns="91425" bIns="91425" anchor="t" anchorCtr="0">
            <a:noAutofit/>
          </a:bodyPr>
          <a:lstStyle/>
          <a:p>
            <a:pPr lvl="0">
              <a:buSzPts val="2800"/>
            </a:pPr>
            <a:r>
              <a:rPr kumimoji="0" lang="en-US" sz="2400" b="1" i="0" u="none" strike="noStrike" kern="0" cap="none" spc="0" normalizeH="0" baseline="0" noProof="0" dirty="0">
                <a:ln>
                  <a:noFill/>
                </a:ln>
                <a:solidFill>
                  <a:srgbClr val="FF5252"/>
                </a:solidFill>
                <a:effectLst>
                  <a:outerShdw blurRad="38100" dist="38100" dir="2700000" algn="tl">
                    <a:srgbClr val="000000">
                      <a:alpha val="43137"/>
                    </a:srgbClr>
                  </a:outerShdw>
                </a:effectLst>
                <a:uLnTx/>
                <a:uFillTx/>
                <a:latin typeface="Proxima Nova"/>
                <a:ea typeface="Proxima Nova"/>
                <a:cs typeface="Proxima Nova"/>
                <a:sym typeface="Proxima Nova"/>
              </a:rPr>
              <a:t>Contents</a:t>
            </a:r>
          </a:p>
        </p:txBody>
      </p:sp>
    </p:spTree>
    <p:extLst>
      <p:ext uri="{BB962C8B-B14F-4D97-AF65-F5344CB8AC3E}">
        <p14:creationId xmlns:p14="http://schemas.microsoft.com/office/powerpoint/2010/main" val="20668675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3"/>
          <p:cNvSpPr>
            <a:spLocks noGrp="1" noChangeArrowheads="1"/>
          </p:cNvSpPr>
          <p:nvPr>
            <p:ph type="body" idx="1"/>
          </p:nvPr>
        </p:nvSpPr>
        <p:spPr>
          <a:xfrm>
            <a:off x="293911" y="666747"/>
            <a:ext cx="8640000" cy="4329795"/>
          </a:xfrm>
        </p:spPr>
        <p:txBody>
          <a:bodyPr/>
          <a:lstStyle/>
          <a:p>
            <a:pPr marL="114300" indent="0">
              <a:lnSpc>
                <a:spcPct val="90000"/>
              </a:lnSpc>
              <a:buNone/>
            </a:pPr>
            <a:r>
              <a:rPr lang="en-US" sz="2400" dirty="0"/>
              <a:t>Logic generally is the study of correct reasoning.</a:t>
            </a:r>
          </a:p>
          <a:p>
            <a:pPr marL="114300" indent="0">
              <a:lnSpc>
                <a:spcPct val="90000"/>
              </a:lnSpc>
              <a:buNone/>
            </a:pPr>
            <a:r>
              <a:rPr lang="en-US" sz="2400" dirty="0"/>
              <a:t>Propositional logic is the study of truth values of propositions, which are statements that can be either true or false.</a:t>
            </a:r>
          </a:p>
          <a:p>
            <a:pPr marL="114300" indent="0">
              <a:lnSpc>
                <a:spcPct val="90000"/>
              </a:lnSpc>
              <a:buNone/>
            </a:pPr>
            <a:endParaRPr lang="en-US" sz="2400" dirty="0"/>
          </a:p>
          <a:p>
            <a:pPr marL="114300" indent="0">
              <a:lnSpc>
                <a:spcPct val="90000"/>
              </a:lnSpc>
              <a:buNone/>
            </a:pPr>
            <a:r>
              <a:rPr lang="en-US" sz="2400" dirty="0"/>
              <a:t>Propositional logic is used to reason how the truth of a certain statement follows from other known truths.</a:t>
            </a:r>
          </a:p>
          <a:p>
            <a:pPr marL="114300" indent="0">
              <a:lnSpc>
                <a:spcPct val="90000"/>
              </a:lnSpc>
              <a:buNone/>
            </a:pPr>
            <a:r>
              <a:rPr lang="en-US" sz="2400" dirty="0"/>
              <a:t>It is used to distinguish between valid and invalid mathematical arguments</a:t>
            </a:r>
          </a:p>
          <a:p>
            <a:pPr marL="114300" indent="0">
              <a:lnSpc>
                <a:spcPct val="90000"/>
              </a:lnSpc>
              <a:buNone/>
            </a:pPr>
            <a:endParaRPr lang="en-US" sz="2400" dirty="0"/>
          </a:p>
          <a:p>
            <a:pPr marL="114300" indent="0">
              <a:lnSpc>
                <a:spcPct val="90000"/>
              </a:lnSpc>
              <a:buNone/>
            </a:pPr>
            <a:r>
              <a:rPr lang="en-US" sz="2400" dirty="0"/>
              <a:t>Its is needed in almost all fields, whether in other field of mathematics like geometry, proofs or algebra, or in other fields like computer science.</a:t>
            </a:r>
          </a:p>
        </p:txBody>
      </p:sp>
      <p:sp>
        <p:nvSpPr>
          <p:cNvPr id="4" name="Title 1"/>
          <p:cNvSpPr txBox="1">
            <a:spLocks/>
          </p:cNvSpPr>
          <p:nvPr/>
        </p:nvSpPr>
        <p:spPr>
          <a:xfrm>
            <a:off x="252000" y="146958"/>
            <a:ext cx="8640000" cy="468000"/>
          </a:xfrm>
          <a:prstGeom prst="rect">
            <a:avLst/>
          </a:prstGeom>
          <a:noFill/>
          <a:ln>
            <a:noFill/>
          </a:ln>
        </p:spPr>
        <p:txBody>
          <a:bodyPr spcFirstLastPara="1" wrap="square" lIns="91425" tIns="91425" rIns="91425" bIns="91425" anchor="t" anchorCtr="0">
            <a:noAutofit/>
          </a:bodyPr>
          <a:lstStyle/>
          <a:p>
            <a:pPr lvl="0">
              <a:buSzPts val="2800"/>
            </a:pPr>
            <a:r>
              <a:rPr kumimoji="0" lang="en-US" sz="2400" b="1" i="0" u="none" strike="noStrike" kern="0" cap="none" spc="0" normalizeH="0" baseline="0" noProof="0" dirty="0">
                <a:ln>
                  <a:noFill/>
                </a:ln>
                <a:solidFill>
                  <a:srgbClr val="FF5252"/>
                </a:solidFill>
                <a:effectLst>
                  <a:outerShdw blurRad="38100" dist="38100" dir="2700000" algn="tl">
                    <a:srgbClr val="000000">
                      <a:alpha val="43137"/>
                    </a:srgbClr>
                  </a:outerShdw>
                </a:effectLst>
                <a:uLnTx/>
                <a:uFillTx/>
                <a:latin typeface="Proxima Nova"/>
                <a:ea typeface="Proxima Nova"/>
                <a:cs typeface="Proxima Nova"/>
                <a:sym typeface="Proxima Nova"/>
              </a:rPr>
              <a:t>Introduction</a:t>
            </a:r>
          </a:p>
        </p:txBody>
      </p:sp>
    </p:spTree>
    <p:extLst>
      <p:ext uri="{BB962C8B-B14F-4D97-AF65-F5344CB8AC3E}">
        <p14:creationId xmlns:p14="http://schemas.microsoft.com/office/powerpoint/2010/main" val="18449118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9C4C17-039B-6A8C-61A5-D29D187D0F48}"/>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77A8F992-42C3-9D7A-0DD1-DAC23FAD1305}"/>
              </a:ext>
            </a:extLst>
          </p:cNvPr>
          <p:cNvSpPr>
            <a:spLocks noGrp="1"/>
          </p:cNvSpPr>
          <p:nvPr>
            <p:ph idx="1"/>
          </p:nvPr>
        </p:nvSpPr>
        <p:spPr>
          <a:xfrm>
            <a:off x="291600" y="484808"/>
            <a:ext cx="8520600" cy="4349215"/>
          </a:xfrm>
        </p:spPr>
        <p:txBody>
          <a:bodyPr/>
          <a:lstStyle/>
          <a:p>
            <a:r>
              <a:rPr lang="en-US" dirty="0"/>
              <a:t>Propositional logic is distinguished from other logical systems by its treatment of entire propositions as a whole, and analyzing the relationships and properties derived from the combination of several propositions  rather than their internal predicate-subject structure.</a:t>
            </a:r>
          </a:p>
          <a:p>
            <a:r>
              <a:rPr lang="en-US" dirty="0"/>
              <a:t>By abstracting natural language into a formal system of variables and connectives, logicians and engineers are able to evaluate the validity of complex arguments and design the computational architectures used in the contemporary digital age.</a:t>
            </a:r>
          </a:p>
          <a:p>
            <a:endParaRPr lang="en-US" dirty="0"/>
          </a:p>
        </p:txBody>
      </p:sp>
    </p:spTree>
    <p:extLst>
      <p:ext uri="{BB962C8B-B14F-4D97-AF65-F5344CB8AC3E}">
        <p14:creationId xmlns:p14="http://schemas.microsoft.com/office/powerpoint/2010/main" val="14911210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65FC74-6953-ECBA-BB47-8BE755A99442}"/>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939280BD-9C3C-18D7-7A10-87C69E4E3005}"/>
              </a:ext>
            </a:extLst>
          </p:cNvPr>
          <p:cNvSpPr>
            <a:spLocks noGrp="1"/>
          </p:cNvSpPr>
          <p:nvPr>
            <p:ph idx="1"/>
          </p:nvPr>
        </p:nvSpPr>
        <p:spPr>
          <a:xfrm>
            <a:off x="291600" y="486554"/>
            <a:ext cx="8520600" cy="4346152"/>
          </a:xfrm>
        </p:spPr>
        <p:txBody>
          <a:bodyPr/>
          <a:lstStyle/>
          <a:p>
            <a:r>
              <a:rPr lang="en-US" dirty="0"/>
              <a:t>Statements in mathematics and sciences are in natural language and often are imprecise or ambiguous. To make such statements precise, they can be translated into the language of logic.</a:t>
            </a:r>
          </a:p>
          <a:p>
            <a:r>
              <a:rPr lang="en-US" dirty="0"/>
              <a:t>Logic has many important applications to mathematics, computer science, and numerous other    disciplines.</a:t>
            </a:r>
          </a:p>
          <a:p>
            <a:r>
              <a:rPr lang="en-US" dirty="0"/>
              <a:t>Furthermore, propositional logic and logic gates are the ones used to design computer circuits and to construct computer programs.</a:t>
            </a:r>
          </a:p>
        </p:txBody>
      </p:sp>
    </p:spTree>
    <p:extLst>
      <p:ext uri="{BB962C8B-B14F-4D97-AF65-F5344CB8AC3E}">
        <p14:creationId xmlns:p14="http://schemas.microsoft.com/office/powerpoint/2010/main" val="38598900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C430BD-91C1-9C5D-D1F0-D4A30DC6D0A8}"/>
              </a:ext>
            </a:extLst>
          </p:cNvPr>
          <p:cNvSpPr>
            <a:spLocks noGrp="1"/>
          </p:cNvSpPr>
          <p:nvPr>
            <p:ph type="title"/>
          </p:nvPr>
        </p:nvSpPr>
        <p:spPr>
          <a:xfrm>
            <a:off x="220808" y="0"/>
            <a:ext cx="8520600" cy="436160"/>
          </a:xfrm>
        </p:spPr>
        <p:txBody>
          <a:bodyPr/>
          <a:lstStyle/>
          <a:p>
            <a:r>
              <a:rPr lang="en-US" dirty="0"/>
              <a:t>History of propositional logic </a:t>
            </a:r>
          </a:p>
        </p:txBody>
      </p:sp>
      <p:sp>
        <p:nvSpPr>
          <p:cNvPr id="3" name="Content Placeholder 2">
            <a:extLst>
              <a:ext uri="{FF2B5EF4-FFF2-40B4-BE49-F238E27FC236}">
                <a16:creationId xmlns:a16="http://schemas.microsoft.com/office/drawing/2014/main" id="{5625A8E8-8388-4A35-8359-F3D9A873EB07}"/>
              </a:ext>
            </a:extLst>
          </p:cNvPr>
          <p:cNvSpPr>
            <a:spLocks noGrp="1"/>
          </p:cNvSpPr>
          <p:nvPr>
            <p:ph idx="1"/>
          </p:nvPr>
        </p:nvSpPr>
        <p:spPr>
          <a:xfrm>
            <a:off x="331800" y="401680"/>
            <a:ext cx="8520600" cy="4674412"/>
          </a:xfrm>
        </p:spPr>
        <p:txBody>
          <a:bodyPr/>
          <a:lstStyle/>
          <a:p>
            <a:r>
              <a:rPr lang="en-US" dirty="0"/>
              <a:t>The history of propositional logic begins as early as 300 BC.</a:t>
            </a:r>
          </a:p>
          <a:p>
            <a:r>
              <a:rPr lang="en-US" dirty="0"/>
              <a:t> It was initiated with a fundamental change in how humans thought about and approached the truth.</a:t>
            </a:r>
          </a:p>
          <a:p>
            <a:r>
              <a:rPr lang="en-US" dirty="0"/>
              <a:t>In ancient Greece, Aristotle dominated the field of logic by establishing his ‘term logic’, which focused on the internal structure of a sentence.</a:t>
            </a:r>
          </a:p>
          <a:p>
            <a:r>
              <a:rPr lang="en-US" dirty="0"/>
              <a:t>His logic was based on analyzing the relationships between classes of things. He looked at subjects and predicates(terms) and how they belonged to their categories.</a:t>
            </a:r>
          </a:p>
        </p:txBody>
      </p:sp>
    </p:spTree>
    <p:extLst>
      <p:ext uri="{BB962C8B-B14F-4D97-AF65-F5344CB8AC3E}">
        <p14:creationId xmlns:p14="http://schemas.microsoft.com/office/powerpoint/2010/main" val="20446454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35FD7C-8FDD-ED9A-96CB-CD45DE7212B2}"/>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5BD4F23B-7E3E-D26E-3AA7-C7EE42109A56}"/>
              </a:ext>
            </a:extLst>
          </p:cNvPr>
          <p:cNvSpPr>
            <a:spLocks noGrp="1"/>
          </p:cNvSpPr>
          <p:nvPr>
            <p:ph idx="1"/>
          </p:nvPr>
        </p:nvSpPr>
        <p:spPr>
          <a:xfrm>
            <a:off x="168508" y="183600"/>
            <a:ext cx="8520600" cy="4857323"/>
          </a:xfrm>
        </p:spPr>
        <p:txBody>
          <a:bodyPr/>
          <a:lstStyle/>
          <a:p>
            <a:r>
              <a:rPr lang="en-US" dirty="0"/>
              <a:t>Example, In "All men are mortal," Aristotle was interested in the categories "men" and "mortal" and how one fits inside the other.</a:t>
            </a:r>
          </a:p>
          <a:p>
            <a:r>
              <a:rPr lang="en-US" dirty="0"/>
              <a:t>His logic was built on syllogism as the connective of the subjects or predicates.</a:t>
            </a:r>
          </a:p>
          <a:p>
            <a:r>
              <a:rPr lang="en-US" dirty="0"/>
              <a:t>The syllogism was a three-part argument that links terms through a middle ground such as if A is B, and B is C, then A is C. (e.g. "All men are mortal; Socrates is a man; therefore, Socrates is mortal").</a:t>
            </a:r>
          </a:p>
          <a:p>
            <a:r>
              <a:rPr lang="en-US" dirty="0"/>
              <a:t>Aristotle’s logic was about determining if one group of things belongs to another or not.</a:t>
            </a:r>
          </a:p>
          <a:p>
            <a:endParaRPr lang="en-US" dirty="0"/>
          </a:p>
          <a:p>
            <a:endParaRPr lang="en-US" dirty="0"/>
          </a:p>
          <a:p>
            <a:endParaRPr lang="en-US" dirty="0"/>
          </a:p>
        </p:txBody>
      </p:sp>
    </p:spTree>
    <p:extLst>
      <p:ext uri="{BB962C8B-B14F-4D97-AF65-F5344CB8AC3E}">
        <p14:creationId xmlns:p14="http://schemas.microsoft.com/office/powerpoint/2010/main" val="37731526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3"/>
          <p:cNvSpPr>
            <a:spLocks noGrp="1" noChangeArrowheads="1"/>
          </p:cNvSpPr>
          <p:nvPr>
            <p:ph type="body" idx="1"/>
          </p:nvPr>
        </p:nvSpPr>
        <p:spPr>
          <a:xfrm>
            <a:off x="252000" y="701916"/>
            <a:ext cx="8640000" cy="4329795"/>
          </a:xfrm>
        </p:spPr>
        <p:txBody>
          <a:bodyPr/>
          <a:lstStyle/>
          <a:p>
            <a:pPr>
              <a:lnSpc>
                <a:spcPct val="90000"/>
              </a:lnSpc>
            </a:pPr>
            <a:r>
              <a:rPr lang="en-US" dirty="0"/>
              <a:t>However, in the 3rd century BCE, a Stoic philosopher named Chrysippus challenged this perspective.</a:t>
            </a:r>
          </a:p>
          <a:p>
            <a:pPr>
              <a:lnSpc>
                <a:spcPct val="90000"/>
              </a:lnSpc>
            </a:pPr>
            <a:r>
              <a:rPr lang="en-US" dirty="0"/>
              <a:t>Chrysippus treated the entire sentence as a single "brick" or proposition that can be either true or false.</a:t>
            </a:r>
          </a:p>
          <a:p>
            <a:pPr>
              <a:lnSpc>
                <a:spcPct val="90000"/>
              </a:lnSpc>
            </a:pPr>
            <a:r>
              <a:rPr lang="en-US" dirty="0"/>
              <a:t>He didn't care about the terms inside the sentence, he only cared about whether the sentence as a whole is true or not.</a:t>
            </a:r>
          </a:p>
          <a:p>
            <a:pPr>
              <a:lnSpc>
                <a:spcPct val="90000"/>
              </a:lnSpc>
            </a:pPr>
            <a:r>
              <a:rPr lang="en-US" dirty="0"/>
              <a:t>Unlike Aristotle, Chrysippus formalized how to connect independent thoughts using words like ‘and’, ‘or’, and ‘if...then’.</a:t>
            </a:r>
          </a:p>
          <a:p>
            <a:pPr>
              <a:lnSpc>
                <a:spcPct val="90000"/>
              </a:lnSpc>
            </a:pPr>
            <a:endParaRPr lang="en-US" dirty="0"/>
          </a:p>
          <a:p>
            <a:pPr>
              <a:lnSpc>
                <a:spcPct val="90000"/>
              </a:lnSpc>
            </a:pPr>
            <a:endParaRPr lang="en-US" dirty="0"/>
          </a:p>
          <a:p>
            <a:pPr>
              <a:lnSpc>
                <a:spcPct val="90000"/>
              </a:lnSpc>
            </a:pPr>
            <a:endParaRPr lang="en-US" sz="2400" dirty="0"/>
          </a:p>
        </p:txBody>
      </p:sp>
      <p:sp>
        <p:nvSpPr>
          <p:cNvPr id="4" name="Title 1"/>
          <p:cNvSpPr txBox="1">
            <a:spLocks/>
          </p:cNvSpPr>
          <p:nvPr/>
        </p:nvSpPr>
        <p:spPr>
          <a:xfrm>
            <a:off x="301651" y="0"/>
            <a:ext cx="8640000" cy="468000"/>
          </a:xfrm>
          <a:prstGeom prst="rect">
            <a:avLst/>
          </a:prstGeom>
          <a:noFill/>
          <a:ln>
            <a:noFill/>
          </a:ln>
        </p:spPr>
        <p:txBody>
          <a:bodyPr spcFirstLastPara="1" wrap="square" lIns="91425" tIns="91425" rIns="91425" bIns="91425" anchor="t" anchorCtr="0">
            <a:noAutofit/>
          </a:bodyPr>
          <a:lstStyle/>
          <a:p>
            <a:pPr lvl="0">
              <a:buSzPts val="2800"/>
            </a:pPr>
            <a:endParaRPr kumimoji="0" lang="en-US" sz="2400" b="1" i="0" u="none" strike="noStrike" kern="0" cap="none" spc="0" normalizeH="0" baseline="0" noProof="0" dirty="0">
              <a:ln>
                <a:noFill/>
              </a:ln>
              <a:solidFill>
                <a:srgbClr val="FF5252"/>
              </a:solidFill>
              <a:effectLst>
                <a:outerShdw blurRad="38100" dist="38100" dir="2700000" algn="tl">
                  <a:srgbClr val="000000">
                    <a:alpha val="43137"/>
                  </a:srgbClr>
                </a:outerShdw>
              </a:effectLst>
              <a:uLnTx/>
              <a:uFillTx/>
              <a:latin typeface="Proxima Nova"/>
              <a:ea typeface="Proxima Nova"/>
              <a:cs typeface="Proxima Nova"/>
              <a:sym typeface="Proxima Nova"/>
            </a:endParaRPr>
          </a:p>
        </p:txBody>
      </p:sp>
    </p:spTree>
    <p:extLst>
      <p:ext uri="{BB962C8B-B14F-4D97-AF65-F5344CB8AC3E}">
        <p14:creationId xmlns:p14="http://schemas.microsoft.com/office/powerpoint/2010/main" val="7199288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3"/>
          <p:cNvSpPr>
            <a:spLocks noGrp="1" noChangeArrowheads="1"/>
          </p:cNvSpPr>
          <p:nvPr>
            <p:ph type="body" idx="1"/>
          </p:nvPr>
        </p:nvSpPr>
        <p:spPr>
          <a:xfrm>
            <a:off x="132010" y="250578"/>
            <a:ext cx="8640000" cy="4772760"/>
          </a:xfrm>
        </p:spPr>
        <p:txBody>
          <a:bodyPr/>
          <a:lstStyle/>
          <a:p>
            <a:pPr>
              <a:lnSpc>
                <a:spcPct val="90000"/>
              </a:lnSpc>
            </a:pPr>
            <a:r>
              <a:rPr lang="en-US" sz="2400" dirty="0"/>
              <a:t>This allowed him to build complex "if-then" arguments that are the direct ancestors of modern logic, the one used in propositional logic or computer science today.</a:t>
            </a:r>
          </a:p>
          <a:p>
            <a:pPr>
              <a:lnSpc>
                <a:spcPct val="90000"/>
              </a:lnSpc>
            </a:pPr>
            <a:r>
              <a:rPr lang="en-US" sz="2400" dirty="0" err="1"/>
              <a:t>Chrysippus’s</a:t>
            </a:r>
            <a:r>
              <a:rPr lang="en-US" sz="2400" dirty="0"/>
              <a:t> logic was about consequences and determining what must be true for a certain condition to be met.</a:t>
            </a:r>
          </a:p>
          <a:p>
            <a:pPr>
              <a:lnSpc>
                <a:spcPct val="90000"/>
              </a:lnSpc>
            </a:pPr>
            <a:r>
              <a:rPr lang="en-US" sz="2400" dirty="0"/>
              <a:t>He shifted the analytical focus from terms to entire propositions, recognizing that the logical significance of an argument often depends on connectives like "if," "and," and "or"</a:t>
            </a:r>
          </a:p>
          <a:p>
            <a:pPr>
              <a:lnSpc>
                <a:spcPct val="90000"/>
              </a:lnSpc>
            </a:pPr>
            <a:r>
              <a:rPr lang="en-US" sz="2400" dirty="0"/>
              <a:t>For nearly two millennia after, Aristotle’s categorical logic remained the dominant way of thinking in the western world, becoming the standard of what ‘logic’ meant, while the more abstract work of Chrysippus was largely forgotten or overshadowed.</a:t>
            </a:r>
          </a:p>
          <a:p>
            <a:pPr>
              <a:lnSpc>
                <a:spcPct val="90000"/>
              </a:lnSpc>
            </a:pPr>
            <a:endParaRPr lang="en-US" sz="2400" dirty="0"/>
          </a:p>
        </p:txBody>
      </p:sp>
      <p:sp>
        <p:nvSpPr>
          <p:cNvPr id="4" name="Title 1"/>
          <p:cNvSpPr txBox="1">
            <a:spLocks/>
          </p:cNvSpPr>
          <p:nvPr/>
        </p:nvSpPr>
        <p:spPr>
          <a:xfrm>
            <a:off x="289928" y="183763"/>
            <a:ext cx="8640000" cy="468000"/>
          </a:xfrm>
          <a:prstGeom prst="rect">
            <a:avLst/>
          </a:prstGeom>
          <a:noFill/>
          <a:ln>
            <a:noFill/>
          </a:ln>
        </p:spPr>
        <p:txBody>
          <a:bodyPr spcFirstLastPara="1" wrap="square" lIns="91425" tIns="91425" rIns="91425" bIns="91425" anchor="t" anchorCtr="0">
            <a:noAutofit/>
          </a:bodyPr>
          <a:lstStyle/>
          <a:p>
            <a:pPr lvl="0">
              <a:buSzPts val="2800"/>
            </a:pPr>
            <a:endParaRPr kumimoji="0" lang="en-US" sz="2400" b="1" i="0" u="none" strike="noStrike" kern="0" cap="none" spc="0" normalizeH="0" baseline="0" noProof="0" dirty="0">
              <a:ln>
                <a:noFill/>
              </a:ln>
              <a:solidFill>
                <a:srgbClr val="FF5252"/>
              </a:solidFill>
              <a:effectLst>
                <a:outerShdw blurRad="38100" dist="38100" dir="2700000" algn="tl">
                  <a:srgbClr val="000000">
                    <a:alpha val="43137"/>
                  </a:srgbClr>
                </a:outerShdw>
              </a:effectLst>
              <a:uLnTx/>
              <a:uFillTx/>
              <a:latin typeface="Proxima Nova"/>
              <a:ea typeface="Proxima Nova"/>
              <a:cs typeface="Proxima Nova"/>
              <a:sym typeface="Proxima Nova"/>
            </a:endParaRPr>
          </a:p>
        </p:txBody>
      </p:sp>
    </p:spTree>
    <p:extLst>
      <p:ext uri="{BB962C8B-B14F-4D97-AF65-F5344CB8AC3E}">
        <p14:creationId xmlns:p14="http://schemas.microsoft.com/office/powerpoint/2010/main" val="30716519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3"/>
          <p:cNvSpPr>
            <a:spLocks noGrp="1" noChangeArrowheads="1"/>
          </p:cNvSpPr>
          <p:nvPr>
            <p:ph type="body" idx="1"/>
          </p:nvPr>
        </p:nvSpPr>
        <p:spPr>
          <a:xfrm>
            <a:off x="187722" y="642318"/>
            <a:ext cx="8640000" cy="4329795"/>
          </a:xfrm>
        </p:spPr>
        <p:txBody>
          <a:bodyPr/>
          <a:lstStyle/>
          <a:p>
            <a:pPr>
              <a:lnSpc>
                <a:spcPct val="90000"/>
              </a:lnSpc>
            </a:pPr>
            <a:r>
              <a:rPr lang="en-US" sz="2400" dirty="0"/>
              <a:t>In the 17th century, Gottfried Wilhelm Leibniz was the first to revive the idea of propositional logic initiated by Chrysippus.</a:t>
            </a:r>
          </a:p>
          <a:p>
            <a:pPr>
              <a:lnSpc>
                <a:spcPct val="90000"/>
              </a:lnSpc>
            </a:pPr>
            <a:r>
              <a:rPr lang="en-US" sz="2400" dirty="0"/>
              <a:t>Leibniz’s vision imagined a ‘universal language’ of reason. </a:t>
            </a:r>
          </a:p>
          <a:p>
            <a:pPr>
              <a:lnSpc>
                <a:spcPct val="90000"/>
              </a:lnSpc>
            </a:pPr>
            <a:r>
              <a:rPr lang="en-US" sz="2400" dirty="0"/>
              <a:t>He believed that human disagreements were often the result of the “ambiguousness" of language and proposed that if we could create a mathematical language of logic, people wouldn't need to argue aggressively anymore.</a:t>
            </a:r>
          </a:p>
          <a:p>
            <a:pPr>
              <a:lnSpc>
                <a:spcPct val="90000"/>
              </a:lnSpc>
            </a:pPr>
            <a:r>
              <a:rPr lang="en-US" sz="2400" dirty="0"/>
              <a:t>While Leibniz never fully completed this system, he was the first to strongly suggest that logic should be a branch of mathematics and be used as a universal language of reasoning.</a:t>
            </a:r>
          </a:p>
          <a:p>
            <a:pPr>
              <a:lnSpc>
                <a:spcPct val="90000"/>
              </a:lnSpc>
            </a:pPr>
            <a:endParaRPr lang="en-US" sz="2400" dirty="0"/>
          </a:p>
          <a:p>
            <a:pPr>
              <a:lnSpc>
                <a:spcPct val="90000"/>
              </a:lnSpc>
            </a:pPr>
            <a:endParaRPr lang="en-US" sz="2400" dirty="0"/>
          </a:p>
        </p:txBody>
      </p:sp>
      <p:sp>
        <p:nvSpPr>
          <p:cNvPr id="4" name="Title 1"/>
          <p:cNvSpPr txBox="1">
            <a:spLocks/>
          </p:cNvSpPr>
          <p:nvPr/>
        </p:nvSpPr>
        <p:spPr>
          <a:xfrm>
            <a:off x="252000" y="89373"/>
            <a:ext cx="8640000" cy="468000"/>
          </a:xfrm>
          <a:prstGeom prst="rect">
            <a:avLst/>
          </a:prstGeom>
          <a:noFill/>
          <a:ln>
            <a:noFill/>
          </a:ln>
        </p:spPr>
        <p:txBody>
          <a:bodyPr spcFirstLastPara="1" wrap="square" lIns="91425" tIns="91425" rIns="91425" bIns="91425" anchor="t" anchorCtr="0">
            <a:noAutofit/>
          </a:bodyPr>
          <a:lstStyle/>
          <a:p>
            <a:pPr lvl="0">
              <a:buSzPts val="2800"/>
            </a:pPr>
            <a:endParaRPr kumimoji="0" lang="en-US" sz="2400" b="1" i="0" u="none" strike="noStrike" kern="0" cap="none" spc="0" normalizeH="0" baseline="0" noProof="0" dirty="0">
              <a:ln>
                <a:noFill/>
              </a:ln>
              <a:solidFill>
                <a:srgbClr val="FF5252"/>
              </a:solidFill>
              <a:effectLst>
                <a:outerShdw blurRad="38100" dist="38100" dir="2700000" algn="tl">
                  <a:srgbClr val="000000">
                    <a:alpha val="43137"/>
                  </a:srgbClr>
                </a:outerShdw>
              </a:effectLst>
              <a:uLnTx/>
              <a:uFillTx/>
              <a:latin typeface="Proxima Nova"/>
              <a:ea typeface="Proxima Nova"/>
              <a:cs typeface="Proxima Nova"/>
              <a:sym typeface="Proxima Nova"/>
            </a:endParaRPr>
          </a:p>
        </p:txBody>
      </p:sp>
    </p:spTree>
    <p:extLst>
      <p:ext uri="{BB962C8B-B14F-4D97-AF65-F5344CB8AC3E}">
        <p14:creationId xmlns:p14="http://schemas.microsoft.com/office/powerpoint/2010/main" val="10490759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3"/>
          <p:cNvSpPr>
            <a:spLocks noGrp="1" noChangeArrowheads="1"/>
          </p:cNvSpPr>
          <p:nvPr>
            <p:ph type="body" idx="1"/>
          </p:nvPr>
        </p:nvSpPr>
        <p:spPr>
          <a:xfrm>
            <a:off x="210089" y="406852"/>
            <a:ext cx="8640000" cy="4329795"/>
          </a:xfrm>
        </p:spPr>
        <p:txBody>
          <a:bodyPr/>
          <a:lstStyle/>
          <a:p>
            <a:pPr>
              <a:lnSpc>
                <a:spcPct val="90000"/>
              </a:lnSpc>
            </a:pPr>
            <a:r>
              <a:rPr lang="en-US" sz="2400" dirty="0"/>
              <a:t>The mid-19th century marked the most significant shift in the history of propositional logic through the work of George Boole and Augustus De Morgan.</a:t>
            </a:r>
          </a:p>
          <a:p>
            <a:pPr>
              <a:lnSpc>
                <a:spcPct val="90000"/>
              </a:lnSpc>
            </a:pPr>
            <a:r>
              <a:rPr lang="en-US" sz="2400" dirty="0"/>
              <a:t>In his 1847 work, “The Mathematical Analysis of Logic”, and his 1854 masterpiece, “An Investigation into the Laws of Thought”, Boole demonstrated that logical relations could be expressed as algebraic equations.</a:t>
            </a:r>
          </a:p>
          <a:p>
            <a:pPr>
              <a:lnSpc>
                <a:spcPct val="90000"/>
              </a:lnSpc>
            </a:pPr>
            <a:r>
              <a:rPr lang="en-US" sz="2400" dirty="0"/>
              <a:t>He proved that you could treat True and False exactly like the numbers 1 and 0, and that logical operations like "AND" and "OR" followed rules very similar to multiplication and addition.</a:t>
            </a:r>
          </a:p>
          <a:p>
            <a:pPr>
              <a:lnSpc>
                <a:spcPct val="90000"/>
              </a:lnSpc>
            </a:pPr>
            <a:r>
              <a:rPr lang="en-US" sz="2400" dirty="0"/>
              <a:t>This transition from a verbal to a mathematical form provided the foundations for Boolean algebra, which is the</a:t>
            </a:r>
          </a:p>
        </p:txBody>
      </p:sp>
      <p:sp>
        <p:nvSpPr>
          <p:cNvPr id="4" name="Title 1"/>
          <p:cNvSpPr txBox="1">
            <a:spLocks/>
          </p:cNvSpPr>
          <p:nvPr/>
        </p:nvSpPr>
        <p:spPr>
          <a:xfrm>
            <a:off x="293911" y="146958"/>
            <a:ext cx="8640000" cy="468000"/>
          </a:xfrm>
          <a:prstGeom prst="rect">
            <a:avLst/>
          </a:prstGeom>
          <a:noFill/>
          <a:ln>
            <a:noFill/>
          </a:ln>
        </p:spPr>
        <p:txBody>
          <a:bodyPr spcFirstLastPara="1" wrap="square" lIns="91425" tIns="91425" rIns="91425" bIns="91425" anchor="t" anchorCtr="0">
            <a:noAutofit/>
          </a:bodyPr>
          <a:lstStyle/>
          <a:p>
            <a:pPr lvl="0">
              <a:buSzPts val="2800"/>
            </a:pPr>
            <a:endParaRPr kumimoji="0" lang="en-US" sz="2400" b="1" i="0" u="none" strike="noStrike" kern="0" cap="none" spc="0" normalizeH="0" baseline="0" noProof="0" dirty="0">
              <a:ln>
                <a:noFill/>
              </a:ln>
              <a:solidFill>
                <a:srgbClr val="FF5252"/>
              </a:solidFill>
              <a:effectLst>
                <a:outerShdw blurRad="38100" dist="38100" dir="2700000" algn="tl">
                  <a:srgbClr val="000000">
                    <a:alpha val="43137"/>
                  </a:srgbClr>
                </a:outerShdw>
              </a:effectLst>
              <a:uLnTx/>
              <a:uFillTx/>
              <a:latin typeface="Proxima Nova"/>
              <a:ea typeface="Proxima Nova"/>
              <a:cs typeface="Proxima Nova"/>
              <a:sym typeface="Proxima Nova"/>
            </a:endParaRPr>
          </a:p>
        </p:txBody>
      </p:sp>
    </p:spTree>
    <p:extLst>
      <p:ext uri="{BB962C8B-B14F-4D97-AF65-F5344CB8AC3E}">
        <p14:creationId xmlns:p14="http://schemas.microsoft.com/office/powerpoint/2010/main" val="1179639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3"/>
          <p:cNvSpPr>
            <a:spLocks noGrp="1" noChangeArrowheads="1"/>
          </p:cNvSpPr>
          <p:nvPr>
            <p:ph type="body" idx="1"/>
          </p:nvPr>
        </p:nvSpPr>
        <p:spPr>
          <a:xfrm>
            <a:off x="252000" y="554659"/>
            <a:ext cx="8640000" cy="4468679"/>
          </a:xfrm>
        </p:spPr>
        <p:txBody>
          <a:bodyPr/>
          <a:lstStyle/>
          <a:p>
            <a:pPr marL="114300" indent="0">
              <a:lnSpc>
                <a:spcPct val="90000"/>
              </a:lnSpc>
              <a:buNone/>
            </a:pPr>
            <a:r>
              <a:rPr lang="en-US" sz="2400" dirty="0"/>
              <a:t>   theoretical basis for digital circuit design and computer   programming.</a:t>
            </a:r>
          </a:p>
          <a:p>
            <a:pPr>
              <a:lnSpc>
                <a:spcPct val="90000"/>
              </a:lnSpc>
            </a:pPr>
            <a:r>
              <a:rPr lang="en-US" sz="2400" dirty="0"/>
              <a:t>De Morgan introduced his famous laws, which provided a precise way to handle negations in complex statements.</a:t>
            </a:r>
          </a:p>
          <a:p>
            <a:pPr>
              <a:lnSpc>
                <a:spcPct val="90000"/>
              </a:lnSpc>
            </a:pPr>
            <a:r>
              <a:rPr lang="en-US" sz="2400" dirty="0"/>
              <a:t>In the early 20th century, the concept reached its modern maturity as it merged with the foundations of mathematics.</a:t>
            </a:r>
          </a:p>
          <a:p>
            <a:pPr>
              <a:lnSpc>
                <a:spcPct val="90000"/>
              </a:lnSpc>
            </a:pPr>
            <a:r>
              <a:rPr lang="en-US" sz="2400" dirty="0"/>
              <a:t>Thinkers like Gottlob Frege and Bertrand Russell attempted to show that all of mathematics was essentially built upon propositional logic.</a:t>
            </a:r>
          </a:p>
          <a:p>
            <a:pPr>
              <a:lnSpc>
                <a:spcPct val="90000"/>
              </a:lnSpc>
            </a:pPr>
            <a:r>
              <a:rPr lang="en-US" sz="2400" dirty="0"/>
              <a:t>During this era, Ludwig Wittgenstein introduced the Truth table which provided a visual method for checking the truth of a statement based on its parts.</a:t>
            </a:r>
          </a:p>
          <a:p>
            <a:pPr>
              <a:lnSpc>
                <a:spcPct val="90000"/>
              </a:lnSpc>
            </a:pPr>
            <a:r>
              <a:rPr lang="en-US" sz="2400" dirty="0"/>
              <a:t>This finalized the transition of propositional logic.</a:t>
            </a:r>
          </a:p>
          <a:p>
            <a:pPr>
              <a:lnSpc>
                <a:spcPct val="90000"/>
              </a:lnSpc>
            </a:pPr>
            <a:endParaRPr lang="en-US" sz="2400" dirty="0"/>
          </a:p>
        </p:txBody>
      </p:sp>
      <p:sp>
        <p:nvSpPr>
          <p:cNvPr id="4" name="Title 1"/>
          <p:cNvSpPr txBox="1">
            <a:spLocks/>
          </p:cNvSpPr>
          <p:nvPr/>
        </p:nvSpPr>
        <p:spPr>
          <a:xfrm>
            <a:off x="130646" y="198747"/>
            <a:ext cx="8640000" cy="468000"/>
          </a:xfrm>
          <a:prstGeom prst="rect">
            <a:avLst/>
          </a:prstGeom>
          <a:noFill/>
          <a:ln>
            <a:noFill/>
          </a:ln>
        </p:spPr>
        <p:txBody>
          <a:bodyPr spcFirstLastPara="1" wrap="square" lIns="91425" tIns="91425" rIns="91425" bIns="91425" anchor="t" anchorCtr="0">
            <a:noAutofit/>
          </a:bodyPr>
          <a:lstStyle/>
          <a:p>
            <a:pPr lvl="0">
              <a:buSzPts val="2800"/>
            </a:pPr>
            <a:endParaRPr kumimoji="0" lang="en-US" sz="2400" b="1" i="0" u="none" strike="noStrike" kern="0" cap="none" spc="0" normalizeH="0" baseline="0" noProof="0" dirty="0">
              <a:ln>
                <a:noFill/>
              </a:ln>
              <a:solidFill>
                <a:srgbClr val="FF5252"/>
              </a:solidFill>
              <a:effectLst>
                <a:outerShdw blurRad="38100" dist="38100" dir="2700000" algn="tl">
                  <a:srgbClr val="000000">
                    <a:alpha val="43137"/>
                  </a:srgbClr>
                </a:outerShdw>
              </a:effectLst>
              <a:uLnTx/>
              <a:uFillTx/>
              <a:latin typeface="Proxima Nova"/>
              <a:ea typeface="Proxima Nova"/>
              <a:cs typeface="Proxima Nova"/>
              <a:sym typeface="Proxima Nova"/>
            </a:endParaRPr>
          </a:p>
        </p:txBody>
      </p:sp>
    </p:spTree>
    <p:extLst>
      <p:ext uri="{BB962C8B-B14F-4D97-AF65-F5344CB8AC3E}">
        <p14:creationId xmlns:p14="http://schemas.microsoft.com/office/powerpoint/2010/main" val="19564387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643834-4B8E-4101-9D27-5AB96E61E806}"/>
              </a:ext>
            </a:extLst>
          </p:cNvPr>
          <p:cNvSpPr>
            <a:spLocks noGrp="1"/>
          </p:cNvSpPr>
          <p:nvPr>
            <p:ph type="title"/>
          </p:nvPr>
        </p:nvSpPr>
        <p:spPr/>
        <p:txBody>
          <a:bodyPr/>
          <a:lstStyle/>
          <a:p>
            <a:r>
              <a:rPr lang="en-US" dirty="0"/>
              <a:t>Definitions of the Propositional Logic</a:t>
            </a:r>
          </a:p>
        </p:txBody>
      </p:sp>
      <p:sp>
        <p:nvSpPr>
          <p:cNvPr id="3" name="Content Placeholder 2">
            <a:extLst>
              <a:ext uri="{FF2B5EF4-FFF2-40B4-BE49-F238E27FC236}">
                <a16:creationId xmlns:a16="http://schemas.microsoft.com/office/drawing/2014/main" id="{460C29E4-84C2-9EF7-5A0A-ECB2C1943019}"/>
              </a:ext>
            </a:extLst>
          </p:cNvPr>
          <p:cNvSpPr>
            <a:spLocks noGrp="1"/>
          </p:cNvSpPr>
          <p:nvPr>
            <p:ph idx="1"/>
          </p:nvPr>
        </p:nvSpPr>
        <p:spPr>
          <a:xfrm>
            <a:off x="291600" y="662399"/>
            <a:ext cx="8520600" cy="4340253"/>
          </a:xfrm>
        </p:spPr>
        <p:txBody>
          <a:bodyPr/>
          <a:lstStyle/>
          <a:p>
            <a:r>
              <a:rPr lang="en-US" dirty="0"/>
              <a:t>The definition of propositional logic varies depending on whether it is approached linguistically or as a mathematical structure.</a:t>
            </a:r>
          </a:p>
          <a:p>
            <a:r>
              <a:rPr lang="en-US" dirty="0"/>
              <a:t>Informally, it is the study of how simple statements are combined to form compound ones and how the truth of those compound statements depends on their constituent parts.</a:t>
            </a:r>
          </a:p>
          <a:p>
            <a:r>
              <a:rPr lang="en-US" dirty="0"/>
              <a:t>It doesn't care about the content of the statements but only cares about their structures and their truth values (whether the statement is true or false).</a:t>
            </a:r>
          </a:p>
          <a:p>
            <a:r>
              <a:rPr lang="en-US" dirty="0"/>
              <a:t>.</a:t>
            </a:r>
          </a:p>
        </p:txBody>
      </p:sp>
    </p:spTree>
    <p:extLst>
      <p:ext uri="{BB962C8B-B14F-4D97-AF65-F5344CB8AC3E}">
        <p14:creationId xmlns:p14="http://schemas.microsoft.com/office/powerpoint/2010/main" val="35362540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54A218-FD4A-7461-49D0-63BABCB948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AC72D7-BA15-FEB0-6460-93A3CF3F8CA3}"/>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42D57EC9-F3C7-5751-3E93-84874402AE7F}"/>
              </a:ext>
            </a:extLst>
          </p:cNvPr>
          <p:cNvSpPr>
            <a:spLocks noGrp="1"/>
          </p:cNvSpPr>
          <p:nvPr>
            <p:ph idx="1"/>
          </p:nvPr>
        </p:nvSpPr>
        <p:spPr>
          <a:xfrm>
            <a:off x="226708" y="401680"/>
            <a:ext cx="8520600" cy="4593926"/>
          </a:xfrm>
        </p:spPr>
        <p:txBody>
          <a:bodyPr/>
          <a:lstStyle/>
          <a:p>
            <a:r>
              <a:rPr lang="en-US" dirty="0"/>
              <a:t>Formally, propositional logic is a formal system consisting of a language of symbols(syntax), a set of rules for forming the symbols or well-formed formulas (WFFs), and a set of semantics for determining truth values of those formulas.</a:t>
            </a:r>
          </a:p>
          <a:p>
            <a:r>
              <a:rPr lang="en-US" dirty="0"/>
              <a:t>The syntax of a logic defines objects of the language, which are properly called well-formed formulae (</a:t>
            </a:r>
            <a:r>
              <a:rPr lang="en-US" dirty="0" err="1"/>
              <a:t>wff</a:t>
            </a:r>
            <a:r>
              <a:rPr lang="en-US" dirty="0"/>
              <a:t>). </a:t>
            </a:r>
          </a:p>
          <a:p>
            <a:r>
              <a:rPr lang="en-US" dirty="0"/>
              <a:t>Syntax consists of propositional variables (propositions) and logical connectives.</a:t>
            </a:r>
          </a:p>
          <a:p>
            <a:r>
              <a:rPr lang="en-US" dirty="0"/>
              <a:t>The semantics of a logic associate each formula with a meaning.</a:t>
            </a:r>
          </a:p>
        </p:txBody>
      </p:sp>
    </p:spTree>
    <p:extLst>
      <p:ext uri="{BB962C8B-B14F-4D97-AF65-F5344CB8AC3E}">
        <p14:creationId xmlns:p14="http://schemas.microsoft.com/office/powerpoint/2010/main" val="20947607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A1FB9A-EDDB-5219-543D-666CF7F2F6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331D8F-6E4A-3CE5-5F0D-99442C1F20A3}"/>
              </a:ext>
            </a:extLst>
          </p:cNvPr>
          <p:cNvSpPr>
            <a:spLocks noGrp="1"/>
          </p:cNvSpPr>
          <p:nvPr>
            <p:ph type="title"/>
          </p:nvPr>
        </p:nvSpPr>
        <p:spPr>
          <a:xfrm>
            <a:off x="191954" y="44532"/>
            <a:ext cx="8520600" cy="436160"/>
          </a:xfrm>
        </p:spPr>
        <p:txBody>
          <a:bodyPr/>
          <a:lstStyle/>
          <a:p>
            <a:r>
              <a:rPr lang="en-US" dirty="0"/>
              <a:t>Propositions and propositional variables</a:t>
            </a:r>
          </a:p>
        </p:txBody>
      </p:sp>
      <p:sp>
        <p:nvSpPr>
          <p:cNvPr id="3" name="Content Placeholder 2">
            <a:extLst>
              <a:ext uri="{FF2B5EF4-FFF2-40B4-BE49-F238E27FC236}">
                <a16:creationId xmlns:a16="http://schemas.microsoft.com/office/drawing/2014/main" id="{7096E88C-E0B8-BCA1-FF17-111AD521877F}"/>
              </a:ext>
            </a:extLst>
          </p:cNvPr>
          <p:cNvSpPr>
            <a:spLocks noGrp="1"/>
          </p:cNvSpPr>
          <p:nvPr>
            <p:ph idx="1"/>
          </p:nvPr>
        </p:nvSpPr>
        <p:spPr>
          <a:xfrm>
            <a:off x="98169" y="375184"/>
            <a:ext cx="8520600" cy="3416400"/>
          </a:xfrm>
        </p:spPr>
        <p:txBody>
          <a:bodyPr/>
          <a:lstStyle/>
          <a:p>
            <a:r>
              <a:rPr lang="en-US" dirty="0"/>
              <a:t>A proposition is a declarative statement (a sentence that declares a fact) that is either true or false, but not both.</a:t>
            </a:r>
          </a:p>
          <a:p>
            <a:pPr marL="114300" indent="0">
              <a:buNone/>
            </a:pPr>
            <a:r>
              <a:rPr lang="en-US" dirty="0"/>
              <a:t>Examples of propositions include;</a:t>
            </a:r>
          </a:p>
          <a:p>
            <a:pPr marL="114300" indent="0">
              <a:buNone/>
            </a:pPr>
            <a:r>
              <a:rPr lang="en-US" dirty="0"/>
              <a:t>-Washington, D.C., is the capital of the United States.</a:t>
            </a:r>
          </a:p>
          <a:p>
            <a:pPr marL="114300" indent="0">
              <a:buNone/>
            </a:pPr>
            <a:r>
              <a:rPr lang="en-US" dirty="0"/>
              <a:t>-The sun rises in the East.</a:t>
            </a:r>
          </a:p>
          <a:p>
            <a:pPr marL="114300" indent="0">
              <a:buNone/>
            </a:pPr>
            <a:r>
              <a:rPr lang="en-US" dirty="0"/>
              <a:t>-1 + 1 = 2</a:t>
            </a:r>
          </a:p>
          <a:p>
            <a:pPr marL="114300" indent="0">
              <a:buNone/>
            </a:pPr>
            <a:r>
              <a:rPr lang="en-US" dirty="0"/>
              <a:t>The followings are not propositions;</a:t>
            </a:r>
          </a:p>
          <a:p>
            <a:pPr marL="114300" indent="0">
              <a:buNone/>
            </a:pPr>
            <a:r>
              <a:rPr lang="en-US" dirty="0"/>
              <a:t>-What time is it? (question)</a:t>
            </a:r>
          </a:p>
          <a:p>
            <a:pPr marL="114300" indent="0">
              <a:buNone/>
            </a:pPr>
            <a:r>
              <a:rPr lang="en-US" dirty="0"/>
              <a:t>-Read this carefully.(c0mmand)</a:t>
            </a:r>
          </a:p>
          <a:p>
            <a:pPr marL="114300" indent="0">
              <a:buNone/>
            </a:pPr>
            <a:r>
              <a:rPr lang="en-US" dirty="0"/>
              <a:t>-x + 1 = 2 (depends on value of x)</a:t>
            </a:r>
          </a:p>
          <a:p>
            <a:endParaRPr lang="en-US" dirty="0"/>
          </a:p>
          <a:p>
            <a:endParaRPr lang="en-US" dirty="0"/>
          </a:p>
          <a:p>
            <a:endParaRPr lang="en-US" dirty="0"/>
          </a:p>
        </p:txBody>
      </p:sp>
    </p:spTree>
    <p:extLst>
      <p:ext uri="{BB962C8B-B14F-4D97-AF65-F5344CB8AC3E}">
        <p14:creationId xmlns:p14="http://schemas.microsoft.com/office/powerpoint/2010/main" val="7549251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FBEF74-3E31-A2A5-6E3E-83951BF73A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934B4D-9313-B0EA-FB8A-A24C8460E735}"/>
              </a:ext>
            </a:extLst>
          </p:cNvPr>
          <p:cNvSpPr>
            <a:spLocks noGrp="1"/>
          </p:cNvSpPr>
          <p:nvPr>
            <p:ph type="title"/>
          </p:nvPr>
        </p:nvSpPr>
        <p:spPr>
          <a:xfrm>
            <a:off x="167714" y="0"/>
            <a:ext cx="8520600" cy="436160"/>
          </a:xfrm>
        </p:spPr>
        <p:txBody>
          <a:bodyPr/>
          <a:lstStyle/>
          <a:p>
            <a:r>
              <a:rPr lang="en-US" dirty="0"/>
              <a:t>What makes a statement a proposition?</a:t>
            </a:r>
          </a:p>
        </p:txBody>
      </p:sp>
      <p:sp>
        <p:nvSpPr>
          <p:cNvPr id="3" name="Content Placeholder 2">
            <a:extLst>
              <a:ext uri="{FF2B5EF4-FFF2-40B4-BE49-F238E27FC236}">
                <a16:creationId xmlns:a16="http://schemas.microsoft.com/office/drawing/2014/main" id="{011D040B-BABB-8B45-9CA9-B5EFFEE596BE}"/>
              </a:ext>
            </a:extLst>
          </p:cNvPr>
          <p:cNvSpPr>
            <a:spLocks noGrp="1"/>
          </p:cNvSpPr>
          <p:nvPr>
            <p:ph idx="1"/>
          </p:nvPr>
        </p:nvSpPr>
        <p:spPr>
          <a:xfrm>
            <a:off x="141715" y="436160"/>
            <a:ext cx="8834571" cy="4572392"/>
          </a:xfrm>
        </p:spPr>
        <p:txBody>
          <a:bodyPr/>
          <a:lstStyle/>
          <a:p>
            <a:pPr marL="114300" indent="0">
              <a:buNone/>
            </a:pPr>
            <a:r>
              <a:rPr lang="en-US" dirty="0"/>
              <a:t>Not every sentence qualifies as a proposition in propositional logic. To be considered a “propositional logic statement" it must meet the following criteria;</a:t>
            </a:r>
          </a:p>
          <a:p>
            <a:r>
              <a:rPr lang="en-US" dirty="0"/>
              <a:t>It must be a declarative sentence: It needs to make a clear assertion or claim about something. It shouldn’t be a command or a question.</a:t>
            </a:r>
          </a:p>
          <a:p>
            <a:r>
              <a:rPr lang="en-US" dirty="0"/>
              <a:t>It must have a definite truth value: The statement must be either true or false, but it cannot be both at the same time.</a:t>
            </a:r>
          </a:p>
          <a:p>
            <a:pPr marL="114300" indent="0">
              <a:buNone/>
            </a:pPr>
            <a:r>
              <a:rPr lang="en-US" dirty="0"/>
              <a:t>propositional logic excludes paradoxes and statements that are neither true nor false.</a:t>
            </a:r>
          </a:p>
          <a:p>
            <a:pPr marL="114300" indent="0">
              <a:buNone/>
            </a:pPr>
            <a:endParaRPr lang="en-US" dirty="0"/>
          </a:p>
        </p:txBody>
      </p:sp>
    </p:spTree>
    <p:extLst>
      <p:ext uri="{BB962C8B-B14F-4D97-AF65-F5344CB8AC3E}">
        <p14:creationId xmlns:p14="http://schemas.microsoft.com/office/powerpoint/2010/main" val="41774955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8754AD-C199-233F-AFD9-E518EC035BDE}"/>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45B16E9D-9D1B-8FE4-09AF-72599A8B749E}"/>
              </a:ext>
            </a:extLst>
          </p:cNvPr>
          <p:cNvSpPr>
            <a:spLocks noGrp="1"/>
          </p:cNvSpPr>
          <p:nvPr>
            <p:ph idx="1"/>
          </p:nvPr>
        </p:nvSpPr>
        <p:spPr>
          <a:xfrm>
            <a:off x="85122" y="78363"/>
            <a:ext cx="8520600" cy="4936089"/>
          </a:xfrm>
        </p:spPr>
        <p:txBody>
          <a:bodyPr/>
          <a:lstStyle/>
          <a:p>
            <a:r>
              <a:rPr lang="en-US" dirty="0"/>
              <a:t>Such as questions: "Are you a student?“, commands: "Close the window!" or the sentence “This statement is false”.</a:t>
            </a:r>
          </a:p>
          <a:p>
            <a:r>
              <a:rPr lang="en-US" dirty="0"/>
              <a:t>The reason a statement must be a proposition comes from the requirement for truth-functionality.</a:t>
            </a:r>
          </a:p>
          <a:p>
            <a:r>
              <a:rPr lang="en-US" dirty="0"/>
              <a:t>Propositional logic acts as a truth function, where operators like AND or </a:t>
            </a:r>
            <a:r>
              <a:rPr lang="en-US" dirty="0" err="1"/>
              <a:t>OR</a:t>
            </a:r>
            <a:r>
              <a:rPr lang="en-US" dirty="0"/>
              <a:t> take in truth values as inputs and yield a truth value as an output.</a:t>
            </a:r>
          </a:p>
          <a:p>
            <a:r>
              <a:rPr lang="en-US" dirty="0"/>
              <a:t>If the input (the statement) does not have a truth value, or has both truth values at the same time, the logical operation becomes undefined.</a:t>
            </a:r>
          </a:p>
        </p:txBody>
      </p:sp>
    </p:spTree>
    <p:extLst>
      <p:ext uri="{BB962C8B-B14F-4D97-AF65-F5344CB8AC3E}">
        <p14:creationId xmlns:p14="http://schemas.microsoft.com/office/powerpoint/2010/main" val="21815143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84602B-6983-F17B-DBFA-E39A5A41E7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AC4AAD-D88A-55DE-E8A9-2BA59E815B38}"/>
              </a:ext>
            </a:extLst>
          </p:cNvPr>
          <p:cNvSpPr>
            <a:spLocks noGrp="1"/>
          </p:cNvSpPr>
          <p:nvPr>
            <p:ph type="title"/>
          </p:nvPr>
        </p:nvSpPr>
        <p:spPr>
          <a:xfrm>
            <a:off x="268002" y="53814"/>
            <a:ext cx="8520600" cy="436160"/>
          </a:xfrm>
        </p:spPr>
        <p:txBody>
          <a:bodyPr/>
          <a:lstStyle/>
          <a:p>
            <a:r>
              <a:rPr lang="en-US" dirty="0"/>
              <a:t> Types of propositions</a:t>
            </a:r>
          </a:p>
        </p:txBody>
      </p:sp>
      <p:sp>
        <p:nvSpPr>
          <p:cNvPr id="3" name="Content Placeholder 2">
            <a:extLst>
              <a:ext uri="{FF2B5EF4-FFF2-40B4-BE49-F238E27FC236}">
                <a16:creationId xmlns:a16="http://schemas.microsoft.com/office/drawing/2014/main" id="{F38ABDCE-A6F4-ACEB-2E0A-ECAE85B0300D}"/>
              </a:ext>
            </a:extLst>
          </p:cNvPr>
          <p:cNvSpPr>
            <a:spLocks noGrp="1"/>
          </p:cNvSpPr>
          <p:nvPr>
            <p:ph idx="1"/>
          </p:nvPr>
        </p:nvSpPr>
        <p:spPr>
          <a:xfrm>
            <a:off x="215363" y="401680"/>
            <a:ext cx="8520600" cy="4688006"/>
          </a:xfrm>
        </p:spPr>
        <p:txBody>
          <a:bodyPr/>
          <a:lstStyle/>
          <a:p>
            <a:r>
              <a:rPr lang="en-US" dirty="0"/>
              <a:t>There are two types of propositions; atomic propositions and compound propositions.</a:t>
            </a:r>
          </a:p>
          <a:p>
            <a:r>
              <a:rPr lang="en-US" dirty="0"/>
              <a:t>An atomic proposition is one that cannot be further decomposed into smaller statements.</a:t>
            </a:r>
          </a:p>
          <a:p>
            <a:r>
              <a:rPr lang="en-US" dirty="0"/>
              <a:t>Its truth value does not depend on the truth value of any other proposition.</a:t>
            </a:r>
          </a:p>
          <a:p>
            <a:r>
              <a:rPr lang="en-US" dirty="0"/>
              <a:t>They are usually represented by small letters p, q, r…</a:t>
            </a:r>
          </a:p>
          <a:p>
            <a:r>
              <a:rPr lang="en-US" dirty="0"/>
              <a:t>Examples of atomic propositions.</a:t>
            </a:r>
          </a:p>
          <a:p>
            <a:pPr marL="114300" indent="0">
              <a:buNone/>
            </a:pPr>
            <a:r>
              <a:rPr lang="en-US" dirty="0"/>
              <a:t>  -Blue is my favorite </a:t>
            </a:r>
            <a:r>
              <a:rPr lang="en-US" dirty="0" err="1"/>
              <a:t>colour</a:t>
            </a:r>
            <a:r>
              <a:rPr lang="en-US" dirty="0"/>
              <a:t>.</a:t>
            </a:r>
          </a:p>
          <a:p>
            <a:pPr marL="114300" indent="0">
              <a:buNone/>
            </a:pPr>
            <a:r>
              <a:rPr lang="en-US" dirty="0"/>
              <a:t>  -Today is Wednesday.</a:t>
            </a:r>
          </a:p>
          <a:p>
            <a:pPr marL="114300" indent="0">
              <a:buNone/>
            </a:pPr>
            <a:r>
              <a:rPr lang="en-US" dirty="0"/>
              <a:t>  -20 is an odd prime.</a:t>
            </a:r>
          </a:p>
        </p:txBody>
      </p:sp>
    </p:spTree>
    <p:extLst>
      <p:ext uri="{BB962C8B-B14F-4D97-AF65-F5344CB8AC3E}">
        <p14:creationId xmlns:p14="http://schemas.microsoft.com/office/powerpoint/2010/main" val="35997830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F158A-CBBF-65E1-E954-AB6AB28DAA41}"/>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466C3AAA-FA05-4746-EA1D-B78B7942D7A1}"/>
              </a:ext>
            </a:extLst>
          </p:cNvPr>
          <p:cNvSpPr>
            <a:spLocks noGrp="1"/>
          </p:cNvSpPr>
          <p:nvPr>
            <p:ph idx="1"/>
          </p:nvPr>
        </p:nvSpPr>
        <p:spPr>
          <a:xfrm>
            <a:off x="291600" y="453643"/>
            <a:ext cx="8520600" cy="4354925"/>
          </a:xfrm>
        </p:spPr>
        <p:txBody>
          <a:bodyPr/>
          <a:lstStyle/>
          <a:p>
            <a:pPr marL="114300" indent="0">
              <a:buNone/>
            </a:pPr>
            <a:r>
              <a:rPr lang="en-US" dirty="0"/>
              <a:t>A compound propositions is formed by combining two or more propositions using logical connectives.</a:t>
            </a:r>
          </a:p>
          <a:p>
            <a:pPr marL="114300" indent="0">
              <a:buNone/>
            </a:pPr>
            <a:r>
              <a:rPr lang="en-US" dirty="0"/>
              <a:t>Its truth value depends on the truth values of the propositions it contains.</a:t>
            </a:r>
          </a:p>
          <a:p>
            <a:pPr marL="114300" indent="0">
              <a:buNone/>
            </a:pPr>
            <a:r>
              <a:rPr lang="en-US" dirty="0"/>
              <a:t>They are usually represented by capital letters P, Q, R…</a:t>
            </a:r>
          </a:p>
          <a:p>
            <a:pPr marL="114300" indent="0">
              <a:buNone/>
            </a:pPr>
            <a:r>
              <a:rPr lang="en-US" dirty="0"/>
              <a:t>Examples; </a:t>
            </a:r>
          </a:p>
          <a:p>
            <a:pPr marL="114300" indent="0">
              <a:buNone/>
            </a:pPr>
            <a:r>
              <a:rPr lang="en-US" dirty="0"/>
              <a:t>-If Mary learns discrete mathematics, then she will find                             a good job.</a:t>
            </a:r>
          </a:p>
          <a:p>
            <a:pPr marL="114300" indent="0">
              <a:buNone/>
            </a:pPr>
            <a:r>
              <a:rPr lang="en-US" dirty="0"/>
              <a:t>-Today is Friday and it is raining today.</a:t>
            </a:r>
          </a:p>
          <a:p>
            <a:pPr marL="114300" indent="0">
              <a:buNone/>
            </a:pPr>
            <a:r>
              <a:rPr lang="en-US" dirty="0"/>
              <a:t>-If 2 + 2 = 4, then 7 x 3 = 19</a:t>
            </a:r>
          </a:p>
          <a:p>
            <a:endParaRPr lang="en-US" dirty="0"/>
          </a:p>
        </p:txBody>
      </p:sp>
    </p:spTree>
    <p:extLst>
      <p:ext uri="{BB962C8B-B14F-4D97-AF65-F5344CB8AC3E}">
        <p14:creationId xmlns:p14="http://schemas.microsoft.com/office/powerpoint/2010/main" val="36658518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2A0434-42A7-B78D-AFB1-DAB1674F5B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7BFA10-3283-B689-23D4-23724CBECAAD}"/>
              </a:ext>
            </a:extLst>
          </p:cNvPr>
          <p:cNvSpPr>
            <a:spLocks noGrp="1"/>
          </p:cNvSpPr>
          <p:nvPr>
            <p:ph type="title"/>
          </p:nvPr>
        </p:nvSpPr>
        <p:spPr>
          <a:xfrm>
            <a:off x="250569" y="0"/>
            <a:ext cx="8520600" cy="436160"/>
          </a:xfrm>
        </p:spPr>
        <p:txBody>
          <a:bodyPr/>
          <a:lstStyle/>
          <a:p>
            <a:r>
              <a:rPr lang="en-US" dirty="0"/>
              <a:t>Propositional variables</a:t>
            </a:r>
          </a:p>
        </p:txBody>
      </p:sp>
      <p:sp>
        <p:nvSpPr>
          <p:cNvPr id="3" name="Content Placeholder 2">
            <a:extLst>
              <a:ext uri="{FF2B5EF4-FFF2-40B4-BE49-F238E27FC236}">
                <a16:creationId xmlns:a16="http://schemas.microsoft.com/office/drawing/2014/main" id="{B47E5D7C-F56E-4DD1-734B-E613A83F858A}"/>
              </a:ext>
            </a:extLst>
          </p:cNvPr>
          <p:cNvSpPr>
            <a:spLocks noGrp="1"/>
          </p:cNvSpPr>
          <p:nvPr>
            <p:ph idx="1"/>
          </p:nvPr>
        </p:nvSpPr>
        <p:spPr>
          <a:xfrm>
            <a:off x="291600" y="401680"/>
            <a:ext cx="8520600" cy="4662689"/>
          </a:xfrm>
        </p:spPr>
        <p:txBody>
          <a:bodyPr/>
          <a:lstStyle/>
          <a:p>
            <a:r>
              <a:rPr lang="en-US" dirty="0"/>
              <a:t>Rather than writing out propositions in full, statements are abstracted into propositional variables.</a:t>
            </a:r>
          </a:p>
          <a:p>
            <a:r>
              <a:rPr lang="en-US" dirty="0"/>
              <a:t>These variables, usually denoted by lower-case letters (p, q, r, s…), serve as placeholders for any declarative statement.</a:t>
            </a:r>
          </a:p>
          <a:p>
            <a:r>
              <a:rPr lang="en-US" dirty="0"/>
              <a:t>If we do this, we must define what we mean by writing  Let p be “Michael’s PC runs  on Linux”.</a:t>
            </a:r>
          </a:p>
          <a:p>
            <a:r>
              <a:rPr lang="en-US" dirty="0"/>
              <a:t>Propositional variables help us replace long sentences with simple logic symbols.</a:t>
            </a:r>
          </a:p>
          <a:p>
            <a:r>
              <a:rPr lang="en-US" dirty="0"/>
              <a:t>They also eliminate ambiguity by enabling us to use  logical symbols which is easier to read.</a:t>
            </a:r>
          </a:p>
        </p:txBody>
      </p:sp>
    </p:spTree>
    <p:extLst>
      <p:ext uri="{BB962C8B-B14F-4D97-AF65-F5344CB8AC3E}">
        <p14:creationId xmlns:p14="http://schemas.microsoft.com/office/powerpoint/2010/main" val="12395084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9DFB12-2BE6-4012-9102-42C8073130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C0CE3D-6656-A469-1FE2-E7CFA6044393}"/>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10AA0A9F-B607-534C-08A3-A14CECF19882}"/>
              </a:ext>
            </a:extLst>
          </p:cNvPr>
          <p:cNvSpPr>
            <a:spLocks noGrp="1"/>
          </p:cNvSpPr>
          <p:nvPr>
            <p:ph idx="1"/>
          </p:nvPr>
        </p:nvSpPr>
        <p:spPr>
          <a:xfrm>
            <a:off x="291600" y="532614"/>
            <a:ext cx="8520600" cy="4297500"/>
          </a:xfrm>
        </p:spPr>
        <p:txBody>
          <a:bodyPr/>
          <a:lstStyle/>
          <a:p>
            <a:r>
              <a:rPr lang="en-US" dirty="0"/>
              <a:t>Example , in the compound statement "If it is </a:t>
            </a:r>
            <a:r>
              <a:rPr lang="en-US" dirty="0" err="1"/>
              <a:t>saturday</a:t>
            </a:r>
            <a:r>
              <a:rPr lang="en-US" dirty="0"/>
              <a:t> and the weather is clear, then we will go to the event“ If we let the proposition variables be:</a:t>
            </a:r>
          </a:p>
          <a:p>
            <a:pPr marL="114300" indent="0">
              <a:buNone/>
            </a:pPr>
            <a:r>
              <a:rPr lang="en-US" dirty="0"/>
              <a:t>		p = “it is </a:t>
            </a:r>
            <a:r>
              <a:rPr lang="en-US" dirty="0" err="1"/>
              <a:t>saturday</a:t>
            </a:r>
            <a:r>
              <a:rPr lang="en-US" dirty="0"/>
              <a:t>” </a:t>
            </a:r>
          </a:p>
          <a:p>
            <a:pPr marL="114300" indent="0">
              <a:buNone/>
            </a:pPr>
            <a:r>
              <a:rPr lang="en-US" dirty="0"/>
              <a:t>		q = “the weather is clear” </a:t>
            </a:r>
          </a:p>
          <a:p>
            <a:pPr marL="114300" indent="0">
              <a:buNone/>
            </a:pPr>
            <a:r>
              <a:rPr lang="en-US" dirty="0"/>
              <a:t>		r = “we go to the event”</a:t>
            </a:r>
          </a:p>
          <a:p>
            <a:pPr marL="114300" indent="0">
              <a:buNone/>
            </a:pPr>
            <a:r>
              <a:rPr lang="en-US" dirty="0"/>
              <a:t>   We could write the statement in symbolic form as </a:t>
            </a:r>
          </a:p>
          <a:p>
            <a:pPr marL="114300" indent="0">
              <a:buNone/>
            </a:pPr>
            <a:r>
              <a:rPr lang="en-US" dirty="0"/>
              <a:t> 			(p ∧ q) ⇒ r</a:t>
            </a:r>
          </a:p>
          <a:p>
            <a:pPr marL="114300" indent="0">
              <a:buNone/>
            </a:pPr>
            <a:r>
              <a:rPr lang="en-US" dirty="0"/>
              <a:t>This statement is true unless in the case when both p and q are true and r is false.</a:t>
            </a:r>
          </a:p>
          <a:p>
            <a:endParaRPr lang="en-US" dirty="0"/>
          </a:p>
        </p:txBody>
      </p:sp>
    </p:spTree>
    <p:extLst>
      <p:ext uri="{BB962C8B-B14F-4D97-AF65-F5344CB8AC3E}">
        <p14:creationId xmlns:p14="http://schemas.microsoft.com/office/powerpoint/2010/main" val="15539181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F5784F-1068-29D3-C352-694455B84EC3}"/>
              </a:ext>
            </a:extLst>
          </p:cNvPr>
          <p:cNvSpPr>
            <a:spLocks noGrp="1"/>
          </p:cNvSpPr>
          <p:nvPr>
            <p:ph type="title"/>
          </p:nvPr>
        </p:nvSpPr>
        <p:spPr/>
        <p:txBody>
          <a:bodyPr/>
          <a:lstStyle/>
          <a:p>
            <a:r>
              <a:rPr lang="en-US" dirty="0"/>
              <a:t>Truth table</a:t>
            </a:r>
          </a:p>
        </p:txBody>
      </p:sp>
      <p:sp>
        <p:nvSpPr>
          <p:cNvPr id="3" name="Content Placeholder 2">
            <a:extLst>
              <a:ext uri="{FF2B5EF4-FFF2-40B4-BE49-F238E27FC236}">
                <a16:creationId xmlns:a16="http://schemas.microsoft.com/office/drawing/2014/main" id="{A4100DCD-A450-35F3-AAC5-B82CFFD7C8A3}"/>
              </a:ext>
            </a:extLst>
          </p:cNvPr>
          <p:cNvSpPr>
            <a:spLocks noGrp="1"/>
          </p:cNvSpPr>
          <p:nvPr>
            <p:ph idx="1"/>
          </p:nvPr>
        </p:nvSpPr>
        <p:spPr>
          <a:xfrm>
            <a:off x="226707" y="584692"/>
            <a:ext cx="8520600" cy="4459256"/>
          </a:xfrm>
        </p:spPr>
        <p:txBody>
          <a:bodyPr/>
          <a:lstStyle/>
          <a:p>
            <a:r>
              <a:rPr lang="en-US" dirty="0"/>
              <a:t>Is the table that shows all the possible combinations of the propositions joined together by logical connectives to form the given compound statement.</a:t>
            </a:r>
          </a:p>
          <a:p>
            <a:r>
              <a:rPr lang="en-US" dirty="0"/>
              <a:t>It helps us to know the truth value of a proposition in all possible scenarios.</a:t>
            </a:r>
          </a:p>
          <a:p>
            <a:r>
              <a:rPr lang="en-US" dirty="0"/>
              <a:t>Example; The truth table of p ∧ q </a:t>
            </a:r>
          </a:p>
          <a:p>
            <a:endParaRPr lang="en-US" dirty="0"/>
          </a:p>
        </p:txBody>
      </p:sp>
      <p:graphicFrame>
        <p:nvGraphicFramePr>
          <p:cNvPr id="4" name="Table 3">
            <a:extLst>
              <a:ext uri="{FF2B5EF4-FFF2-40B4-BE49-F238E27FC236}">
                <a16:creationId xmlns:a16="http://schemas.microsoft.com/office/drawing/2014/main" id="{E74EA658-6E75-B5D2-9164-0554E365F0BE}"/>
              </a:ext>
            </a:extLst>
          </p:cNvPr>
          <p:cNvGraphicFramePr>
            <a:graphicFrameLocks noGrp="1"/>
          </p:cNvGraphicFramePr>
          <p:nvPr>
            <p:extLst>
              <p:ext uri="{D42A27DB-BD31-4B8C-83A1-F6EECF244321}">
                <p14:modId xmlns:p14="http://schemas.microsoft.com/office/powerpoint/2010/main" val="2449207510"/>
              </p:ext>
            </p:extLst>
          </p:nvPr>
        </p:nvGraphicFramePr>
        <p:xfrm>
          <a:off x="2642911" y="3277051"/>
          <a:ext cx="3563211" cy="1595815"/>
        </p:xfrm>
        <a:graphic>
          <a:graphicData uri="http://schemas.openxmlformats.org/drawingml/2006/table">
            <a:tbl>
              <a:tblPr firstRow="1" bandRow="1">
                <a:tableStyleId>{5940675A-B579-460E-94D1-54222C63F5DA}</a:tableStyleId>
              </a:tblPr>
              <a:tblGrid>
                <a:gridCol w="1187737">
                  <a:extLst>
                    <a:ext uri="{9D8B030D-6E8A-4147-A177-3AD203B41FA5}">
                      <a16:colId xmlns:a16="http://schemas.microsoft.com/office/drawing/2014/main" val="150295333"/>
                    </a:ext>
                  </a:extLst>
                </a:gridCol>
                <a:gridCol w="1187737">
                  <a:extLst>
                    <a:ext uri="{9D8B030D-6E8A-4147-A177-3AD203B41FA5}">
                      <a16:colId xmlns:a16="http://schemas.microsoft.com/office/drawing/2014/main" val="1509240143"/>
                    </a:ext>
                  </a:extLst>
                </a:gridCol>
                <a:gridCol w="1187737">
                  <a:extLst>
                    <a:ext uri="{9D8B030D-6E8A-4147-A177-3AD203B41FA5}">
                      <a16:colId xmlns:a16="http://schemas.microsoft.com/office/drawing/2014/main" val="817584781"/>
                    </a:ext>
                  </a:extLst>
                </a:gridCol>
              </a:tblGrid>
              <a:tr h="319163">
                <a:tc>
                  <a:txBody>
                    <a:bodyPr/>
                    <a:lstStyle/>
                    <a:p>
                      <a:pPr algn="ctr"/>
                      <a:r>
                        <a:rPr lang="en-US" dirty="0"/>
                        <a:t>p</a:t>
                      </a:r>
                    </a:p>
                  </a:txBody>
                  <a:tcPr>
                    <a:solidFill>
                      <a:schemeClr val="tx1">
                        <a:lumMod val="50000"/>
                        <a:lumOff val="50000"/>
                      </a:schemeClr>
                    </a:solidFill>
                  </a:tcPr>
                </a:tc>
                <a:tc>
                  <a:txBody>
                    <a:bodyPr/>
                    <a:lstStyle/>
                    <a:p>
                      <a:pPr algn="ctr"/>
                      <a:r>
                        <a:rPr lang="en-US" dirty="0"/>
                        <a:t>q</a:t>
                      </a:r>
                    </a:p>
                  </a:txBody>
                  <a:tcPr>
                    <a:solidFill>
                      <a:schemeClr val="tx1">
                        <a:lumMod val="50000"/>
                        <a:lumOff val="50000"/>
                      </a:schemeClr>
                    </a:solidFill>
                  </a:tcPr>
                </a:tc>
                <a:tc>
                  <a:txBody>
                    <a:bodyPr/>
                    <a:lstStyle/>
                    <a:p>
                      <a:pPr algn="ctr"/>
                      <a:r>
                        <a:rPr lang="en-US" dirty="0"/>
                        <a:t>p ∧ q </a:t>
                      </a:r>
                    </a:p>
                  </a:txBody>
                  <a:tcPr>
                    <a:solidFill>
                      <a:schemeClr val="tx1">
                        <a:lumMod val="50000"/>
                        <a:lumOff val="50000"/>
                      </a:schemeClr>
                    </a:solidFill>
                  </a:tcPr>
                </a:tc>
                <a:extLst>
                  <a:ext uri="{0D108BD9-81ED-4DB2-BD59-A6C34878D82A}">
                    <a16:rowId xmlns:a16="http://schemas.microsoft.com/office/drawing/2014/main" val="1672847873"/>
                  </a:ext>
                </a:extLst>
              </a:tr>
              <a:tr h="319163">
                <a:tc>
                  <a:txBody>
                    <a:bodyPr/>
                    <a:lstStyle/>
                    <a:p>
                      <a:pPr algn="ctr"/>
                      <a:r>
                        <a:rPr lang="en-US" dirty="0"/>
                        <a:t>T</a:t>
                      </a:r>
                    </a:p>
                  </a:txBody>
                  <a:tcPr/>
                </a:tc>
                <a:tc>
                  <a:txBody>
                    <a:bodyPr/>
                    <a:lstStyle/>
                    <a:p>
                      <a:pPr algn="ctr"/>
                      <a:r>
                        <a:rPr lang="en-US" dirty="0"/>
                        <a:t>T</a:t>
                      </a:r>
                    </a:p>
                  </a:txBody>
                  <a:tcPr/>
                </a:tc>
                <a:tc>
                  <a:txBody>
                    <a:bodyPr/>
                    <a:lstStyle/>
                    <a:p>
                      <a:pPr algn="ctr"/>
                      <a:r>
                        <a:rPr lang="en-US" dirty="0"/>
                        <a:t>T</a:t>
                      </a:r>
                    </a:p>
                  </a:txBody>
                  <a:tcPr/>
                </a:tc>
                <a:extLst>
                  <a:ext uri="{0D108BD9-81ED-4DB2-BD59-A6C34878D82A}">
                    <a16:rowId xmlns:a16="http://schemas.microsoft.com/office/drawing/2014/main" val="3108369574"/>
                  </a:ext>
                </a:extLst>
              </a:tr>
              <a:tr h="319163">
                <a:tc>
                  <a:txBody>
                    <a:bodyPr/>
                    <a:lstStyle/>
                    <a:p>
                      <a:pPr algn="ctr"/>
                      <a:r>
                        <a:rPr lang="en-US" dirty="0"/>
                        <a:t>T</a:t>
                      </a:r>
                    </a:p>
                  </a:txBody>
                  <a:tcPr/>
                </a:tc>
                <a:tc>
                  <a:txBody>
                    <a:bodyPr/>
                    <a:lstStyle/>
                    <a:p>
                      <a:pPr algn="ctr"/>
                      <a:r>
                        <a:rPr lang="en-US" dirty="0"/>
                        <a:t>F</a:t>
                      </a:r>
                    </a:p>
                  </a:txBody>
                  <a:tcPr/>
                </a:tc>
                <a:tc>
                  <a:txBody>
                    <a:bodyPr/>
                    <a:lstStyle/>
                    <a:p>
                      <a:pPr algn="ctr"/>
                      <a:r>
                        <a:rPr lang="en-US" dirty="0"/>
                        <a:t>F</a:t>
                      </a:r>
                    </a:p>
                  </a:txBody>
                  <a:tcPr/>
                </a:tc>
                <a:extLst>
                  <a:ext uri="{0D108BD9-81ED-4DB2-BD59-A6C34878D82A}">
                    <a16:rowId xmlns:a16="http://schemas.microsoft.com/office/drawing/2014/main" val="501695671"/>
                  </a:ext>
                </a:extLst>
              </a:tr>
              <a:tr h="319163">
                <a:tc>
                  <a:txBody>
                    <a:bodyPr/>
                    <a:lstStyle/>
                    <a:p>
                      <a:pPr algn="ctr"/>
                      <a:r>
                        <a:rPr lang="en-US" dirty="0"/>
                        <a:t>F</a:t>
                      </a:r>
                    </a:p>
                  </a:txBody>
                  <a:tcPr/>
                </a:tc>
                <a:tc>
                  <a:txBody>
                    <a:bodyPr/>
                    <a:lstStyle/>
                    <a:p>
                      <a:pPr algn="ctr"/>
                      <a:r>
                        <a:rPr lang="en-US" dirty="0"/>
                        <a:t>T</a:t>
                      </a:r>
                    </a:p>
                  </a:txBody>
                  <a:tcPr/>
                </a:tc>
                <a:tc>
                  <a:txBody>
                    <a:bodyPr/>
                    <a:lstStyle/>
                    <a:p>
                      <a:pPr algn="ctr"/>
                      <a:r>
                        <a:rPr lang="en-US" dirty="0"/>
                        <a:t>F</a:t>
                      </a:r>
                    </a:p>
                  </a:txBody>
                  <a:tcPr/>
                </a:tc>
                <a:extLst>
                  <a:ext uri="{0D108BD9-81ED-4DB2-BD59-A6C34878D82A}">
                    <a16:rowId xmlns:a16="http://schemas.microsoft.com/office/drawing/2014/main" val="3566959605"/>
                  </a:ext>
                </a:extLst>
              </a:tr>
              <a:tr h="319163">
                <a:tc>
                  <a:txBody>
                    <a:bodyPr/>
                    <a:lstStyle/>
                    <a:p>
                      <a:pPr algn="ctr"/>
                      <a:r>
                        <a:rPr lang="en-US" dirty="0"/>
                        <a:t>F</a:t>
                      </a:r>
                    </a:p>
                  </a:txBody>
                  <a:tcPr/>
                </a:tc>
                <a:tc>
                  <a:txBody>
                    <a:bodyPr/>
                    <a:lstStyle/>
                    <a:p>
                      <a:pPr algn="ctr"/>
                      <a:r>
                        <a:rPr lang="en-US" dirty="0"/>
                        <a:t>F</a:t>
                      </a:r>
                    </a:p>
                  </a:txBody>
                  <a:tcPr/>
                </a:tc>
                <a:tc>
                  <a:txBody>
                    <a:bodyPr/>
                    <a:lstStyle/>
                    <a:p>
                      <a:pPr algn="ctr"/>
                      <a:r>
                        <a:rPr lang="en-US" dirty="0"/>
                        <a:t>F</a:t>
                      </a:r>
                    </a:p>
                  </a:txBody>
                  <a:tcPr/>
                </a:tc>
                <a:extLst>
                  <a:ext uri="{0D108BD9-81ED-4DB2-BD59-A6C34878D82A}">
                    <a16:rowId xmlns:a16="http://schemas.microsoft.com/office/drawing/2014/main" val="3714282614"/>
                  </a:ext>
                </a:extLst>
              </a:tr>
            </a:tbl>
          </a:graphicData>
        </a:graphic>
      </p:graphicFrame>
    </p:spTree>
    <p:extLst>
      <p:ext uri="{BB962C8B-B14F-4D97-AF65-F5344CB8AC3E}">
        <p14:creationId xmlns:p14="http://schemas.microsoft.com/office/powerpoint/2010/main" val="33040954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4CFBAB-8A32-E599-B5FE-48DB26E4C3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2D074D-CA7E-2763-D942-CD0645B5733F}"/>
              </a:ext>
            </a:extLst>
          </p:cNvPr>
          <p:cNvSpPr>
            <a:spLocks noGrp="1"/>
          </p:cNvSpPr>
          <p:nvPr>
            <p:ph type="title"/>
          </p:nvPr>
        </p:nvSpPr>
        <p:spPr>
          <a:xfrm>
            <a:off x="291600" y="89210"/>
            <a:ext cx="8520600" cy="436160"/>
          </a:xfrm>
        </p:spPr>
        <p:txBody>
          <a:bodyPr/>
          <a:lstStyle/>
          <a:p>
            <a:r>
              <a:rPr lang="en-US" dirty="0"/>
              <a:t>Logical connectives</a:t>
            </a:r>
          </a:p>
        </p:txBody>
      </p:sp>
      <p:sp>
        <p:nvSpPr>
          <p:cNvPr id="3" name="Content Placeholder 2">
            <a:extLst>
              <a:ext uri="{FF2B5EF4-FFF2-40B4-BE49-F238E27FC236}">
                <a16:creationId xmlns:a16="http://schemas.microsoft.com/office/drawing/2014/main" id="{B06389F2-C2B5-44B3-CF82-42AB632CDF16}"/>
              </a:ext>
            </a:extLst>
          </p:cNvPr>
          <p:cNvSpPr>
            <a:spLocks noGrp="1"/>
          </p:cNvSpPr>
          <p:nvPr>
            <p:ph idx="1"/>
          </p:nvPr>
        </p:nvSpPr>
        <p:spPr>
          <a:xfrm>
            <a:off x="238506" y="573909"/>
            <a:ext cx="8520600" cy="4387448"/>
          </a:xfrm>
        </p:spPr>
        <p:txBody>
          <a:bodyPr/>
          <a:lstStyle/>
          <a:p>
            <a:r>
              <a:rPr lang="en-US" dirty="0"/>
              <a:t>These are the logical symbols used to combine one or more propositions into new compound propositions.</a:t>
            </a:r>
          </a:p>
          <a:p>
            <a:r>
              <a:rPr lang="en-US" dirty="0"/>
              <a:t>They are also known as propositional operators.</a:t>
            </a:r>
          </a:p>
          <a:p>
            <a:r>
              <a:rPr lang="en-US" dirty="0"/>
              <a:t>They are the symbols used to connect variables and modify their truth values.</a:t>
            </a:r>
          </a:p>
          <a:p>
            <a:r>
              <a:rPr lang="en-US" dirty="0"/>
              <a:t>There are two main types of connectives: unary operators, which operate on a single proposition, such as negation( ∼ ) and binary operators, which join two or more propositions, such as conjunction( ∧ ) and disjunction( ∨ ).</a:t>
            </a:r>
          </a:p>
        </p:txBody>
      </p:sp>
    </p:spTree>
    <p:extLst>
      <p:ext uri="{BB962C8B-B14F-4D97-AF65-F5344CB8AC3E}">
        <p14:creationId xmlns:p14="http://schemas.microsoft.com/office/powerpoint/2010/main" val="27576513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76563A-F17E-87BE-A7BF-FB5479499BE9}"/>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47ED1965-0CB4-DB61-FA96-9D5F2FABDCCE}"/>
              </a:ext>
            </a:extLst>
          </p:cNvPr>
          <p:cNvSpPr>
            <a:spLocks noGrp="1"/>
          </p:cNvSpPr>
          <p:nvPr>
            <p:ph idx="1"/>
          </p:nvPr>
        </p:nvSpPr>
        <p:spPr>
          <a:xfrm>
            <a:off x="197210" y="360712"/>
            <a:ext cx="8520600" cy="4599188"/>
          </a:xfrm>
        </p:spPr>
        <p:txBody>
          <a:bodyPr/>
          <a:lstStyle/>
          <a:p>
            <a:r>
              <a:rPr lang="en-US" dirty="0"/>
              <a:t>Examples of logical connectives include; </a:t>
            </a:r>
          </a:p>
          <a:p>
            <a:pPr marL="114300" indent="0">
              <a:buNone/>
            </a:pPr>
            <a:r>
              <a:rPr lang="en-US" dirty="0"/>
              <a:t>    -Negation( ∼ ) </a:t>
            </a:r>
            <a:endParaRPr lang="en-TZ" dirty="0"/>
          </a:p>
          <a:p>
            <a:pPr marL="114300" indent="0">
              <a:buNone/>
            </a:pPr>
            <a:r>
              <a:rPr lang="en-US" dirty="0"/>
              <a:t>    -Conjunction( ∧ )</a:t>
            </a:r>
            <a:endParaRPr lang="en-TZ" dirty="0"/>
          </a:p>
          <a:p>
            <a:pPr marL="114300" indent="0">
              <a:buNone/>
            </a:pPr>
            <a:r>
              <a:rPr lang="en-US" dirty="0"/>
              <a:t>    -Disjunction( ∨ )</a:t>
            </a:r>
            <a:endParaRPr lang="en-TZ" dirty="0"/>
          </a:p>
          <a:p>
            <a:pPr marL="114300" indent="0">
              <a:buNone/>
            </a:pPr>
            <a:r>
              <a:rPr lang="en-US" dirty="0"/>
              <a:t>    -Implication( ⇒ )</a:t>
            </a:r>
            <a:endParaRPr lang="en-TZ" dirty="0"/>
          </a:p>
          <a:p>
            <a:pPr marL="114300" indent="0">
              <a:buNone/>
            </a:pPr>
            <a:r>
              <a:rPr lang="en-US" dirty="0"/>
              <a:t>    -Double implication( ⇔ ).</a:t>
            </a:r>
          </a:p>
        </p:txBody>
      </p:sp>
    </p:spTree>
    <p:extLst>
      <p:ext uri="{BB962C8B-B14F-4D97-AF65-F5344CB8AC3E}">
        <p14:creationId xmlns:p14="http://schemas.microsoft.com/office/powerpoint/2010/main" val="37832329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F9D628-3EA2-F4E9-10B3-3F96C29BA9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8DE104-6157-6B10-4FDF-0E4EB493271F}"/>
              </a:ext>
            </a:extLst>
          </p:cNvPr>
          <p:cNvSpPr>
            <a:spLocks noGrp="1"/>
          </p:cNvSpPr>
          <p:nvPr>
            <p:ph type="title"/>
          </p:nvPr>
        </p:nvSpPr>
        <p:spPr>
          <a:xfrm>
            <a:off x="311700" y="17782"/>
            <a:ext cx="8520600" cy="436160"/>
          </a:xfrm>
        </p:spPr>
        <p:txBody>
          <a:bodyPr/>
          <a:lstStyle/>
          <a:p>
            <a:r>
              <a:rPr lang="en-US" dirty="0"/>
              <a:t>Negation</a:t>
            </a:r>
          </a:p>
        </p:txBody>
      </p:sp>
      <p:sp>
        <p:nvSpPr>
          <p:cNvPr id="3" name="Content Placeholder 2">
            <a:extLst>
              <a:ext uri="{FF2B5EF4-FFF2-40B4-BE49-F238E27FC236}">
                <a16:creationId xmlns:a16="http://schemas.microsoft.com/office/drawing/2014/main" id="{7E87A5BF-BE00-4457-F679-20FB00B8D405}"/>
              </a:ext>
            </a:extLst>
          </p:cNvPr>
          <p:cNvSpPr>
            <a:spLocks noGrp="1"/>
          </p:cNvSpPr>
          <p:nvPr>
            <p:ph idx="1"/>
          </p:nvPr>
        </p:nvSpPr>
        <p:spPr>
          <a:xfrm>
            <a:off x="167714" y="453942"/>
            <a:ext cx="8520600" cy="4387448"/>
          </a:xfrm>
        </p:spPr>
        <p:txBody>
          <a:bodyPr/>
          <a:lstStyle/>
          <a:p>
            <a:r>
              <a:rPr lang="en-US" dirty="0"/>
              <a:t>If p is a proposition, then the negation of p is denoted by ∼p or ¬p, which means "not p".</a:t>
            </a:r>
          </a:p>
          <a:p>
            <a:r>
              <a:rPr lang="en-US" dirty="0"/>
              <a:t>The truth value of ∼p is the opposite of the truth value of p.</a:t>
            </a:r>
          </a:p>
          <a:p>
            <a:r>
              <a:rPr lang="en-US" dirty="0"/>
              <a:t>The truth table of negation.</a:t>
            </a:r>
          </a:p>
          <a:p>
            <a:endParaRPr lang="en-US" dirty="0"/>
          </a:p>
          <a:p>
            <a:endParaRPr lang="en-US" dirty="0"/>
          </a:p>
          <a:p>
            <a:endParaRPr lang="en-US" dirty="0"/>
          </a:p>
          <a:p>
            <a:endParaRPr lang="en-US" dirty="0"/>
          </a:p>
          <a:p>
            <a:r>
              <a:rPr lang="en-US" dirty="0"/>
              <a:t>Example if p = “she is tall”, then negation of p will be  ∼p = “she is not tall” or “she is short”</a:t>
            </a:r>
          </a:p>
        </p:txBody>
      </p:sp>
      <p:graphicFrame>
        <p:nvGraphicFramePr>
          <p:cNvPr id="4" name="Table 3">
            <a:extLst>
              <a:ext uri="{FF2B5EF4-FFF2-40B4-BE49-F238E27FC236}">
                <a16:creationId xmlns:a16="http://schemas.microsoft.com/office/drawing/2014/main" id="{3E374693-1767-099E-F1DF-6CA9D51AF9B8}"/>
              </a:ext>
            </a:extLst>
          </p:cNvPr>
          <p:cNvGraphicFramePr>
            <a:graphicFrameLocks noGrp="1"/>
          </p:cNvGraphicFramePr>
          <p:nvPr>
            <p:extLst>
              <p:ext uri="{D42A27DB-BD31-4B8C-83A1-F6EECF244321}">
                <p14:modId xmlns:p14="http://schemas.microsoft.com/office/powerpoint/2010/main" val="1926848809"/>
              </p:ext>
            </p:extLst>
          </p:nvPr>
        </p:nvGraphicFramePr>
        <p:xfrm>
          <a:off x="2536723" y="2873001"/>
          <a:ext cx="3580908" cy="1109529"/>
        </p:xfrm>
        <a:graphic>
          <a:graphicData uri="http://schemas.openxmlformats.org/drawingml/2006/table">
            <a:tbl>
              <a:tblPr firstRow="1" bandRow="1">
                <a:tableStyleId>{5940675A-B579-460E-94D1-54222C63F5DA}</a:tableStyleId>
              </a:tblPr>
              <a:tblGrid>
                <a:gridCol w="1790454">
                  <a:extLst>
                    <a:ext uri="{9D8B030D-6E8A-4147-A177-3AD203B41FA5}">
                      <a16:colId xmlns:a16="http://schemas.microsoft.com/office/drawing/2014/main" val="1456788910"/>
                    </a:ext>
                  </a:extLst>
                </a:gridCol>
                <a:gridCol w="1790454">
                  <a:extLst>
                    <a:ext uri="{9D8B030D-6E8A-4147-A177-3AD203B41FA5}">
                      <a16:colId xmlns:a16="http://schemas.microsoft.com/office/drawing/2014/main" val="2471671842"/>
                    </a:ext>
                  </a:extLst>
                </a:gridCol>
              </a:tblGrid>
              <a:tr h="369843">
                <a:tc>
                  <a:txBody>
                    <a:bodyPr/>
                    <a:lstStyle/>
                    <a:p>
                      <a:pPr algn="ctr"/>
                      <a:r>
                        <a:rPr lang="en-US" dirty="0"/>
                        <a:t>P</a:t>
                      </a:r>
                    </a:p>
                  </a:txBody>
                  <a:tcPr>
                    <a:solidFill>
                      <a:schemeClr val="tx1">
                        <a:lumMod val="50000"/>
                        <a:lumOff val="50000"/>
                      </a:schemeClr>
                    </a:solidFill>
                  </a:tcPr>
                </a:tc>
                <a:tc>
                  <a:txBody>
                    <a:bodyPr/>
                    <a:lstStyle/>
                    <a:p>
                      <a:pPr algn="ctr"/>
                      <a:r>
                        <a:rPr lang="en-US" dirty="0"/>
                        <a:t>∼P</a:t>
                      </a:r>
                    </a:p>
                  </a:txBody>
                  <a:tcPr>
                    <a:solidFill>
                      <a:schemeClr val="tx1">
                        <a:lumMod val="50000"/>
                        <a:lumOff val="50000"/>
                      </a:schemeClr>
                    </a:solidFill>
                  </a:tcPr>
                </a:tc>
                <a:extLst>
                  <a:ext uri="{0D108BD9-81ED-4DB2-BD59-A6C34878D82A}">
                    <a16:rowId xmlns:a16="http://schemas.microsoft.com/office/drawing/2014/main" val="703097201"/>
                  </a:ext>
                </a:extLst>
              </a:tr>
              <a:tr h="369843">
                <a:tc>
                  <a:txBody>
                    <a:bodyPr/>
                    <a:lstStyle/>
                    <a:p>
                      <a:pPr algn="ctr"/>
                      <a:r>
                        <a:rPr lang="en-US" dirty="0"/>
                        <a:t>T</a:t>
                      </a:r>
                    </a:p>
                  </a:txBody>
                  <a:tcPr/>
                </a:tc>
                <a:tc>
                  <a:txBody>
                    <a:bodyPr/>
                    <a:lstStyle/>
                    <a:p>
                      <a:pPr algn="ctr"/>
                      <a:r>
                        <a:rPr lang="en-US" dirty="0"/>
                        <a:t>F</a:t>
                      </a:r>
                    </a:p>
                  </a:txBody>
                  <a:tcPr/>
                </a:tc>
                <a:extLst>
                  <a:ext uri="{0D108BD9-81ED-4DB2-BD59-A6C34878D82A}">
                    <a16:rowId xmlns:a16="http://schemas.microsoft.com/office/drawing/2014/main" val="2400465652"/>
                  </a:ext>
                </a:extLst>
              </a:tr>
              <a:tr h="369843">
                <a:tc>
                  <a:txBody>
                    <a:bodyPr/>
                    <a:lstStyle/>
                    <a:p>
                      <a:pPr algn="ctr"/>
                      <a:r>
                        <a:rPr lang="en-US" dirty="0"/>
                        <a:t>F</a:t>
                      </a:r>
                    </a:p>
                  </a:txBody>
                  <a:tcPr/>
                </a:tc>
                <a:tc>
                  <a:txBody>
                    <a:bodyPr/>
                    <a:lstStyle/>
                    <a:p>
                      <a:pPr algn="ctr"/>
                      <a:r>
                        <a:rPr lang="en-US" dirty="0"/>
                        <a:t>T</a:t>
                      </a:r>
                    </a:p>
                  </a:txBody>
                  <a:tcPr/>
                </a:tc>
                <a:extLst>
                  <a:ext uri="{0D108BD9-81ED-4DB2-BD59-A6C34878D82A}">
                    <a16:rowId xmlns:a16="http://schemas.microsoft.com/office/drawing/2014/main" val="67975167"/>
                  </a:ext>
                </a:extLst>
              </a:tr>
            </a:tbl>
          </a:graphicData>
        </a:graphic>
      </p:graphicFrame>
    </p:spTree>
    <p:extLst>
      <p:ext uri="{BB962C8B-B14F-4D97-AF65-F5344CB8AC3E}">
        <p14:creationId xmlns:p14="http://schemas.microsoft.com/office/powerpoint/2010/main" val="13215605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6A3FA7-AC55-79CF-C974-D9A729702E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845A0C-276E-0424-90EA-C27314A9B36D}"/>
              </a:ext>
            </a:extLst>
          </p:cNvPr>
          <p:cNvSpPr>
            <a:spLocks noGrp="1"/>
          </p:cNvSpPr>
          <p:nvPr>
            <p:ph type="title"/>
          </p:nvPr>
        </p:nvSpPr>
        <p:spPr/>
        <p:txBody>
          <a:bodyPr/>
          <a:lstStyle/>
          <a:p>
            <a:r>
              <a:rPr lang="en-US" dirty="0"/>
              <a:t>Conjunction</a:t>
            </a:r>
          </a:p>
        </p:txBody>
      </p:sp>
      <p:sp>
        <p:nvSpPr>
          <p:cNvPr id="3" name="Content Placeholder 2">
            <a:extLst>
              <a:ext uri="{FF2B5EF4-FFF2-40B4-BE49-F238E27FC236}">
                <a16:creationId xmlns:a16="http://schemas.microsoft.com/office/drawing/2014/main" id="{26306153-CD13-B9EC-536C-24A9FF5EB7F3}"/>
              </a:ext>
            </a:extLst>
          </p:cNvPr>
          <p:cNvSpPr>
            <a:spLocks noGrp="1"/>
          </p:cNvSpPr>
          <p:nvPr>
            <p:ph idx="1"/>
          </p:nvPr>
        </p:nvSpPr>
        <p:spPr>
          <a:xfrm>
            <a:off x="291600" y="662400"/>
            <a:ext cx="8520600" cy="4481100"/>
          </a:xfrm>
        </p:spPr>
        <p:txBody>
          <a:bodyPr/>
          <a:lstStyle/>
          <a:p>
            <a:r>
              <a:rPr lang="en-US" dirty="0"/>
              <a:t>For any propositions p and q, the conjunction of p and q, denoted by p ∧ q, is the proposition “p and q”.</a:t>
            </a:r>
          </a:p>
          <a:p>
            <a:r>
              <a:rPr lang="en-US" dirty="0"/>
              <a:t>The conjunction p ∧ q is true when both p and q are true and is false otherwise.</a:t>
            </a:r>
          </a:p>
          <a:p>
            <a:r>
              <a:rPr lang="en-US" dirty="0"/>
              <a:t>Truth table for conjunction.</a:t>
            </a:r>
          </a:p>
        </p:txBody>
      </p:sp>
      <p:graphicFrame>
        <p:nvGraphicFramePr>
          <p:cNvPr id="5" name="Table 4">
            <a:extLst>
              <a:ext uri="{FF2B5EF4-FFF2-40B4-BE49-F238E27FC236}">
                <a16:creationId xmlns:a16="http://schemas.microsoft.com/office/drawing/2014/main" id="{B01CFF3C-0306-A562-38E2-E1472C797A1B}"/>
              </a:ext>
            </a:extLst>
          </p:cNvPr>
          <p:cNvGraphicFramePr>
            <a:graphicFrameLocks noGrp="1"/>
          </p:cNvGraphicFramePr>
          <p:nvPr>
            <p:extLst>
              <p:ext uri="{D42A27DB-BD31-4B8C-83A1-F6EECF244321}">
                <p14:modId xmlns:p14="http://schemas.microsoft.com/office/powerpoint/2010/main" val="2329027835"/>
              </p:ext>
            </p:extLst>
          </p:nvPr>
        </p:nvGraphicFramePr>
        <p:xfrm>
          <a:off x="2141466" y="2964385"/>
          <a:ext cx="4229836" cy="1854200"/>
        </p:xfrm>
        <a:graphic>
          <a:graphicData uri="http://schemas.openxmlformats.org/drawingml/2006/table">
            <a:tbl>
              <a:tblPr firstRow="1" bandRow="1">
                <a:tableStyleId>{5940675A-B579-460E-94D1-54222C63F5DA}</a:tableStyleId>
              </a:tblPr>
              <a:tblGrid>
                <a:gridCol w="1406012">
                  <a:extLst>
                    <a:ext uri="{9D8B030D-6E8A-4147-A177-3AD203B41FA5}">
                      <a16:colId xmlns:a16="http://schemas.microsoft.com/office/drawing/2014/main" val="4135717157"/>
                    </a:ext>
                  </a:extLst>
                </a:gridCol>
                <a:gridCol w="1411912">
                  <a:extLst>
                    <a:ext uri="{9D8B030D-6E8A-4147-A177-3AD203B41FA5}">
                      <a16:colId xmlns:a16="http://schemas.microsoft.com/office/drawing/2014/main" val="1168351486"/>
                    </a:ext>
                  </a:extLst>
                </a:gridCol>
                <a:gridCol w="1411912">
                  <a:extLst>
                    <a:ext uri="{9D8B030D-6E8A-4147-A177-3AD203B41FA5}">
                      <a16:colId xmlns:a16="http://schemas.microsoft.com/office/drawing/2014/main" val="2444683807"/>
                    </a:ext>
                  </a:extLst>
                </a:gridCol>
              </a:tblGrid>
              <a:tr h="370840">
                <a:tc>
                  <a:txBody>
                    <a:bodyPr/>
                    <a:lstStyle/>
                    <a:p>
                      <a:pPr algn="ctr"/>
                      <a:r>
                        <a:rPr lang="en-US" dirty="0"/>
                        <a:t>p</a:t>
                      </a:r>
                    </a:p>
                  </a:txBody>
                  <a:tcPr>
                    <a:solidFill>
                      <a:schemeClr val="tx1">
                        <a:lumMod val="50000"/>
                        <a:lumOff val="50000"/>
                      </a:schemeClr>
                    </a:solidFill>
                  </a:tcPr>
                </a:tc>
                <a:tc>
                  <a:txBody>
                    <a:bodyPr/>
                    <a:lstStyle/>
                    <a:p>
                      <a:pPr algn="ctr"/>
                      <a:r>
                        <a:rPr lang="en-US" dirty="0"/>
                        <a:t>q</a:t>
                      </a:r>
                    </a:p>
                  </a:txBody>
                  <a:tcPr>
                    <a:solidFill>
                      <a:schemeClr val="tx1">
                        <a:lumMod val="50000"/>
                        <a:lumOff val="50000"/>
                      </a:schemeClr>
                    </a:solidFill>
                  </a:tcPr>
                </a:tc>
                <a:tc>
                  <a:txBody>
                    <a:bodyPr/>
                    <a:lstStyle/>
                    <a:p>
                      <a:pPr algn="ctr"/>
                      <a:r>
                        <a:rPr lang="en-US" dirty="0"/>
                        <a:t>p ∧ q</a:t>
                      </a:r>
                    </a:p>
                  </a:txBody>
                  <a:tcPr>
                    <a:solidFill>
                      <a:schemeClr val="tx1">
                        <a:lumMod val="50000"/>
                        <a:lumOff val="50000"/>
                      </a:schemeClr>
                    </a:solidFill>
                  </a:tcPr>
                </a:tc>
                <a:extLst>
                  <a:ext uri="{0D108BD9-81ED-4DB2-BD59-A6C34878D82A}">
                    <a16:rowId xmlns:a16="http://schemas.microsoft.com/office/drawing/2014/main" val="787218759"/>
                  </a:ext>
                </a:extLst>
              </a:tr>
              <a:tr h="370840">
                <a:tc>
                  <a:txBody>
                    <a:bodyPr/>
                    <a:lstStyle/>
                    <a:p>
                      <a:pPr algn="ctr"/>
                      <a:r>
                        <a:rPr lang="en-US" dirty="0"/>
                        <a:t>T</a:t>
                      </a:r>
                    </a:p>
                  </a:txBody>
                  <a:tcPr/>
                </a:tc>
                <a:tc>
                  <a:txBody>
                    <a:bodyPr/>
                    <a:lstStyle/>
                    <a:p>
                      <a:pPr algn="ctr"/>
                      <a:r>
                        <a:rPr lang="en-US" dirty="0"/>
                        <a:t>T</a:t>
                      </a:r>
                    </a:p>
                  </a:txBody>
                  <a:tcPr/>
                </a:tc>
                <a:tc>
                  <a:txBody>
                    <a:bodyPr/>
                    <a:lstStyle/>
                    <a:p>
                      <a:pPr algn="ctr"/>
                      <a:r>
                        <a:rPr lang="en-US" dirty="0"/>
                        <a:t>T</a:t>
                      </a:r>
                    </a:p>
                  </a:txBody>
                  <a:tcPr/>
                </a:tc>
                <a:extLst>
                  <a:ext uri="{0D108BD9-81ED-4DB2-BD59-A6C34878D82A}">
                    <a16:rowId xmlns:a16="http://schemas.microsoft.com/office/drawing/2014/main" val="1771223831"/>
                  </a:ext>
                </a:extLst>
              </a:tr>
              <a:tr h="370840">
                <a:tc>
                  <a:txBody>
                    <a:bodyPr/>
                    <a:lstStyle/>
                    <a:p>
                      <a:pPr algn="ctr"/>
                      <a:r>
                        <a:rPr lang="en-US" dirty="0"/>
                        <a:t>T</a:t>
                      </a:r>
                    </a:p>
                  </a:txBody>
                  <a:tcPr/>
                </a:tc>
                <a:tc>
                  <a:txBody>
                    <a:bodyPr/>
                    <a:lstStyle/>
                    <a:p>
                      <a:pPr algn="ctr"/>
                      <a:r>
                        <a:rPr lang="en-US" dirty="0"/>
                        <a:t>F</a:t>
                      </a:r>
                    </a:p>
                  </a:txBody>
                  <a:tcPr/>
                </a:tc>
                <a:tc>
                  <a:txBody>
                    <a:bodyPr/>
                    <a:lstStyle/>
                    <a:p>
                      <a:pPr algn="ctr"/>
                      <a:r>
                        <a:rPr lang="en-US" dirty="0"/>
                        <a:t>F</a:t>
                      </a:r>
                    </a:p>
                  </a:txBody>
                  <a:tcPr/>
                </a:tc>
                <a:extLst>
                  <a:ext uri="{0D108BD9-81ED-4DB2-BD59-A6C34878D82A}">
                    <a16:rowId xmlns:a16="http://schemas.microsoft.com/office/drawing/2014/main" val="374063393"/>
                  </a:ext>
                </a:extLst>
              </a:tr>
              <a:tr h="370840">
                <a:tc>
                  <a:txBody>
                    <a:bodyPr/>
                    <a:lstStyle/>
                    <a:p>
                      <a:pPr algn="ctr"/>
                      <a:r>
                        <a:rPr lang="en-US" dirty="0"/>
                        <a:t>F</a:t>
                      </a:r>
                    </a:p>
                  </a:txBody>
                  <a:tcPr/>
                </a:tc>
                <a:tc>
                  <a:txBody>
                    <a:bodyPr/>
                    <a:lstStyle/>
                    <a:p>
                      <a:pPr algn="ctr"/>
                      <a:r>
                        <a:rPr lang="en-US" dirty="0"/>
                        <a:t>T</a:t>
                      </a:r>
                    </a:p>
                  </a:txBody>
                  <a:tcPr/>
                </a:tc>
                <a:tc>
                  <a:txBody>
                    <a:bodyPr/>
                    <a:lstStyle/>
                    <a:p>
                      <a:pPr algn="ctr"/>
                      <a:r>
                        <a:rPr lang="en-US" dirty="0"/>
                        <a:t>F</a:t>
                      </a:r>
                    </a:p>
                  </a:txBody>
                  <a:tcPr/>
                </a:tc>
                <a:extLst>
                  <a:ext uri="{0D108BD9-81ED-4DB2-BD59-A6C34878D82A}">
                    <a16:rowId xmlns:a16="http://schemas.microsoft.com/office/drawing/2014/main" val="578061744"/>
                  </a:ext>
                </a:extLst>
              </a:tr>
              <a:tr h="370840">
                <a:tc>
                  <a:txBody>
                    <a:bodyPr/>
                    <a:lstStyle/>
                    <a:p>
                      <a:pPr algn="ctr"/>
                      <a:r>
                        <a:rPr lang="en-US" dirty="0"/>
                        <a:t>F</a:t>
                      </a:r>
                    </a:p>
                  </a:txBody>
                  <a:tcPr/>
                </a:tc>
                <a:tc>
                  <a:txBody>
                    <a:bodyPr/>
                    <a:lstStyle/>
                    <a:p>
                      <a:pPr algn="ctr"/>
                      <a:r>
                        <a:rPr lang="en-US" dirty="0"/>
                        <a:t>F</a:t>
                      </a:r>
                    </a:p>
                  </a:txBody>
                  <a:tcPr/>
                </a:tc>
                <a:tc>
                  <a:txBody>
                    <a:bodyPr/>
                    <a:lstStyle/>
                    <a:p>
                      <a:pPr algn="ctr"/>
                      <a:r>
                        <a:rPr lang="en-US" dirty="0"/>
                        <a:t>F</a:t>
                      </a:r>
                    </a:p>
                  </a:txBody>
                  <a:tcPr/>
                </a:tc>
                <a:extLst>
                  <a:ext uri="{0D108BD9-81ED-4DB2-BD59-A6C34878D82A}">
                    <a16:rowId xmlns:a16="http://schemas.microsoft.com/office/drawing/2014/main" val="3187989675"/>
                  </a:ext>
                </a:extLst>
              </a:tr>
            </a:tbl>
          </a:graphicData>
        </a:graphic>
      </p:graphicFrame>
    </p:spTree>
    <p:extLst>
      <p:ext uri="{BB962C8B-B14F-4D97-AF65-F5344CB8AC3E}">
        <p14:creationId xmlns:p14="http://schemas.microsoft.com/office/powerpoint/2010/main" val="370395795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67E884-9C37-7ACC-D9F4-FFD00C9623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3E765A-21B4-4AFC-4225-2EEA1FD963B9}"/>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13A6AEEB-0759-37AB-A0D4-144B69682566}"/>
              </a:ext>
            </a:extLst>
          </p:cNvPr>
          <p:cNvSpPr>
            <a:spLocks noGrp="1"/>
          </p:cNvSpPr>
          <p:nvPr>
            <p:ph idx="1"/>
          </p:nvPr>
        </p:nvSpPr>
        <p:spPr/>
        <p:txBody>
          <a:bodyPr/>
          <a:lstStyle/>
          <a:p>
            <a:pPr marL="114300" indent="0">
              <a:buNone/>
            </a:pPr>
            <a:r>
              <a:rPr lang="en-US" dirty="0"/>
              <a:t>Example;</a:t>
            </a:r>
          </a:p>
          <a:p>
            <a:pPr marL="114300" indent="0">
              <a:buNone/>
            </a:pPr>
            <a:r>
              <a:rPr lang="en-US" dirty="0"/>
              <a:t>If p is the statement “Rebecca’s PC has more than 16 GB free disk space” and q is the statement “The processor in Rebecca’s PC runs faster than 1 GHz”, then the conjunction of p and q will be;</a:t>
            </a:r>
          </a:p>
          <a:p>
            <a:pPr marL="114300" indent="0">
              <a:buNone/>
            </a:pPr>
            <a:r>
              <a:rPr lang="en-US" dirty="0"/>
              <a:t>p ∧ q = “Rebecca’s PC has more than 16 GB</a:t>
            </a:r>
          </a:p>
          <a:p>
            <a:pPr marL="114300" indent="0">
              <a:buNone/>
            </a:pPr>
            <a:r>
              <a:rPr lang="en-US" dirty="0"/>
              <a:t>free disk space, and its processor runs faster than 1 GHz”</a:t>
            </a:r>
          </a:p>
        </p:txBody>
      </p:sp>
    </p:spTree>
    <p:extLst>
      <p:ext uri="{BB962C8B-B14F-4D97-AF65-F5344CB8AC3E}">
        <p14:creationId xmlns:p14="http://schemas.microsoft.com/office/powerpoint/2010/main" val="221694154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284853-430F-ECE0-99FC-D3166E084E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6EEF80-FE84-D2E5-2FBF-3BAA9DC4BE9A}"/>
              </a:ext>
            </a:extLst>
          </p:cNvPr>
          <p:cNvSpPr>
            <a:spLocks noGrp="1"/>
          </p:cNvSpPr>
          <p:nvPr>
            <p:ph type="title"/>
          </p:nvPr>
        </p:nvSpPr>
        <p:spPr/>
        <p:txBody>
          <a:bodyPr/>
          <a:lstStyle/>
          <a:p>
            <a:r>
              <a:rPr lang="en-US" dirty="0"/>
              <a:t>Disjunction</a:t>
            </a:r>
          </a:p>
        </p:txBody>
      </p:sp>
      <p:sp>
        <p:nvSpPr>
          <p:cNvPr id="3" name="Content Placeholder 2">
            <a:extLst>
              <a:ext uri="{FF2B5EF4-FFF2-40B4-BE49-F238E27FC236}">
                <a16:creationId xmlns:a16="http://schemas.microsoft.com/office/drawing/2014/main" id="{56F6AE0D-F441-65ED-F20D-6C15535719D0}"/>
              </a:ext>
            </a:extLst>
          </p:cNvPr>
          <p:cNvSpPr>
            <a:spLocks noGrp="1"/>
          </p:cNvSpPr>
          <p:nvPr>
            <p:ph idx="1"/>
          </p:nvPr>
        </p:nvSpPr>
        <p:spPr/>
        <p:txBody>
          <a:bodyPr/>
          <a:lstStyle/>
          <a:p>
            <a:r>
              <a:rPr lang="en-US" dirty="0"/>
              <a:t>For any propositions p and q, the disjunction of p and q, denoted by p ∨ q, is the proposition “p or q”.</a:t>
            </a:r>
          </a:p>
          <a:p>
            <a:r>
              <a:rPr lang="en-US" dirty="0"/>
              <a:t>The disjunction p ∨ q is false when both p and q are false and is true otherwise.</a:t>
            </a:r>
          </a:p>
          <a:p>
            <a:r>
              <a:rPr lang="en-US" dirty="0"/>
              <a:t>Truth table for disjunction.</a:t>
            </a:r>
          </a:p>
        </p:txBody>
      </p:sp>
      <p:graphicFrame>
        <p:nvGraphicFramePr>
          <p:cNvPr id="4" name="Table 3">
            <a:extLst>
              <a:ext uri="{FF2B5EF4-FFF2-40B4-BE49-F238E27FC236}">
                <a16:creationId xmlns:a16="http://schemas.microsoft.com/office/drawing/2014/main" id="{9B2D0D9C-98B3-AB07-C18B-C586F8EA5B18}"/>
              </a:ext>
            </a:extLst>
          </p:cNvPr>
          <p:cNvGraphicFramePr>
            <a:graphicFrameLocks noGrp="1"/>
          </p:cNvGraphicFramePr>
          <p:nvPr>
            <p:extLst>
              <p:ext uri="{D42A27DB-BD31-4B8C-83A1-F6EECF244321}">
                <p14:modId xmlns:p14="http://schemas.microsoft.com/office/powerpoint/2010/main" val="3135183795"/>
              </p:ext>
            </p:extLst>
          </p:nvPr>
        </p:nvGraphicFramePr>
        <p:xfrm>
          <a:off x="2253554" y="2964385"/>
          <a:ext cx="4100052" cy="1846211"/>
        </p:xfrm>
        <a:graphic>
          <a:graphicData uri="http://schemas.openxmlformats.org/drawingml/2006/table">
            <a:tbl>
              <a:tblPr firstRow="1" bandRow="1">
                <a:tableStyleId>{5940675A-B579-460E-94D1-54222C63F5DA}</a:tableStyleId>
              </a:tblPr>
              <a:tblGrid>
                <a:gridCol w="1366684">
                  <a:extLst>
                    <a:ext uri="{9D8B030D-6E8A-4147-A177-3AD203B41FA5}">
                      <a16:colId xmlns:a16="http://schemas.microsoft.com/office/drawing/2014/main" val="3822733323"/>
                    </a:ext>
                  </a:extLst>
                </a:gridCol>
                <a:gridCol w="1366684">
                  <a:extLst>
                    <a:ext uri="{9D8B030D-6E8A-4147-A177-3AD203B41FA5}">
                      <a16:colId xmlns:a16="http://schemas.microsoft.com/office/drawing/2014/main" val="3254308939"/>
                    </a:ext>
                  </a:extLst>
                </a:gridCol>
                <a:gridCol w="1366684">
                  <a:extLst>
                    <a:ext uri="{9D8B030D-6E8A-4147-A177-3AD203B41FA5}">
                      <a16:colId xmlns:a16="http://schemas.microsoft.com/office/drawing/2014/main" val="4061265222"/>
                    </a:ext>
                  </a:extLst>
                </a:gridCol>
              </a:tblGrid>
              <a:tr h="362851">
                <a:tc>
                  <a:txBody>
                    <a:bodyPr/>
                    <a:lstStyle/>
                    <a:p>
                      <a:pPr algn="ctr"/>
                      <a:r>
                        <a:rPr lang="en-US" dirty="0"/>
                        <a:t>p</a:t>
                      </a:r>
                    </a:p>
                  </a:txBody>
                  <a:tcPr>
                    <a:solidFill>
                      <a:schemeClr val="tx1">
                        <a:lumMod val="50000"/>
                        <a:lumOff val="50000"/>
                      </a:schemeClr>
                    </a:solidFill>
                  </a:tcPr>
                </a:tc>
                <a:tc>
                  <a:txBody>
                    <a:bodyPr/>
                    <a:lstStyle/>
                    <a:p>
                      <a:pPr algn="ctr"/>
                      <a:r>
                        <a:rPr lang="en-US" dirty="0"/>
                        <a:t>q</a:t>
                      </a:r>
                    </a:p>
                  </a:txBody>
                  <a:tcPr>
                    <a:solidFill>
                      <a:schemeClr val="tx1">
                        <a:lumMod val="50000"/>
                        <a:lumOff val="50000"/>
                      </a:schemeClr>
                    </a:solidFill>
                  </a:tcPr>
                </a:tc>
                <a:tc>
                  <a:txBody>
                    <a:bodyPr/>
                    <a:lstStyle/>
                    <a:p>
                      <a:pPr algn="ctr"/>
                      <a:r>
                        <a:rPr lang="en-US" dirty="0"/>
                        <a:t>p ∨ q</a:t>
                      </a:r>
                    </a:p>
                  </a:txBody>
                  <a:tcPr>
                    <a:solidFill>
                      <a:schemeClr val="tx1">
                        <a:lumMod val="50000"/>
                        <a:lumOff val="50000"/>
                      </a:schemeClr>
                    </a:solidFill>
                  </a:tcPr>
                </a:tc>
                <a:extLst>
                  <a:ext uri="{0D108BD9-81ED-4DB2-BD59-A6C34878D82A}">
                    <a16:rowId xmlns:a16="http://schemas.microsoft.com/office/drawing/2014/main" val="3890835470"/>
                  </a:ext>
                </a:extLst>
              </a:tr>
              <a:tr h="370840">
                <a:tc>
                  <a:txBody>
                    <a:bodyPr/>
                    <a:lstStyle/>
                    <a:p>
                      <a:pPr algn="ctr"/>
                      <a:r>
                        <a:rPr lang="en-US" dirty="0"/>
                        <a:t>T</a:t>
                      </a:r>
                    </a:p>
                  </a:txBody>
                  <a:tcPr/>
                </a:tc>
                <a:tc>
                  <a:txBody>
                    <a:bodyPr/>
                    <a:lstStyle/>
                    <a:p>
                      <a:pPr algn="ctr"/>
                      <a:r>
                        <a:rPr lang="en-US" dirty="0"/>
                        <a:t>T</a:t>
                      </a:r>
                    </a:p>
                  </a:txBody>
                  <a:tcPr/>
                </a:tc>
                <a:tc>
                  <a:txBody>
                    <a:bodyPr/>
                    <a:lstStyle/>
                    <a:p>
                      <a:pPr algn="ctr"/>
                      <a:r>
                        <a:rPr lang="en-US" dirty="0"/>
                        <a:t>T</a:t>
                      </a:r>
                    </a:p>
                  </a:txBody>
                  <a:tcPr/>
                </a:tc>
                <a:extLst>
                  <a:ext uri="{0D108BD9-81ED-4DB2-BD59-A6C34878D82A}">
                    <a16:rowId xmlns:a16="http://schemas.microsoft.com/office/drawing/2014/main" val="2438235103"/>
                  </a:ext>
                </a:extLst>
              </a:tr>
              <a:tr h="370840">
                <a:tc>
                  <a:txBody>
                    <a:bodyPr/>
                    <a:lstStyle/>
                    <a:p>
                      <a:pPr algn="ctr"/>
                      <a:r>
                        <a:rPr lang="en-US" dirty="0"/>
                        <a:t>T</a:t>
                      </a:r>
                    </a:p>
                  </a:txBody>
                  <a:tcPr/>
                </a:tc>
                <a:tc>
                  <a:txBody>
                    <a:bodyPr/>
                    <a:lstStyle/>
                    <a:p>
                      <a:pPr algn="ctr"/>
                      <a:r>
                        <a:rPr lang="en-US" dirty="0"/>
                        <a:t>F</a:t>
                      </a:r>
                    </a:p>
                  </a:txBody>
                  <a:tcPr/>
                </a:tc>
                <a:tc>
                  <a:txBody>
                    <a:bodyPr/>
                    <a:lstStyle/>
                    <a:p>
                      <a:pPr algn="ctr"/>
                      <a:r>
                        <a:rPr lang="en-US" dirty="0"/>
                        <a:t>T</a:t>
                      </a:r>
                    </a:p>
                  </a:txBody>
                  <a:tcPr/>
                </a:tc>
                <a:extLst>
                  <a:ext uri="{0D108BD9-81ED-4DB2-BD59-A6C34878D82A}">
                    <a16:rowId xmlns:a16="http://schemas.microsoft.com/office/drawing/2014/main" val="2033272895"/>
                  </a:ext>
                </a:extLst>
              </a:tr>
              <a:tr h="370840">
                <a:tc>
                  <a:txBody>
                    <a:bodyPr/>
                    <a:lstStyle/>
                    <a:p>
                      <a:pPr algn="ctr"/>
                      <a:r>
                        <a:rPr lang="en-US" dirty="0"/>
                        <a:t>F</a:t>
                      </a:r>
                    </a:p>
                  </a:txBody>
                  <a:tcPr/>
                </a:tc>
                <a:tc>
                  <a:txBody>
                    <a:bodyPr/>
                    <a:lstStyle/>
                    <a:p>
                      <a:pPr algn="ctr"/>
                      <a:r>
                        <a:rPr lang="en-US" dirty="0"/>
                        <a:t>T</a:t>
                      </a:r>
                    </a:p>
                  </a:txBody>
                  <a:tcPr/>
                </a:tc>
                <a:tc>
                  <a:txBody>
                    <a:bodyPr/>
                    <a:lstStyle/>
                    <a:p>
                      <a:pPr algn="ctr"/>
                      <a:r>
                        <a:rPr lang="en-US" dirty="0"/>
                        <a:t>T</a:t>
                      </a:r>
                    </a:p>
                  </a:txBody>
                  <a:tcPr/>
                </a:tc>
                <a:extLst>
                  <a:ext uri="{0D108BD9-81ED-4DB2-BD59-A6C34878D82A}">
                    <a16:rowId xmlns:a16="http://schemas.microsoft.com/office/drawing/2014/main" val="3628737384"/>
                  </a:ext>
                </a:extLst>
              </a:tr>
              <a:tr h="370840">
                <a:tc>
                  <a:txBody>
                    <a:bodyPr/>
                    <a:lstStyle/>
                    <a:p>
                      <a:pPr algn="ctr"/>
                      <a:r>
                        <a:rPr lang="en-US" dirty="0"/>
                        <a:t>F</a:t>
                      </a:r>
                    </a:p>
                  </a:txBody>
                  <a:tcPr/>
                </a:tc>
                <a:tc>
                  <a:txBody>
                    <a:bodyPr/>
                    <a:lstStyle/>
                    <a:p>
                      <a:pPr algn="ctr"/>
                      <a:r>
                        <a:rPr lang="en-US" dirty="0"/>
                        <a:t>F</a:t>
                      </a:r>
                    </a:p>
                  </a:txBody>
                  <a:tcPr/>
                </a:tc>
                <a:tc>
                  <a:txBody>
                    <a:bodyPr/>
                    <a:lstStyle/>
                    <a:p>
                      <a:pPr algn="ctr"/>
                      <a:r>
                        <a:rPr lang="en-US" dirty="0"/>
                        <a:t>F</a:t>
                      </a:r>
                    </a:p>
                  </a:txBody>
                  <a:tcPr/>
                </a:tc>
                <a:extLst>
                  <a:ext uri="{0D108BD9-81ED-4DB2-BD59-A6C34878D82A}">
                    <a16:rowId xmlns:a16="http://schemas.microsoft.com/office/drawing/2014/main" val="2601337443"/>
                  </a:ext>
                </a:extLst>
              </a:tr>
            </a:tbl>
          </a:graphicData>
        </a:graphic>
      </p:graphicFrame>
    </p:spTree>
    <p:extLst>
      <p:ext uri="{BB962C8B-B14F-4D97-AF65-F5344CB8AC3E}">
        <p14:creationId xmlns:p14="http://schemas.microsoft.com/office/powerpoint/2010/main" val="8774726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CF1497-85F7-4C7D-2C5A-1D19BCC049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B1F023-F270-0ECD-5106-CB80D1F15CAD}"/>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D1B8F013-9A0C-2DC3-B10D-C03D170D1D08}"/>
              </a:ext>
            </a:extLst>
          </p:cNvPr>
          <p:cNvSpPr>
            <a:spLocks noGrp="1"/>
          </p:cNvSpPr>
          <p:nvPr>
            <p:ph idx="1"/>
          </p:nvPr>
        </p:nvSpPr>
        <p:spPr>
          <a:xfrm>
            <a:off x="291600" y="662400"/>
            <a:ext cx="8520600" cy="4297500"/>
          </a:xfrm>
        </p:spPr>
        <p:txBody>
          <a:bodyPr/>
          <a:lstStyle/>
          <a:p>
            <a:r>
              <a:rPr lang="en-US" dirty="0"/>
              <a:t>Using the same example, If p is the statement “Rebecca’s PC has more than 16 GB free disk space” and q is the statement “The processor in Rebecca’s PC runs faster than 1 GHz”, then the disjunction of p and q will be;</a:t>
            </a:r>
          </a:p>
          <a:p>
            <a:pPr marL="114300" indent="0">
              <a:buNone/>
            </a:pPr>
            <a:r>
              <a:rPr lang="en-US" dirty="0"/>
              <a:t> p ∨ q = “Rebecca’s PC has more than 16 GB free disk space or the processor in Rebecca’s PC</a:t>
            </a:r>
          </a:p>
          <a:p>
            <a:pPr marL="114300" indent="0">
              <a:buNone/>
            </a:pPr>
            <a:r>
              <a:rPr lang="en-US" dirty="0"/>
              <a:t>runs faster than 1 GHz”</a:t>
            </a:r>
          </a:p>
        </p:txBody>
      </p:sp>
    </p:spTree>
    <p:extLst>
      <p:ext uri="{BB962C8B-B14F-4D97-AF65-F5344CB8AC3E}">
        <p14:creationId xmlns:p14="http://schemas.microsoft.com/office/powerpoint/2010/main" val="138276107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39DEA8-4489-8DDD-1385-577C32D63C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C4F03B-C5AB-9C05-EBD6-B284A1A9EBA2}"/>
              </a:ext>
            </a:extLst>
          </p:cNvPr>
          <p:cNvSpPr>
            <a:spLocks noGrp="1"/>
          </p:cNvSpPr>
          <p:nvPr>
            <p:ph type="title"/>
          </p:nvPr>
        </p:nvSpPr>
        <p:spPr/>
        <p:txBody>
          <a:bodyPr/>
          <a:lstStyle/>
          <a:p>
            <a:r>
              <a:rPr lang="en-US" dirty="0"/>
              <a:t>Exclusive OR</a:t>
            </a:r>
          </a:p>
        </p:txBody>
      </p:sp>
      <p:sp>
        <p:nvSpPr>
          <p:cNvPr id="3" name="Content Placeholder 2">
            <a:extLst>
              <a:ext uri="{FF2B5EF4-FFF2-40B4-BE49-F238E27FC236}">
                <a16:creationId xmlns:a16="http://schemas.microsoft.com/office/drawing/2014/main" id="{50056BFE-AB36-B7EA-CE67-9AE061472AD8}"/>
              </a:ext>
            </a:extLst>
          </p:cNvPr>
          <p:cNvSpPr>
            <a:spLocks noGrp="1"/>
          </p:cNvSpPr>
          <p:nvPr>
            <p:ph idx="1"/>
          </p:nvPr>
        </p:nvSpPr>
        <p:spPr>
          <a:xfrm>
            <a:off x="250305" y="509016"/>
            <a:ext cx="8520600" cy="4576227"/>
          </a:xfrm>
        </p:spPr>
        <p:txBody>
          <a:bodyPr/>
          <a:lstStyle/>
          <a:p>
            <a:r>
              <a:rPr lang="en-US" dirty="0"/>
              <a:t>For any two propositions p and q, their exclusive or is denoted by p ⊕ q, which means "either p or q but not both".</a:t>
            </a:r>
          </a:p>
          <a:p>
            <a:r>
              <a:rPr lang="en-US" dirty="0"/>
              <a:t>The exclusive or p ⊕ q is true when either p or q is true, and false when both are true or both are false.</a:t>
            </a:r>
          </a:p>
          <a:p>
            <a:r>
              <a:rPr lang="en-US" dirty="0"/>
              <a:t>The truth table of p ⊕ q is</a:t>
            </a:r>
          </a:p>
        </p:txBody>
      </p:sp>
      <p:graphicFrame>
        <p:nvGraphicFramePr>
          <p:cNvPr id="4" name="Table 3">
            <a:extLst>
              <a:ext uri="{FF2B5EF4-FFF2-40B4-BE49-F238E27FC236}">
                <a16:creationId xmlns:a16="http://schemas.microsoft.com/office/drawing/2014/main" id="{44F20D41-DE2F-6C3B-0D75-F5C8FCC74E3D}"/>
              </a:ext>
            </a:extLst>
          </p:cNvPr>
          <p:cNvGraphicFramePr>
            <a:graphicFrameLocks noGrp="1"/>
          </p:cNvGraphicFramePr>
          <p:nvPr>
            <p:extLst>
              <p:ext uri="{D42A27DB-BD31-4B8C-83A1-F6EECF244321}">
                <p14:modId xmlns:p14="http://schemas.microsoft.com/office/powerpoint/2010/main" val="3062525345"/>
              </p:ext>
            </p:extLst>
          </p:nvPr>
        </p:nvGraphicFramePr>
        <p:xfrm>
          <a:off x="2163548" y="3170104"/>
          <a:ext cx="4100052" cy="1846211"/>
        </p:xfrm>
        <a:graphic>
          <a:graphicData uri="http://schemas.openxmlformats.org/drawingml/2006/table">
            <a:tbl>
              <a:tblPr firstRow="1" bandRow="1">
                <a:tableStyleId>{5940675A-B579-460E-94D1-54222C63F5DA}</a:tableStyleId>
              </a:tblPr>
              <a:tblGrid>
                <a:gridCol w="1366684">
                  <a:extLst>
                    <a:ext uri="{9D8B030D-6E8A-4147-A177-3AD203B41FA5}">
                      <a16:colId xmlns:a16="http://schemas.microsoft.com/office/drawing/2014/main" val="1020588445"/>
                    </a:ext>
                  </a:extLst>
                </a:gridCol>
                <a:gridCol w="1366684">
                  <a:extLst>
                    <a:ext uri="{9D8B030D-6E8A-4147-A177-3AD203B41FA5}">
                      <a16:colId xmlns:a16="http://schemas.microsoft.com/office/drawing/2014/main" val="2155651681"/>
                    </a:ext>
                  </a:extLst>
                </a:gridCol>
                <a:gridCol w="1366684">
                  <a:extLst>
                    <a:ext uri="{9D8B030D-6E8A-4147-A177-3AD203B41FA5}">
                      <a16:colId xmlns:a16="http://schemas.microsoft.com/office/drawing/2014/main" val="1136658999"/>
                    </a:ext>
                  </a:extLst>
                </a:gridCol>
              </a:tblGrid>
              <a:tr h="362851">
                <a:tc>
                  <a:txBody>
                    <a:bodyPr/>
                    <a:lstStyle/>
                    <a:p>
                      <a:pPr algn="ctr"/>
                      <a:r>
                        <a:rPr lang="en-US" dirty="0"/>
                        <a:t>p</a:t>
                      </a:r>
                    </a:p>
                  </a:txBody>
                  <a:tcPr>
                    <a:solidFill>
                      <a:schemeClr val="tx1">
                        <a:lumMod val="50000"/>
                        <a:lumOff val="50000"/>
                      </a:schemeClr>
                    </a:solidFill>
                  </a:tcPr>
                </a:tc>
                <a:tc>
                  <a:txBody>
                    <a:bodyPr/>
                    <a:lstStyle/>
                    <a:p>
                      <a:pPr algn="ctr"/>
                      <a:r>
                        <a:rPr lang="en-US" dirty="0"/>
                        <a:t>q</a:t>
                      </a:r>
                    </a:p>
                  </a:txBody>
                  <a:tcPr>
                    <a:solidFill>
                      <a:schemeClr val="tx1">
                        <a:lumMod val="50000"/>
                        <a:lumOff val="50000"/>
                      </a:schemeClr>
                    </a:solidFill>
                  </a:tcPr>
                </a:tc>
                <a:tc>
                  <a:txBody>
                    <a:bodyPr/>
                    <a:lstStyle/>
                    <a:p>
                      <a:pPr algn="ctr"/>
                      <a:r>
                        <a:rPr lang="en-US" dirty="0"/>
                        <a:t>p ⊕ q</a:t>
                      </a:r>
                    </a:p>
                  </a:txBody>
                  <a:tcPr>
                    <a:solidFill>
                      <a:schemeClr val="tx1">
                        <a:lumMod val="50000"/>
                        <a:lumOff val="50000"/>
                      </a:schemeClr>
                    </a:solidFill>
                  </a:tcPr>
                </a:tc>
                <a:extLst>
                  <a:ext uri="{0D108BD9-81ED-4DB2-BD59-A6C34878D82A}">
                    <a16:rowId xmlns:a16="http://schemas.microsoft.com/office/drawing/2014/main" val="1594134935"/>
                  </a:ext>
                </a:extLst>
              </a:tr>
              <a:tr h="370840">
                <a:tc>
                  <a:txBody>
                    <a:bodyPr/>
                    <a:lstStyle/>
                    <a:p>
                      <a:pPr algn="ctr"/>
                      <a:r>
                        <a:rPr lang="en-US" dirty="0"/>
                        <a:t>T</a:t>
                      </a:r>
                    </a:p>
                  </a:txBody>
                  <a:tcPr/>
                </a:tc>
                <a:tc>
                  <a:txBody>
                    <a:bodyPr/>
                    <a:lstStyle/>
                    <a:p>
                      <a:pPr algn="ctr"/>
                      <a:r>
                        <a:rPr lang="en-US" dirty="0"/>
                        <a:t>T</a:t>
                      </a:r>
                    </a:p>
                  </a:txBody>
                  <a:tcPr/>
                </a:tc>
                <a:tc>
                  <a:txBody>
                    <a:bodyPr/>
                    <a:lstStyle/>
                    <a:p>
                      <a:pPr algn="ctr"/>
                      <a:r>
                        <a:rPr lang="en-US" dirty="0"/>
                        <a:t>F</a:t>
                      </a:r>
                    </a:p>
                  </a:txBody>
                  <a:tcPr/>
                </a:tc>
                <a:extLst>
                  <a:ext uri="{0D108BD9-81ED-4DB2-BD59-A6C34878D82A}">
                    <a16:rowId xmlns:a16="http://schemas.microsoft.com/office/drawing/2014/main" val="2066683298"/>
                  </a:ext>
                </a:extLst>
              </a:tr>
              <a:tr h="370840">
                <a:tc>
                  <a:txBody>
                    <a:bodyPr/>
                    <a:lstStyle/>
                    <a:p>
                      <a:pPr algn="ctr"/>
                      <a:r>
                        <a:rPr lang="en-US" dirty="0"/>
                        <a:t>T</a:t>
                      </a:r>
                    </a:p>
                  </a:txBody>
                  <a:tcPr/>
                </a:tc>
                <a:tc>
                  <a:txBody>
                    <a:bodyPr/>
                    <a:lstStyle/>
                    <a:p>
                      <a:pPr algn="ctr"/>
                      <a:r>
                        <a:rPr lang="en-US" dirty="0"/>
                        <a:t>F</a:t>
                      </a:r>
                    </a:p>
                  </a:txBody>
                  <a:tcPr/>
                </a:tc>
                <a:tc>
                  <a:txBody>
                    <a:bodyPr/>
                    <a:lstStyle/>
                    <a:p>
                      <a:pPr algn="ctr"/>
                      <a:r>
                        <a:rPr lang="en-US" dirty="0"/>
                        <a:t>T</a:t>
                      </a:r>
                    </a:p>
                  </a:txBody>
                  <a:tcPr/>
                </a:tc>
                <a:extLst>
                  <a:ext uri="{0D108BD9-81ED-4DB2-BD59-A6C34878D82A}">
                    <a16:rowId xmlns:a16="http://schemas.microsoft.com/office/drawing/2014/main" val="230547177"/>
                  </a:ext>
                </a:extLst>
              </a:tr>
              <a:tr h="370840">
                <a:tc>
                  <a:txBody>
                    <a:bodyPr/>
                    <a:lstStyle/>
                    <a:p>
                      <a:pPr algn="ctr"/>
                      <a:r>
                        <a:rPr lang="en-US" dirty="0"/>
                        <a:t>F</a:t>
                      </a:r>
                    </a:p>
                  </a:txBody>
                  <a:tcPr/>
                </a:tc>
                <a:tc>
                  <a:txBody>
                    <a:bodyPr/>
                    <a:lstStyle/>
                    <a:p>
                      <a:pPr algn="ctr"/>
                      <a:r>
                        <a:rPr lang="en-US" dirty="0"/>
                        <a:t>T</a:t>
                      </a:r>
                    </a:p>
                  </a:txBody>
                  <a:tcPr/>
                </a:tc>
                <a:tc>
                  <a:txBody>
                    <a:bodyPr/>
                    <a:lstStyle/>
                    <a:p>
                      <a:pPr algn="ctr"/>
                      <a:r>
                        <a:rPr lang="en-US" dirty="0"/>
                        <a:t>T</a:t>
                      </a:r>
                    </a:p>
                  </a:txBody>
                  <a:tcPr/>
                </a:tc>
                <a:extLst>
                  <a:ext uri="{0D108BD9-81ED-4DB2-BD59-A6C34878D82A}">
                    <a16:rowId xmlns:a16="http://schemas.microsoft.com/office/drawing/2014/main" val="3882505010"/>
                  </a:ext>
                </a:extLst>
              </a:tr>
              <a:tr h="370840">
                <a:tc>
                  <a:txBody>
                    <a:bodyPr/>
                    <a:lstStyle/>
                    <a:p>
                      <a:pPr algn="ctr"/>
                      <a:r>
                        <a:rPr lang="en-US" dirty="0"/>
                        <a:t>F</a:t>
                      </a:r>
                    </a:p>
                  </a:txBody>
                  <a:tcPr/>
                </a:tc>
                <a:tc>
                  <a:txBody>
                    <a:bodyPr/>
                    <a:lstStyle/>
                    <a:p>
                      <a:pPr algn="ctr"/>
                      <a:r>
                        <a:rPr lang="en-US" dirty="0"/>
                        <a:t>F</a:t>
                      </a:r>
                    </a:p>
                  </a:txBody>
                  <a:tcPr/>
                </a:tc>
                <a:tc>
                  <a:txBody>
                    <a:bodyPr/>
                    <a:lstStyle/>
                    <a:p>
                      <a:pPr algn="ctr"/>
                      <a:r>
                        <a:rPr lang="en-US" dirty="0"/>
                        <a:t>F</a:t>
                      </a:r>
                    </a:p>
                  </a:txBody>
                  <a:tcPr/>
                </a:tc>
                <a:extLst>
                  <a:ext uri="{0D108BD9-81ED-4DB2-BD59-A6C34878D82A}">
                    <a16:rowId xmlns:a16="http://schemas.microsoft.com/office/drawing/2014/main" val="3164121273"/>
                  </a:ext>
                </a:extLst>
              </a:tr>
            </a:tbl>
          </a:graphicData>
        </a:graphic>
      </p:graphicFrame>
    </p:spTree>
    <p:extLst>
      <p:ext uri="{BB962C8B-B14F-4D97-AF65-F5344CB8AC3E}">
        <p14:creationId xmlns:p14="http://schemas.microsoft.com/office/powerpoint/2010/main" val="35998789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E1DFC-A0D1-579A-B26F-11FECB3242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527AD4-AA6C-4E79-EDAD-120A470E1784}"/>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C8805920-D723-A89B-6FE9-DF8EA1E31303}"/>
              </a:ext>
            </a:extLst>
          </p:cNvPr>
          <p:cNvSpPr>
            <a:spLocks noGrp="1"/>
          </p:cNvSpPr>
          <p:nvPr>
            <p:ph idx="1"/>
          </p:nvPr>
        </p:nvSpPr>
        <p:spPr>
          <a:xfrm>
            <a:off x="291600" y="662399"/>
            <a:ext cx="8520600" cy="4234065"/>
          </a:xfrm>
        </p:spPr>
        <p:txBody>
          <a:bodyPr/>
          <a:lstStyle/>
          <a:p>
            <a:r>
              <a:rPr lang="en-US" dirty="0"/>
              <a:t>The only difference between exclusive OR and disjunction(inclusive OR) is that it is false when both p and q are true.</a:t>
            </a:r>
          </a:p>
          <a:p>
            <a:r>
              <a:rPr lang="en-US" dirty="0"/>
              <a:t>Example, if p = “students who have taken calculus can take this class” and q = “students who have taken computer science can take this class”,</a:t>
            </a:r>
          </a:p>
          <a:p>
            <a:pPr marL="114300" indent="0">
              <a:buNone/>
            </a:pPr>
            <a:r>
              <a:rPr lang="en-US" dirty="0"/>
              <a:t>    The exclusive or of p and q would be</a:t>
            </a:r>
          </a:p>
          <a:p>
            <a:pPr marL="114300" indent="0">
              <a:buNone/>
            </a:pPr>
            <a:r>
              <a:rPr lang="en-US" dirty="0"/>
              <a:t>    p ⊕ q = “Students who have taken calculus or      </a:t>
            </a:r>
          </a:p>
          <a:p>
            <a:pPr marL="114300" indent="0">
              <a:buNone/>
            </a:pPr>
            <a:r>
              <a:rPr lang="en-US" dirty="0"/>
              <a:t>computer science, but not both, can take this class”</a:t>
            </a:r>
          </a:p>
        </p:txBody>
      </p:sp>
    </p:spTree>
    <p:extLst>
      <p:ext uri="{BB962C8B-B14F-4D97-AF65-F5344CB8AC3E}">
        <p14:creationId xmlns:p14="http://schemas.microsoft.com/office/powerpoint/2010/main" val="301887617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B731FD-4FF7-3EEB-9FDB-EDD554FA19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DC6C94-425A-0295-9221-5AD8AC087743}"/>
              </a:ext>
            </a:extLst>
          </p:cNvPr>
          <p:cNvSpPr>
            <a:spLocks noGrp="1"/>
          </p:cNvSpPr>
          <p:nvPr>
            <p:ph type="title"/>
          </p:nvPr>
        </p:nvSpPr>
        <p:spPr>
          <a:xfrm>
            <a:off x="291600" y="66958"/>
            <a:ext cx="8520600" cy="436160"/>
          </a:xfrm>
        </p:spPr>
        <p:txBody>
          <a:bodyPr/>
          <a:lstStyle/>
          <a:p>
            <a:r>
              <a:rPr lang="en-US" dirty="0"/>
              <a:t>Conditional statement or implication</a:t>
            </a:r>
          </a:p>
        </p:txBody>
      </p:sp>
      <p:sp>
        <p:nvSpPr>
          <p:cNvPr id="3" name="Content Placeholder 2">
            <a:extLst>
              <a:ext uri="{FF2B5EF4-FFF2-40B4-BE49-F238E27FC236}">
                <a16:creationId xmlns:a16="http://schemas.microsoft.com/office/drawing/2014/main" id="{3EE27E54-AFF4-44F8-7A3E-4A61314BB94E}"/>
              </a:ext>
            </a:extLst>
          </p:cNvPr>
          <p:cNvSpPr>
            <a:spLocks noGrp="1"/>
          </p:cNvSpPr>
          <p:nvPr>
            <p:ph idx="1"/>
          </p:nvPr>
        </p:nvSpPr>
        <p:spPr>
          <a:xfrm>
            <a:off x="291600" y="503118"/>
            <a:ext cx="8520600" cy="4529032"/>
          </a:xfrm>
        </p:spPr>
        <p:txBody>
          <a:bodyPr/>
          <a:lstStyle/>
          <a:p>
            <a:r>
              <a:rPr lang="en-US" dirty="0"/>
              <a:t>For any propositions p and q, the conditional statement p → q , read as “p implies q” is the proposition “if p, then q.” </a:t>
            </a:r>
          </a:p>
          <a:p>
            <a:r>
              <a:rPr lang="en-US" dirty="0"/>
              <a:t>The conditional statement p → q is false when p is true and q is false, and true otherwise.</a:t>
            </a:r>
          </a:p>
          <a:p>
            <a:r>
              <a:rPr lang="en-US" dirty="0"/>
              <a:t>Truth table for implication is</a:t>
            </a:r>
          </a:p>
        </p:txBody>
      </p:sp>
      <p:graphicFrame>
        <p:nvGraphicFramePr>
          <p:cNvPr id="4" name="Table 3">
            <a:extLst>
              <a:ext uri="{FF2B5EF4-FFF2-40B4-BE49-F238E27FC236}">
                <a16:creationId xmlns:a16="http://schemas.microsoft.com/office/drawing/2014/main" id="{380ADDF3-9EAC-0FDA-6150-58CAF1808E00}"/>
              </a:ext>
            </a:extLst>
          </p:cNvPr>
          <p:cNvGraphicFramePr>
            <a:graphicFrameLocks noGrp="1"/>
          </p:cNvGraphicFramePr>
          <p:nvPr>
            <p:extLst>
              <p:ext uri="{D42A27DB-BD31-4B8C-83A1-F6EECF244321}">
                <p14:modId xmlns:p14="http://schemas.microsoft.com/office/powerpoint/2010/main" val="4092938702"/>
              </p:ext>
            </p:extLst>
          </p:nvPr>
        </p:nvGraphicFramePr>
        <p:xfrm>
          <a:off x="2283050" y="3129244"/>
          <a:ext cx="4098127" cy="1846199"/>
        </p:xfrm>
        <a:graphic>
          <a:graphicData uri="http://schemas.openxmlformats.org/drawingml/2006/table">
            <a:tbl>
              <a:tblPr firstRow="1" bandRow="1"/>
              <a:tblGrid>
                <a:gridCol w="1363393">
                  <a:extLst>
                    <a:ext uri="{9D8B030D-6E8A-4147-A177-3AD203B41FA5}">
                      <a16:colId xmlns:a16="http://schemas.microsoft.com/office/drawing/2014/main" val="2435714590"/>
                    </a:ext>
                  </a:extLst>
                </a:gridCol>
                <a:gridCol w="1367367">
                  <a:extLst>
                    <a:ext uri="{9D8B030D-6E8A-4147-A177-3AD203B41FA5}">
                      <a16:colId xmlns:a16="http://schemas.microsoft.com/office/drawing/2014/main" val="3255792329"/>
                    </a:ext>
                  </a:extLst>
                </a:gridCol>
                <a:gridCol w="1367367">
                  <a:extLst>
                    <a:ext uri="{9D8B030D-6E8A-4147-A177-3AD203B41FA5}">
                      <a16:colId xmlns:a16="http://schemas.microsoft.com/office/drawing/2014/main" val="3260560510"/>
                    </a:ext>
                  </a:extLst>
                </a:gridCol>
              </a:tblGrid>
              <a:tr h="362839">
                <a:tc>
                  <a:txBody>
                    <a:bodyPr/>
                    <a:lstStyle/>
                    <a:p>
                      <a:pPr marR="0" algn="ctr" rtl="0" fontAlgn="t">
                        <a:buNone/>
                      </a:pPr>
                      <a:r>
                        <a:rPr lang="en-US" sz="1400" b="0" i="0" u="none" strike="noStrike" dirty="0">
                          <a:solidFill>
                            <a:srgbClr val="000000"/>
                          </a:solidFill>
                          <a:effectLst/>
                          <a:latin typeface="Arial" panose="020B0604020202020204" pitchFamily="34" charset="0"/>
                        </a:rPr>
                        <a:t>p</a:t>
                      </a:r>
                      <a:endParaRPr lang="en-US" sz="1800" b="0" i="0" u="none" strike="noStrike" dirty="0">
                        <a:effectLst/>
                        <a:latin typeface="Arial" panose="020B060402020202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F7F7F"/>
                    </a:solidFill>
                  </a:tcPr>
                </a:tc>
                <a:tc>
                  <a:txBody>
                    <a:bodyPr/>
                    <a:lstStyle/>
                    <a:p>
                      <a:pPr marR="0" algn="ctr" rtl="0" fontAlgn="t">
                        <a:buNone/>
                      </a:pPr>
                      <a:r>
                        <a:rPr lang="en-US" sz="1400" b="0" i="0" u="none" strike="noStrike" dirty="0">
                          <a:solidFill>
                            <a:srgbClr val="000000"/>
                          </a:solidFill>
                          <a:effectLst/>
                          <a:latin typeface="Arial" panose="020B0604020202020204" pitchFamily="34" charset="0"/>
                        </a:rPr>
                        <a:t>q</a:t>
                      </a:r>
                      <a:endParaRPr lang="en-US" sz="1800" b="0" i="0" u="none" strike="noStrike" dirty="0">
                        <a:effectLst/>
                        <a:latin typeface="Arial" panose="020B060402020202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F7F7F"/>
                    </a:solidFill>
                  </a:tcPr>
                </a:tc>
                <a:tc>
                  <a:txBody>
                    <a:bodyPr/>
                    <a:lstStyle/>
                    <a:p>
                      <a:pPr marR="0" algn="ctr" rtl="0" fontAlgn="t">
                        <a:buNone/>
                      </a:pPr>
                      <a:r>
                        <a:rPr lang="en-US" sz="1400" b="0" i="0" u="none" strike="noStrike" dirty="0">
                          <a:solidFill>
                            <a:srgbClr val="000000"/>
                          </a:solidFill>
                          <a:effectLst/>
                          <a:latin typeface="Arial" panose="020B0604020202020204" pitchFamily="34" charset="0"/>
                        </a:rPr>
                        <a:t>p ⇒ q</a:t>
                      </a:r>
                      <a:endParaRPr lang="en-US" sz="1800" b="0" i="0" u="none" strike="noStrike" dirty="0">
                        <a:effectLst/>
                        <a:latin typeface="Arial" panose="020B060402020202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F7F7F"/>
                    </a:solidFill>
                  </a:tcPr>
                </a:tc>
                <a:extLst>
                  <a:ext uri="{0D108BD9-81ED-4DB2-BD59-A6C34878D82A}">
                    <a16:rowId xmlns:a16="http://schemas.microsoft.com/office/drawing/2014/main" val="16368877"/>
                  </a:ext>
                </a:extLst>
              </a:tr>
              <a:tr h="370840">
                <a:tc>
                  <a:txBody>
                    <a:bodyPr/>
                    <a:lstStyle/>
                    <a:p>
                      <a:pPr marR="0" algn="ctr" rtl="0" fontAlgn="t">
                        <a:buNone/>
                      </a:pPr>
                      <a:r>
                        <a:rPr lang="en-US" sz="1400" b="0" i="0" u="none" strike="noStrike">
                          <a:solidFill>
                            <a:srgbClr val="000000"/>
                          </a:solidFill>
                          <a:effectLst/>
                          <a:latin typeface="Arial" panose="020B0604020202020204" pitchFamily="34" charset="0"/>
                        </a:rPr>
                        <a:t>T</a:t>
                      </a:r>
                      <a:endParaRPr lang="en-US" sz="1800" b="0" i="0" u="none" strike="noStrike">
                        <a:effectLst/>
                        <a:latin typeface="Arial" panose="020B060402020202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0" algn="ctr" rtl="0" fontAlgn="t">
                        <a:buNone/>
                      </a:pPr>
                      <a:r>
                        <a:rPr lang="en-US" sz="1400" b="0" i="0" u="none" strike="noStrike">
                          <a:solidFill>
                            <a:srgbClr val="000000"/>
                          </a:solidFill>
                          <a:effectLst/>
                          <a:latin typeface="Arial" panose="020B0604020202020204" pitchFamily="34" charset="0"/>
                        </a:rPr>
                        <a:t>T</a:t>
                      </a:r>
                      <a:endParaRPr lang="en-US" sz="1800" b="0" i="0" u="none" strike="noStrike">
                        <a:effectLst/>
                        <a:latin typeface="Arial" panose="020B060402020202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0" algn="ctr" rtl="0" fontAlgn="t">
                        <a:buNone/>
                      </a:pPr>
                      <a:r>
                        <a:rPr lang="en-US" sz="1400" b="0" i="0" u="none" strike="noStrike" dirty="0">
                          <a:solidFill>
                            <a:srgbClr val="000000"/>
                          </a:solidFill>
                          <a:effectLst/>
                          <a:latin typeface="Arial" panose="020B0604020202020204" pitchFamily="34" charset="0"/>
                        </a:rPr>
                        <a:t>T</a:t>
                      </a:r>
                      <a:endParaRPr lang="en-US" sz="1800" b="0" i="0" u="none" strike="noStrike" dirty="0">
                        <a:effectLst/>
                        <a:latin typeface="Arial" panose="020B060402020202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84321676"/>
                  </a:ext>
                </a:extLst>
              </a:tr>
              <a:tr h="370840">
                <a:tc>
                  <a:txBody>
                    <a:bodyPr/>
                    <a:lstStyle/>
                    <a:p>
                      <a:pPr marR="0" algn="ctr" rtl="0" fontAlgn="t">
                        <a:buNone/>
                      </a:pPr>
                      <a:r>
                        <a:rPr lang="en-US" sz="1400" b="0" i="0" u="none" strike="noStrike">
                          <a:solidFill>
                            <a:srgbClr val="000000"/>
                          </a:solidFill>
                          <a:effectLst/>
                          <a:latin typeface="Arial" panose="020B0604020202020204" pitchFamily="34" charset="0"/>
                        </a:rPr>
                        <a:t>T</a:t>
                      </a:r>
                      <a:endParaRPr lang="en-US" sz="1800" b="0" i="0" u="none" strike="noStrike">
                        <a:effectLst/>
                        <a:latin typeface="Arial" panose="020B060402020202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0" algn="ctr" rtl="0" fontAlgn="t">
                        <a:buNone/>
                      </a:pPr>
                      <a:r>
                        <a:rPr lang="en-US" sz="1400" b="0" i="0" u="none" strike="noStrike">
                          <a:solidFill>
                            <a:srgbClr val="000000"/>
                          </a:solidFill>
                          <a:effectLst/>
                          <a:latin typeface="Arial" panose="020B0604020202020204" pitchFamily="34" charset="0"/>
                        </a:rPr>
                        <a:t>F</a:t>
                      </a:r>
                      <a:endParaRPr lang="en-US" sz="1800" b="0" i="0" u="none" strike="noStrike">
                        <a:effectLst/>
                        <a:latin typeface="Arial" panose="020B060402020202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0" algn="ctr" rtl="0" fontAlgn="t">
                        <a:buNone/>
                      </a:pPr>
                      <a:r>
                        <a:rPr lang="en-US" sz="1400" b="0" i="0" u="none" strike="noStrike" dirty="0">
                          <a:solidFill>
                            <a:srgbClr val="000000"/>
                          </a:solidFill>
                          <a:effectLst/>
                          <a:latin typeface="Arial" panose="020B0604020202020204" pitchFamily="34" charset="0"/>
                        </a:rPr>
                        <a:t>F</a:t>
                      </a:r>
                      <a:endParaRPr lang="en-US" sz="1800" b="0" i="0" u="none" strike="noStrike" dirty="0">
                        <a:effectLst/>
                        <a:latin typeface="Arial" panose="020B060402020202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09602382"/>
                  </a:ext>
                </a:extLst>
              </a:tr>
              <a:tr h="370840">
                <a:tc>
                  <a:txBody>
                    <a:bodyPr/>
                    <a:lstStyle/>
                    <a:p>
                      <a:pPr marR="0" algn="ctr" rtl="0" fontAlgn="t">
                        <a:buNone/>
                      </a:pPr>
                      <a:r>
                        <a:rPr lang="en-US" sz="1400" b="0" i="0" u="none" strike="noStrike">
                          <a:solidFill>
                            <a:srgbClr val="000000"/>
                          </a:solidFill>
                          <a:effectLst/>
                          <a:latin typeface="Arial" panose="020B0604020202020204" pitchFamily="34" charset="0"/>
                        </a:rPr>
                        <a:t>F</a:t>
                      </a:r>
                      <a:endParaRPr lang="en-US" sz="1800" b="0" i="0" u="none" strike="noStrike">
                        <a:effectLst/>
                        <a:latin typeface="Arial" panose="020B060402020202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0" algn="ctr" rtl="0" fontAlgn="t">
                        <a:buNone/>
                      </a:pPr>
                      <a:r>
                        <a:rPr lang="en-US" sz="1400" b="0" i="0" u="none" strike="noStrike">
                          <a:solidFill>
                            <a:srgbClr val="000000"/>
                          </a:solidFill>
                          <a:effectLst/>
                          <a:latin typeface="Arial" panose="020B0604020202020204" pitchFamily="34" charset="0"/>
                        </a:rPr>
                        <a:t>T</a:t>
                      </a:r>
                      <a:endParaRPr lang="en-US" sz="1800" b="0" i="0" u="none" strike="noStrike">
                        <a:effectLst/>
                        <a:latin typeface="Arial" panose="020B060402020202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0" algn="ctr" rtl="0" fontAlgn="t">
                        <a:buNone/>
                      </a:pPr>
                      <a:r>
                        <a:rPr lang="en-US" sz="1400" b="0" i="0" u="none" strike="noStrike" dirty="0">
                          <a:solidFill>
                            <a:srgbClr val="000000"/>
                          </a:solidFill>
                          <a:effectLst/>
                          <a:latin typeface="Arial" panose="020B0604020202020204" pitchFamily="34" charset="0"/>
                        </a:rPr>
                        <a:t>T</a:t>
                      </a:r>
                      <a:endParaRPr lang="en-US" sz="1800" b="0" i="0" u="none" strike="noStrike" dirty="0">
                        <a:effectLst/>
                        <a:latin typeface="Arial" panose="020B060402020202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96333089"/>
                  </a:ext>
                </a:extLst>
              </a:tr>
              <a:tr h="370840">
                <a:tc>
                  <a:txBody>
                    <a:bodyPr/>
                    <a:lstStyle/>
                    <a:p>
                      <a:pPr marR="0" algn="ctr" rtl="0" fontAlgn="t">
                        <a:buNone/>
                      </a:pPr>
                      <a:r>
                        <a:rPr lang="en-US" sz="1400" b="0" i="0" u="none" strike="noStrike" dirty="0">
                          <a:solidFill>
                            <a:srgbClr val="000000"/>
                          </a:solidFill>
                          <a:effectLst/>
                          <a:latin typeface="Arial" panose="020B0604020202020204" pitchFamily="34" charset="0"/>
                        </a:rPr>
                        <a:t>F</a:t>
                      </a:r>
                      <a:endParaRPr lang="en-US" sz="1800" b="0" i="0" u="none" strike="noStrike" dirty="0">
                        <a:effectLst/>
                        <a:latin typeface="Arial" panose="020B060402020202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0" algn="ctr" rtl="0" fontAlgn="t">
                        <a:buNone/>
                      </a:pPr>
                      <a:r>
                        <a:rPr lang="en-US" sz="1400" b="0" i="0" u="none" strike="noStrike" dirty="0">
                          <a:solidFill>
                            <a:srgbClr val="000000"/>
                          </a:solidFill>
                          <a:effectLst/>
                          <a:latin typeface="Arial" panose="020B0604020202020204" pitchFamily="34" charset="0"/>
                        </a:rPr>
                        <a:t>F</a:t>
                      </a:r>
                      <a:endParaRPr lang="en-US" sz="1800" b="0" i="0" u="none" strike="noStrike" dirty="0">
                        <a:effectLst/>
                        <a:latin typeface="Arial" panose="020B060402020202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0" algn="ctr" rtl="0" fontAlgn="t">
                        <a:buNone/>
                      </a:pPr>
                      <a:r>
                        <a:rPr lang="en-US" sz="1400" b="0" i="0" u="none" strike="noStrike" dirty="0">
                          <a:solidFill>
                            <a:srgbClr val="000000"/>
                          </a:solidFill>
                          <a:effectLst/>
                          <a:latin typeface="Arial" panose="020B0604020202020204" pitchFamily="34" charset="0"/>
                        </a:rPr>
                        <a:t>T</a:t>
                      </a:r>
                      <a:endParaRPr lang="en-US" sz="1800" b="0" i="0" u="none" strike="noStrike" dirty="0">
                        <a:effectLst/>
                        <a:latin typeface="Arial" panose="020B060402020202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21816487"/>
                  </a:ext>
                </a:extLst>
              </a:tr>
            </a:tbl>
          </a:graphicData>
        </a:graphic>
      </p:graphicFrame>
    </p:spTree>
    <p:extLst>
      <p:ext uri="{BB962C8B-B14F-4D97-AF65-F5344CB8AC3E}">
        <p14:creationId xmlns:p14="http://schemas.microsoft.com/office/powerpoint/2010/main" val="56282500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C51CB9-DE26-00E3-7FEF-74682B2212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9C2DA3-762C-7827-0345-CCB0CDDC2DB3}"/>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C2A42EF6-53A8-39BE-EECB-0FECF5E3E062}"/>
              </a:ext>
            </a:extLst>
          </p:cNvPr>
          <p:cNvSpPr>
            <a:spLocks noGrp="1"/>
          </p:cNvSpPr>
          <p:nvPr>
            <p:ph idx="1"/>
          </p:nvPr>
        </p:nvSpPr>
        <p:spPr>
          <a:xfrm>
            <a:off x="220808" y="289068"/>
            <a:ext cx="8520600" cy="5143500"/>
          </a:xfrm>
        </p:spPr>
        <p:txBody>
          <a:bodyPr/>
          <a:lstStyle/>
          <a:p>
            <a:r>
              <a:rPr lang="en-US" dirty="0"/>
              <a:t>In the conditional statement p → q, p is called the hypothesis (or antecedent or premise) and q is called the conclusion (or consequence).</a:t>
            </a:r>
          </a:p>
          <a:p>
            <a:r>
              <a:rPr lang="en-US" dirty="0"/>
              <a:t>The statement p → q is called a conditional statement because p → q asserts that the conclusion q is true on the condition that the hypothesis p holds.</a:t>
            </a:r>
          </a:p>
          <a:p>
            <a:r>
              <a:rPr lang="en-US" dirty="0"/>
              <a:t>A conditional statement is also called an implication.</a:t>
            </a:r>
          </a:p>
          <a:p>
            <a:endParaRPr lang="en-TZ" dirty="0"/>
          </a:p>
          <a:p>
            <a:endParaRPr lang="en-US" dirty="0"/>
          </a:p>
        </p:txBody>
      </p:sp>
    </p:spTree>
    <p:extLst>
      <p:ext uri="{BB962C8B-B14F-4D97-AF65-F5344CB8AC3E}">
        <p14:creationId xmlns:p14="http://schemas.microsoft.com/office/powerpoint/2010/main" val="189747580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E07C1D-000B-0652-6E8B-8767880A77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AE55C3-5C87-D7F0-2859-088C70518E26}"/>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C71858C4-477A-72B7-9FF7-908F9016931A}"/>
              </a:ext>
            </a:extLst>
          </p:cNvPr>
          <p:cNvSpPr>
            <a:spLocks noGrp="1"/>
          </p:cNvSpPr>
          <p:nvPr>
            <p:ph idx="1"/>
          </p:nvPr>
        </p:nvSpPr>
        <p:spPr>
          <a:xfrm>
            <a:off x="311700" y="455922"/>
            <a:ext cx="8520600" cy="5030478"/>
          </a:xfrm>
        </p:spPr>
        <p:txBody>
          <a:bodyPr/>
          <a:lstStyle/>
          <a:p>
            <a:r>
              <a:rPr lang="en-US" dirty="0"/>
              <a:t>There are several  ways to express this conditional statement p ⇒ q;</a:t>
            </a:r>
          </a:p>
          <a:p>
            <a:r>
              <a:rPr lang="en-US" dirty="0"/>
              <a:t>“if p, then q”                                 “p implies q”</a:t>
            </a:r>
          </a:p>
          <a:p>
            <a:r>
              <a:rPr lang="en-US" dirty="0"/>
              <a:t>“if p, q”                                          “p only if q”</a:t>
            </a:r>
          </a:p>
          <a:p>
            <a:r>
              <a:rPr lang="en-US" dirty="0"/>
              <a:t>“p is sufficient for q”    “a sufficient condition for q is p”</a:t>
            </a:r>
          </a:p>
          <a:p>
            <a:r>
              <a:rPr lang="en-US" dirty="0"/>
              <a:t>“q if p”                                      “q whenever p”</a:t>
            </a:r>
          </a:p>
          <a:p>
            <a:r>
              <a:rPr lang="en-US" dirty="0"/>
              <a:t>“q when p”                               “q is necessary for p”</a:t>
            </a:r>
          </a:p>
          <a:p>
            <a:r>
              <a:rPr lang="en-US" dirty="0"/>
              <a:t>“q unless ¬p”                            “q follows from p”</a:t>
            </a:r>
          </a:p>
          <a:p>
            <a:r>
              <a:rPr lang="en-US" dirty="0"/>
              <a:t>“a necessary condition for p is q”.</a:t>
            </a:r>
          </a:p>
        </p:txBody>
      </p:sp>
    </p:spTree>
    <p:extLst>
      <p:ext uri="{BB962C8B-B14F-4D97-AF65-F5344CB8AC3E}">
        <p14:creationId xmlns:p14="http://schemas.microsoft.com/office/powerpoint/2010/main" val="110772064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A37693-374A-20C2-2EAA-02443699E7F3}"/>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DC9CBE19-D1E5-15D3-213E-63294E688035}"/>
              </a:ext>
            </a:extLst>
          </p:cNvPr>
          <p:cNvSpPr>
            <a:spLocks noGrp="1"/>
          </p:cNvSpPr>
          <p:nvPr>
            <p:ph idx="1"/>
          </p:nvPr>
        </p:nvSpPr>
        <p:spPr/>
        <p:txBody>
          <a:bodyPr/>
          <a:lstStyle/>
          <a:p>
            <a:r>
              <a:rPr lang="en-US" dirty="0"/>
              <a:t>Example;</a:t>
            </a:r>
          </a:p>
          <a:p>
            <a:pPr marL="114300" indent="0">
              <a:buNone/>
            </a:pPr>
            <a:r>
              <a:rPr lang="en-US" dirty="0"/>
              <a:t> If p is the statement “Mary learns discrete mathematics” and q is the statement “Mary will find a good job”.</a:t>
            </a:r>
          </a:p>
          <a:p>
            <a:pPr marL="114300" indent="0">
              <a:buNone/>
            </a:pPr>
            <a:r>
              <a:rPr lang="en-US" dirty="0"/>
              <a:t> Then the implication p implies q will be</a:t>
            </a:r>
          </a:p>
          <a:p>
            <a:pPr marL="114300" indent="0">
              <a:buNone/>
            </a:pPr>
            <a:r>
              <a:rPr lang="en-US" dirty="0"/>
              <a:t>        p ⇒ q = “If Mary learns discrete mathematics, then   she will find a good job.” </a:t>
            </a:r>
          </a:p>
          <a:p>
            <a:pPr marL="114300" indent="0">
              <a:buNone/>
            </a:pPr>
            <a:r>
              <a:rPr lang="en-US" dirty="0"/>
              <a:t>   or “Mary will find a good job if she learns discrete mathematics.”</a:t>
            </a:r>
          </a:p>
          <a:p>
            <a:endParaRPr lang="en-US" dirty="0"/>
          </a:p>
        </p:txBody>
      </p:sp>
    </p:spTree>
    <p:extLst>
      <p:ext uri="{BB962C8B-B14F-4D97-AF65-F5344CB8AC3E}">
        <p14:creationId xmlns:p14="http://schemas.microsoft.com/office/powerpoint/2010/main" val="7560919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50AFFF-0983-C5EA-A266-432D9F9487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D8A1BC-0AB1-074D-C043-FD5803C427BA}"/>
              </a:ext>
            </a:extLst>
          </p:cNvPr>
          <p:cNvSpPr>
            <a:spLocks noGrp="1"/>
          </p:cNvSpPr>
          <p:nvPr>
            <p:ph type="title"/>
          </p:nvPr>
        </p:nvSpPr>
        <p:spPr>
          <a:xfrm>
            <a:off x="311700" y="-34481"/>
            <a:ext cx="8520600" cy="436160"/>
          </a:xfrm>
        </p:spPr>
        <p:txBody>
          <a:bodyPr/>
          <a:lstStyle/>
          <a:p>
            <a:r>
              <a:rPr lang="en-US" dirty="0"/>
              <a:t>Converse, contrapositive, and inverse</a:t>
            </a:r>
          </a:p>
        </p:txBody>
      </p:sp>
      <p:sp>
        <p:nvSpPr>
          <p:cNvPr id="3" name="Content Placeholder 2">
            <a:extLst>
              <a:ext uri="{FF2B5EF4-FFF2-40B4-BE49-F238E27FC236}">
                <a16:creationId xmlns:a16="http://schemas.microsoft.com/office/drawing/2014/main" id="{6D032932-DAFC-20F2-ED65-AEF0EE65ED57}"/>
              </a:ext>
            </a:extLst>
          </p:cNvPr>
          <p:cNvSpPr>
            <a:spLocks noGrp="1"/>
          </p:cNvSpPr>
          <p:nvPr>
            <p:ph idx="1"/>
          </p:nvPr>
        </p:nvSpPr>
        <p:spPr>
          <a:xfrm>
            <a:off x="496982" y="401679"/>
            <a:ext cx="8520600" cy="4693905"/>
          </a:xfrm>
        </p:spPr>
        <p:txBody>
          <a:bodyPr/>
          <a:lstStyle/>
          <a:p>
            <a:r>
              <a:rPr lang="en-US" dirty="0"/>
              <a:t>We can form some new conditional statements from the conditional statement p → q.</a:t>
            </a:r>
          </a:p>
          <a:p>
            <a:r>
              <a:rPr lang="en-US" dirty="0"/>
              <a:t>The proposition q → p is called the ‘converse’ of p → q, obtained by swapping the hypothesis and conclusion.</a:t>
            </a:r>
          </a:p>
          <a:p>
            <a:r>
              <a:rPr lang="en-US" dirty="0"/>
              <a:t>Note that an implication and its converse are not logically equivalent.</a:t>
            </a:r>
          </a:p>
          <a:p>
            <a:r>
              <a:rPr lang="en-US" dirty="0"/>
              <a:t>The proposition ¬p → ¬q is called the inverse of p → q, obtained by negating both parts.</a:t>
            </a:r>
          </a:p>
          <a:p>
            <a:r>
              <a:rPr lang="en-US" dirty="0"/>
              <a:t>The inverse is logically equivalent to the converse of the conditional statement.</a:t>
            </a:r>
          </a:p>
        </p:txBody>
      </p:sp>
    </p:spTree>
    <p:extLst>
      <p:ext uri="{BB962C8B-B14F-4D97-AF65-F5344CB8AC3E}">
        <p14:creationId xmlns:p14="http://schemas.microsoft.com/office/powerpoint/2010/main" val="156276746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13048-12B7-85AF-CC30-7AE3599101EA}"/>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A5BC470E-19D5-3572-E160-D8E7FE1D4FAF}"/>
              </a:ext>
            </a:extLst>
          </p:cNvPr>
          <p:cNvSpPr>
            <a:spLocks noGrp="1"/>
          </p:cNvSpPr>
          <p:nvPr>
            <p:ph idx="1"/>
          </p:nvPr>
        </p:nvSpPr>
        <p:spPr>
          <a:xfrm>
            <a:off x="291600" y="323873"/>
            <a:ext cx="8520600" cy="4687742"/>
          </a:xfrm>
        </p:spPr>
        <p:txBody>
          <a:bodyPr/>
          <a:lstStyle/>
          <a:p>
            <a:r>
              <a:rPr lang="en-US" dirty="0"/>
              <a:t>The proposition ¬q → ¬p is called the contrapositive of p → q, obtained by negating and swapping the hypothesis and the conclusion.</a:t>
            </a:r>
          </a:p>
          <a:p>
            <a:r>
              <a:rPr lang="en-US" dirty="0"/>
              <a:t>Importantly, the contrapositive is logically equivalent to the original implication, which is a property frequently used in mathematical proofs.</a:t>
            </a:r>
          </a:p>
          <a:p>
            <a:r>
              <a:rPr lang="en-US" dirty="0"/>
              <a:t>Instead of proving an implication is true, we may instead proof that the contrapositive is true, if it is easier to prove.</a:t>
            </a:r>
          </a:p>
          <a:p>
            <a:r>
              <a:rPr lang="en-US" dirty="0"/>
              <a:t>Since they are logically equivalent, proving one of them will imply the other.</a:t>
            </a:r>
            <a:endParaRPr lang="en-TZ" dirty="0"/>
          </a:p>
          <a:p>
            <a:endParaRPr lang="en-US" dirty="0"/>
          </a:p>
        </p:txBody>
      </p:sp>
    </p:spTree>
    <p:extLst>
      <p:ext uri="{BB962C8B-B14F-4D97-AF65-F5344CB8AC3E}">
        <p14:creationId xmlns:p14="http://schemas.microsoft.com/office/powerpoint/2010/main" val="349436153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E451B9-8012-2E79-D57C-79509E7AD5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CE4616-525C-637C-E122-2A511DCE5C19}"/>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0BF891C0-ADB7-492F-056F-657B4726A364}"/>
              </a:ext>
            </a:extLst>
          </p:cNvPr>
          <p:cNvSpPr>
            <a:spLocks noGrp="1"/>
          </p:cNvSpPr>
          <p:nvPr>
            <p:ph idx="1"/>
          </p:nvPr>
        </p:nvSpPr>
        <p:spPr>
          <a:xfrm>
            <a:off x="291600" y="662400"/>
            <a:ext cx="8520600" cy="4297500"/>
          </a:xfrm>
        </p:spPr>
        <p:txBody>
          <a:bodyPr/>
          <a:lstStyle/>
          <a:p>
            <a:r>
              <a:rPr lang="en-US" dirty="0"/>
              <a:t>This can be verified by using the truth table with both  p implies q and its contrapositive;</a:t>
            </a:r>
          </a:p>
          <a:p>
            <a:endParaRPr lang="en-US" dirty="0"/>
          </a:p>
          <a:p>
            <a:endParaRPr lang="en-US" dirty="0"/>
          </a:p>
          <a:p>
            <a:endParaRPr lang="en-US" dirty="0"/>
          </a:p>
          <a:p>
            <a:endParaRPr lang="en-US" dirty="0"/>
          </a:p>
          <a:p>
            <a:endParaRPr lang="en-US" dirty="0"/>
          </a:p>
          <a:p>
            <a:endParaRPr lang="en-US" dirty="0"/>
          </a:p>
          <a:p>
            <a:r>
              <a:rPr lang="en-US" dirty="0"/>
              <a:t>Since both columns have the same truth values for all cases, we say the statements are logically equivalent. </a:t>
            </a:r>
          </a:p>
          <a:p>
            <a:endParaRPr lang="en-US" dirty="0"/>
          </a:p>
        </p:txBody>
      </p:sp>
      <p:graphicFrame>
        <p:nvGraphicFramePr>
          <p:cNvPr id="4" name="Table 3">
            <a:extLst>
              <a:ext uri="{FF2B5EF4-FFF2-40B4-BE49-F238E27FC236}">
                <a16:creationId xmlns:a16="http://schemas.microsoft.com/office/drawing/2014/main" id="{D02E7AA5-7407-4CB4-C1FA-0CEAD761AF93}"/>
              </a:ext>
            </a:extLst>
          </p:cNvPr>
          <p:cNvGraphicFramePr>
            <a:graphicFrameLocks noGrp="1"/>
          </p:cNvGraphicFramePr>
          <p:nvPr>
            <p:extLst>
              <p:ext uri="{D42A27DB-BD31-4B8C-83A1-F6EECF244321}">
                <p14:modId xmlns:p14="http://schemas.microsoft.com/office/powerpoint/2010/main" val="414224534"/>
              </p:ext>
            </p:extLst>
          </p:nvPr>
        </p:nvGraphicFramePr>
        <p:xfrm>
          <a:off x="1929088" y="1884050"/>
          <a:ext cx="4884668" cy="1854200"/>
        </p:xfrm>
        <a:graphic>
          <a:graphicData uri="http://schemas.openxmlformats.org/drawingml/2006/table">
            <a:tbl>
              <a:tblPr firstRow="1" bandRow="1">
                <a:tableStyleId>{5940675A-B579-460E-94D1-54222C63F5DA}</a:tableStyleId>
              </a:tblPr>
              <a:tblGrid>
                <a:gridCol w="1221167">
                  <a:extLst>
                    <a:ext uri="{9D8B030D-6E8A-4147-A177-3AD203B41FA5}">
                      <a16:colId xmlns:a16="http://schemas.microsoft.com/office/drawing/2014/main" val="2924721311"/>
                    </a:ext>
                  </a:extLst>
                </a:gridCol>
                <a:gridCol w="1221167">
                  <a:extLst>
                    <a:ext uri="{9D8B030D-6E8A-4147-A177-3AD203B41FA5}">
                      <a16:colId xmlns:a16="http://schemas.microsoft.com/office/drawing/2014/main" val="1897881870"/>
                    </a:ext>
                  </a:extLst>
                </a:gridCol>
                <a:gridCol w="1221167">
                  <a:extLst>
                    <a:ext uri="{9D8B030D-6E8A-4147-A177-3AD203B41FA5}">
                      <a16:colId xmlns:a16="http://schemas.microsoft.com/office/drawing/2014/main" val="78319114"/>
                    </a:ext>
                  </a:extLst>
                </a:gridCol>
                <a:gridCol w="1221167">
                  <a:extLst>
                    <a:ext uri="{9D8B030D-6E8A-4147-A177-3AD203B41FA5}">
                      <a16:colId xmlns:a16="http://schemas.microsoft.com/office/drawing/2014/main" val="3613327970"/>
                    </a:ext>
                  </a:extLst>
                </a:gridCol>
              </a:tblGrid>
              <a:tr h="370840">
                <a:tc>
                  <a:txBody>
                    <a:bodyPr/>
                    <a:lstStyle/>
                    <a:p>
                      <a:pPr algn="ctr"/>
                      <a:r>
                        <a:rPr lang="en-US" dirty="0"/>
                        <a:t>p</a:t>
                      </a:r>
                    </a:p>
                  </a:txBody>
                  <a:tcPr>
                    <a:solidFill>
                      <a:schemeClr val="tx1">
                        <a:lumMod val="50000"/>
                        <a:lumOff val="50000"/>
                      </a:schemeClr>
                    </a:solidFill>
                  </a:tcPr>
                </a:tc>
                <a:tc>
                  <a:txBody>
                    <a:bodyPr/>
                    <a:lstStyle/>
                    <a:p>
                      <a:pPr algn="ctr"/>
                      <a:r>
                        <a:rPr lang="en-US" dirty="0"/>
                        <a:t>q</a:t>
                      </a:r>
                    </a:p>
                  </a:txBody>
                  <a:tcPr>
                    <a:solidFill>
                      <a:schemeClr val="tx1">
                        <a:lumMod val="50000"/>
                        <a:lumOff val="50000"/>
                      </a:schemeClr>
                    </a:solidFill>
                  </a:tcPr>
                </a:tc>
                <a:tc>
                  <a:txBody>
                    <a:bodyPr/>
                    <a:lstStyle/>
                    <a:p>
                      <a:pPr algn="ctr"/>
                      <a:r>
                        <a:rPr lang="en-US" dirty="0"/>
                        <a:t>p ⇒ q</a:t>
                      </a:r>
                    </a:p>
                  </a:txBody>
                  <a:tcPr>
                    <a:solidFill>
                      <a:schemeClr val="tx1">
                        <a:lumMod val="50000"/>
                        <a:lumOff val="50000"/>
                      </a:schemeClr>
                    </a:solidFill>
                  </a:tcPr>
                </a:tc>
                <a:tc>
                  <a:txBody>
                    <a:bodyPr/>
                    <a:lstStyle/>
                    <a:p>
                      <a:pPr algn="ctr"/>
                      <a:r>
                        <a:rPr lang="en-US" dirty="0"/>
                        <a:t>∼q ⇒ ∼p</a:t>
                      </a:r>
                    </a:p>
                  </a:txBody>
                  <a:tcPr>
                    <a:solidFill>
                      <a:schemeClr val="tx1">
                        <a:lumMod val="50000"/>
                        <a:lumOff val="50000"/>
                      </a:schemeClr>
                    </a:solidFill>
                  </a:tcPr>
                </a:tc>
                <a:extLst>
                  <a:ext uri="{0D108BD9-81ED-4DB2-BD59-A6C34878D82A}">
                    <a16:rowId xmlns:a16="http://schemas.microsoft.com/office/drawing/2014/main" val="3309145592"/>
                  </a:ext>
                </a:extLst>
              </a:tr>
              <a:tr h="370840">
                <a:tc>
                  <a:txBody>
                    <a:bodyPr/>
                    <a:lstStyle/>
                    <a:p>
                      <a:pPr algn="ctr"/>
                      <a:r>
                        <a:rPr lang="en-US" dirty="0"/>
                        <a:t>T</a:t>
                      </a:r>
                    </a:p>
                  </a:txBody>
                  <a:tcPr/>
                </a:tc>
                <a:tc>
                  <a:txBody>
                    <a:bodyPr/>
                    <a:lstStyle/>
                    <a:p>
                      <a:pPr algn="ctr"/>
                      <a:r>
                        <a:rPr lang="en-US" dirty="0"/>
                        <a:t>T</a:t>
                      </a:r>
                    </a:p>
                  </a:txBody>
                  <a:tcPr/>
                </a:tc>
                <a:tc>
                  <a:txBody>
                    <a:bodyPr/>
                    <a:lstStyle/>
                    <a:p>
                      <a:pPr algn="ctr"/>
                      <a:r>
                        <a:rPr lang="en-US" dirty="0"/>
                        <a:t>T</a:t>
                      </a:r>
                    </a:p>
                  </a:txBody>
                  <a:tcPr/>
                </a:tc>
                <a:tc>
                  <a:txBody>
                    <a:bodyPr/>
                    <a:lstStyle/>
                    <a:p>
                      <a:pPr algn="ctr"/>
                      <a:r>
                        <a:rPr lang="en-US" dirty="0"/>
                        <a:t>T</a:t>
                      </a:r>
                    </a:p>
                  </a:txBody>
                  <a:tcPr/>
                </a:tc>
                <a:extLst>
                  <a:ext uri="{0D108BD9-81ED-4DB2-BD59-A6C34878D82A}">
                    <a16:rowId xmlns:a16="http://schemas.microsoft.com/office/drawing/2014/main" val="1091363306"/>
                  </a:ext>
                </a:extLst>
              </a:tr>
              <a:tr h="370840">
                <a:tc>
                  <a:txBody>
                    <a:bodyPr/>
                    <a:lstStyle/>
                    <a:p>
                      <a:pPr algn="ctr"/>
                      <a:r>
                        <a:rPr lang="en-US" dirty="0"/>
                        <a:t>T</a:t>
                      </a:r>
                    </a:p>
                  </a:txBody>
                  <a:tcPr/>
                </a:tc>
                <a:tc>
                  <a:txBody>
                    <a:bodyPr/>
                    <a:lstStyle/>
                    <a:p>
                      <a:pPr algn="ctr"/>
                      <a:r>
                        <a:rPr lang="en-US" dirty="0"/>
                        <a:t>F</a:t>
                      </a:r>
                    </a:p>
                  </a:txBody>
                  <a:tcPr/>
                </a:tc>
                <a:tc>
                  <a:txBody>
                    <a:bodyPr/>
                    <a:lstStyle/>
                    <a:p>
                      <a:pPr algn="ctr"/>
                      <a:r>
                        <a:rPr lang="en-US" dirty="0"/>
                        <a:t>F</a:t>
                      </a:r>
                    </a:p>
                  </a:txBody>
                  <a:tcPr/>
                </a:tc>
                <a:tc>
                  <a:txBody>
                    <a:bodyPr/>
                    <a:lstStyle/>
                    <a:p>
                      <a:pPr algn="ctr"/>
                      <a:r>
                        <a:rPr lang="en-US" dirty="0"/>
                        <a:t>F</a:t>
                      </a:r>
                    </a:p>
                  </a:txBody>
                  <a:tcPr/>
                </a:tc>
                <a:extLst>
                  <a:ext uri="{0D108BD9-81ED-4DB2-BD59-A6C34878D82A}">
                    <a16:rowId xmlns:a16="http://schemas.microsoft.com/office/drawing/2014/main" val="2849911534"/>
                  </a:ext>
                </a:extLst>
              </a:tr>
              <a:tr h="370840">
                <a:tc>
                  <a:txBody>
                    <a:bodyPr/>
                    <a:lstStyle/>
                    <a:p>
                      <a:pPr algn="ctr"/>
                      <a:r>
                        <a:rPr lang="en-US" dirty="0"/>
                        <a:t>F</a:t>
                      </a:r>
                    </a:p>
                  </a:txBody>
                  <a:tcPr/>
                </a:tc>
                <a:tc>
                  <a:txBody>
                    <a:bodyPr/>
                    <a:lstStyle/>
                    <a:p>
                      <a:pPr algn="ctr"/>
                      <a:r>
                        <a:rPr lang="en-US" dirty="0"/>
                        <a:t>T</a:t>
                      </a:r>
                    </a:p>
                  </a:txBody>
                  <a:tcPr/>
                </a:tc>
                <a:tc>
                  <a:txBody>
                    <a:bodyPr/>
                    <a:lstStyle/>
                    <a:p>
                      <a:pPr algn="ctr"/>
                      <a:r>
                        <a:rPr lang="en-US" dirty="0"/>
                        <a:t>T</a:t>
                      </a:r>
                    </a:p>
                  </a:txBody>
                  <a:tcPr/>
                </a:tc>
                <a:tc>
                  <a:txBody>
                    <a:bodyPr/>
                    <a:lstStyle/>
                    <a:p>
                      <a:pPr algn="ctr"/>
                      <a:r>
                        <a:rPr lang="en-US" dirty="0"/>
                        <a:t>T</a:t>
                      </a:r>
                    </a:p>
                  </a:txBody>
                  <a:tcPr/>
                </a:tc>
                <a:extLst>
                  <a:ext uri="{0D108BD9-81ED-4DB2-BD59-A6C34878D82A}">
                    <a16:rowId xmlns:a16="http://schemas.microsoft.com/office/drawing/2014/main" val="2488898265"/>
                  </a:ext>
                </a:extLst>
              </a:tr>
              <a:tr h="370840">
                <a:tc>
                  <a:txBody>
                    <a:bodyPr/>
                    <a:lstStyle/>
                    <a:p>
                      <a:pPr algn="ctr"/>
                      <a:r>
                        <a:rPr lang="en-US" dirty="0"/>
                        <a:t>F</a:t>
                      </a:r>
                    </a:p>
                  </a:txBody>
                  <a:tcPr/>
                </a:tc>
                <a:tc>
                  <a:txBody>
                    <a:bodyPr/>
                    <a:lstStyle/>
                    <a:p>
                      <a:pPr algn="ctr"/>
                      <a:r>
                        <a:rPr lang="en-US" dirty="0"/>
                        <a:t>F</a:t>
                      </a:r>
                    </a:p>
                  </a:txBody>
                  <a:tcPr/>
                </a:tc>
                <a:tc>
                  <a:txBody>
                    <a:bodyPr/>
                    <a:lstStyle/>
                    <a:p>
                      <a:pPr algn="ctr"/>
                      <a:r>
                        <a:rPr lang="en-US" dirty="0"/>
                        <a:t>T</a:t>
                      </a:r>
                    </a:p>
                  </a:txBody>
                  <a:tcPr/>
                </a:tc>
                <a:tc>
                  <a:txBody>
                    <a:bodyPr/>
                    <a:lstStyle/>
                    <a:p>
                      <a:pPr algn="ctr"/>
                      <a:r>
                        <a:rPr lang="en-US" dirty="0"/>
                        <a:t>T</a:t>
                      </a:r>
                    </a:p>
                  </a:txBody>
                  <a:tcPr/>
                </a:tc>
                <a:extLst>
                  <a:ext uri="{0D108BD9-81ED-4DB2-BD59-A6C34878D82A}">
                    <a16:rowId xmlns:a16="http://schemas.microsoft.com/office/drawing/2014/main" val="487260157"/>
                  </a:ext>
                </a:extLst>
              </a:tr>
            </a:tbl>
          </a:graphicData>
        </a:graphic>
      </p:graphicFrame>
    </p:spTree>
    <p:extLst>
      <p:ext uri="{BB962C8B-B14F-4D97-AF65-F5344CB8AC3E}">
        <p14:creationId xmlns:p14="http://schemas.microsoft.com/office/powerpoint/2010/main" val="423395297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938C4A-3981-E11F-E493-1709ED7C24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6CD900-BF85-4BC4-D95C-1A49B0BBCD5C}"/>
              </a:ext>
            </a:extLst>
          </p:cNvPr>
          <p:cNvSpPr>
            <a:spLocks noGrp="1"/>
          </p:cNvSpPr>
          <p:nvPr>
            <p:ph type="title"/>
          </p:nvPr>
        </p:nvSpPr>
        <p:spPr>
          <a:xfrm>
            <a:off x="291600" y="-50862"/>
            <a:ext cx="8520600" cy="436160"/>
          </a:xfrm>
        </p:spPr>
        <p:txBody>
          <a:bodyPr/>
          <a:lstStyle/>
          <a:p>
            <a:r>
              <a:rPr lang="en-US" dirty="0"/>
              <a:t>Concepts of Vacuous True and Trivial True in Mathematical implication</a:t>
            </a:r>
          </a:p>
        </p:txBody>
      </p:sp>
      <p:sp>
        <p:nvSpPr>
          <p:cNvPr id="3" name="Content Placeholder 2">
            <a:extLst>
              <a:ext uri="{FF2B5EF4-FFF2-40B4-BE49-F238E27FC236}">
                <a16:creationId xmlns:a16="http://schemas.microsoft.com/office/drawing/2014/main" id="{65D97A3D-B8D4-8D3C-7A2F-03371DEA19DE}"/>
              </a:ext>
            </a:extLst>
          </p:cNvPr>
          <p:cNvSpPr>
            <a:spLocks noGrp="1"/>
          </p:cNvSpPr>
          <p:nvPr>
            <p:ph idx="1"/>
          </p:nvPr>
        </p:nvSpPr>
        <p:spPr>
          <a:xfrm>
            <a:off x="291600" y="685846"/>
            <a:ext cx="8520600" cy="4390246"/>
          </a:xfrm>
        </p:spPr>
        <p:txBody>
          <a:bodyPr/>
          <a:lstStyle/>
          <a:p>
            <a:r>
              <a:rPr lang="en-US" dirty="0"/>
              <a:t>The definition of implication leads to two special cases that often conflict with common intuition, which are  vacuous truth and trivial truth.</a:t>
            </a:r>
          </a:p>
          <a:p>
            <a:r>
              <a:rPr lang="en-US" dirty="0"/>
              <a:t>These arise because the implication p ⇒ q is defined to be true in every case except for only one case when the hypothesis is true and the conclusion is false.</a:t>
            </a:r>
          </a:p>
        </p:txBody>
      </p:sp>
      <p:graphicFrame>
        <p:nvGraphicFramePr>
          <p:cNvPr id="4" name="Table 3">
            <a:extLst>
              <a:ext uri="{FF2B5EF4-FFF2-40B4-BE49-F238E27FC236}">
                <a16:creationId xmlns:a16="http://schemas.microsoft.com/office/drawing/2014/main" id="{190F8115-7E2F-A1A0-71B4-1F29E39A564C}"/>
              </a:ext>
            </a:extLst>
          </p:cNvPr>
          <p:cNvGraphicFramePr>
            <a:graphicFrameLocks noGrp="1"/>
          </p:cNvGraphicFramePr>
          <p:nvPr>
            <p:extLst>
              <p:ext uri="{D42A27DB-BD31-4B8C-83A1-F6EECF244321}">
                <p14:modId xmlns:p14="http://schemas.microsoft.com/office/powerpoint/2010/main" val="1530827165"/>
              </p:ext>
            </p:extLst>
          </p:nvPr>
        </p:nvGraphicFramePr>
        <p:xfrm>
          <a:off x="2450122" y="3378631"/>
          <a:ext cx="3594523" cy="1586092"/>
        </p:xfrm>
        <a:graphic>
          <a:graphicData uri="http://schemas.openxmlformats.org/drawingml/2006/table">
            <a:tbl>
              <a:tblPr firstRow="1" bandRow="1"/>
              <a:tblGrid>
                <a:gridCol w="1195851">
                  <a:extLst>
                    <a:ext uri="{9D8B030D-6E8A-4147-A177-3AD203B41FA5}">
                      <a16:colId xmlns:a16="http://schemas.microsoft.com/office/drawing/2014/main" val="2038422840"/>
                    </a:ext>
                  </a:extLst>
                </a:gridCol>
                <a:gridCol w="1199336">
                  <a:extLst>
                    <a:ext uri="{9D8B030D-6E8A-4147-A177-3AD203B41FA5}">
                      <a16:colId xmlns:a16="http://schemas.microsoft.com/office/drawing/2014/main" val="831532392"/>
                    </a:ext>
                  </a:extLst>
                </a:gridCol>
                <a:gridCol w="1199336">
                  <a:extLst>
                    <a:ext uri="{9D8B030D-6E8A-4147-A177-3AD203B41FA5}">
                      <a16:colId xmlns:a16="http://schemas.microsoft.com/office/drawing/2014/main" val="3198815402"/>
                    </a:ext>
                  </a:extLst>
                </a:gridCol>
              </a:tblGrid>
              <a:tr h="311720">
                <a:tc>
                  <a:txBody>
                    <a:bodyPr/>
                    <a:lstStyle/>
                    <a:p>
                      <a:pPr marR="0" algn="ctr" rtl="0" fontAlgn="t">
                        <a:buNone/>
                      </a:pPr>
                      <a:r>
                        <a:rPr lang="en-US" sz="1400" b="0" i="0" u="none" strike="noStrike" dirty="0">
                          <a:solidFill>
                            <a:srgbClr val="000000"/>
                          </a:solidFill>
                          <a:effectLst/>
                          <a:latin typeface="Arial" panose="020B0604020202020204" pitchFamily="34" charset="0"/>
                        </a:rPr>
                        <a:t>p</a:t>
                      </a:r>
                      <a:endParaRPr lang="en-US" sz="1800" b="0" i="0" u="none" strike="noStrike" dirty="0">
                        <a:effectLst/>
                        <a:latin typeface="Arial" panose="020B060402020202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F7F7F"/>
                    </a:solidFill>
                  </a:tcPr>
                </a:tc>
                <a:tc>
                  <a:txBody>
                    <a:bodyPr/>
                    <a:lstStyle/>
                    <a:p>
                      <a:pPr marR="0" algn="ctr" rtl="0" fontAlgn="t">
                        <a:buNone/>
                      </a:pPr>
                      <a:r>
                        <a:rPr lang="en-US" sz="1400" b="0" i="0" u="none" strike="noStrike" dirty="0">
                          <a:solidFill>
                            <a:srgbClr val="000000"/>
                          </a:solidFill>
                          <a:effectLst/>
                          <a:latin typeface="Arial" panose="020B0604020202020204" pitchFamily="34" charset="0"/>
                        </a:rPr>
                        <a:t>q</a:t>
                      </a:r>
                      <a:endParaRPr lang="en-US" sz="1800" b="0" i="0" u="none" strike="noStrike" dirty="0">
                        <a:effectLst/>
                        <a:latin typeface="Arial" panose="020B060402020202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F7F7F"/>
                    </a:solidFill>
                  </a:tcPr>
                </a:tc>
                <a:tc>
                  <a:txBody>
                    <a:bodyPr/>
                    <a:lstStyle/>
                    <a:p>
                      <a:pPr marR="0" algn="ctr" rtl="0" fontAlgn="t">
                        <a:buNone/>
                      </a:pPr>
                      <a:r>
                        <a:rPr lang="en-US" sz="1400" b="0" i="0" u="none" strike="noStrike" dirty="0">
                          <a:solidFill>
                            <a:srgbClr val="000000"/>
                          </a:solidFill>
                          <a:effectLst/>
                          <a:latin typeface="Arial" panose="020B0604020202020204" pitchFamily="34" charset="0"/>
                        </a:rPr>
                        <a:t>p ⇒ q</a:t>
                      </a:r>
                      <a:endParaRPr lang="en-US" sz="1800" b="0" i="0" u="none" strike="noStrike" dirty="0">
                        <a:effectLst/>
                        <a:latin typeface="Arial" panose="020B060402020202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F7F7F"/>
                    </a:solidFill>
                  </a:tcPr>
                </a:tc>
                <a:extLst>
                  <a:ext uri="{0D108BD9-81ED-4DB2-BD59-A6C34878D82A}">
                    <a16:rowId xmlns:a16="http://schemas.microsoft.com/office/drawing/2014/main" val="164529009"/>
                  </a:ext>
                </a:extLst>
              </a:tr>
              <a:tr h="318593">
                <a:tc>
                  <a:txBody>
                    <a:bodyPr/>
                    <a:lstStyle/>
                    <a:p>
                      <a:pPr marR="0" algn="ctr" rtl="0" fontAlgn="t">
                        <a:buNone/>
                      </a:pPr>
                      <a:r>
                        <a:rPr lang="en-US" sz="1400" b="0" i="0" u="none" strike="noStrike">
                          <a:solidFill>
                            <a:srgbClr val="000000"/>
                          </a:solidFill>
                          <a:effectLst/>
                          <a:latin typeface="Arial" panose="020B0604020202020204" pitchFamily="34" charset="0"/>
                        </a:rPr>
                        <a:t>T</a:t>
                      </a:r>
                      <a:endParaRPr lang="en-US" sz="1800" b="0" i="0" u="none" strike="noStrike">
                        <a:effectLst/>
                        <a:latin typeface="Arial" panose="020B060402020202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0" algn="ctr" rtl="0" fontAlgn="t">
                        <a:buNone/>
                      </a:pPr>
                      <a:r>
                        <a:rPr lang="en-US" sz="1400" b="0" i="0" u="none" strike="noStrike">
                          <a:solidFill>
                            <a:srgbClr val="000000"/>
                          </a:solidFill>
                          <a:effectLst/>
                          <a:latin typeface="Arial" panose="020B0604020202020204" pitchFamily="34" charset="0"/>
                        </a:rPr>
                        <a:t>T</a:t>
                      </a:r>
                      <a:endParaRPr lang="en-US" sz="1800" b="0" i="0" u="none" strike="noStrike">
                        <a:effectLst/>
                        <a:latin typeface="Arial" panose="020B060402020202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0" algn="ctr" rtl="0" fontAlgn="t">
                        <a:buNone/>
                      </a:pPr>
                      <a:r>
                        <a:rPr lang="en-US" sz="1400" b="0" i="0" u="none" strike="noStrike" dirty="0">
                          <a:solidFill>
                            <a:srgbClr val="000000"/>
                          </a:solidFill>
                          <a:effectLst/>
                          <a:latin typeface="Arial" panose="020B0604020202020204" pitchFamily="34" charset="0"/>
                        </a:rPr>
                        <a:t>T</a:t>
                      </a:r>
                      <a:endParaRPr lang="en-US" sz="1800" b="0" i="0" u="none" strike="noStrike" dirty="0">
                        <a:effectLst/>
                        <a:latin typeface="Arial" panose="020B060402020202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72121272"/>
                  </a:ext>
                </a:extLst>
              </a:tr>
              <a:tr h="318593">
                <a:tc>
                  <a:txBody>
                    <a:bodyPr/>
                    <a:lstStyle/>
                    <a:p>
                      <a:pPr marR="0" algn="ctr" rtl="0" fontAlgn="t">
                        <a:buNone/>
                      </a:pPr>
                      <a:r>
                        <a:rPr lang="en-US" sz="1400" b="0" i="0" u="none" strike="noStrike">
                          <a:solidFill>
                            <a:srgbClr val="000000"/>
                          </a:solidFill>
                          <a:effectLst/>
                          <a:latin typeface="Arial" panose="020B0604020202020204" pitchFamily="34" charset="0"/>
                        </a:rPr>
                        <a:t>T</a:t>
                      </a:r>
                      <a:endParaRPr lang="en-US" sz="1800" b="0" i="0" u="none" strike="noStrike">
                        <a:effectLst/>
                        <a:latin typeface="Arial" panose="020B060402020202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a:txBody>
                    <a:bodyPr/>
                    <a:lstStyle/>
                    <a:p>
                      <a:pPr marR="0" algn="ctr" rtl="0" fontAlgn="t">
                        <a:buNone/>
                      </a:pPr>
                      <a:r>
                        <a:rPr lang="en-US" sz="1400" b="0" i="0" u="none" strike="noStrike">
                          <a:solidFill>
                            <a:srgbClr val="000000"/>
                          </a:solidFill>
                          <a:effectLst/>
                          <a:latin typeface="Arial" panose="020B0604020202020204" pitchFamily="34" charset="0"/>
                        </a:rPr>
                        <a:t>F</a:t>
                      </a:r>
                      <a:endParaRPr lang="en-US" sz="1800" b="0" i="0" u="none" strike="noStrike">
                        <a:effectLst/>
                        <a:latin typeface="Arial" panose="020B060402020202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a:txBody>
                    <a:bodyPr/>
                    <a:lstStyle/>
                    <a:p>
                      <a:pPr marR="0" algn="ctr" rtl="0" fontAlgn="t">
                        <a:buNone/>
                      </a:pPr>
                      <a:r>
                        <a:rPr lang="en-US" sz="1400" b="0" i="0" u="none" strike="noStrike" dirty="0">
                          <a:solidFill>
                            <a:srgbClr val="000000"/>
                          </a:solidFill>
                          <a:effectLst/>
                          <a:latin typeface="Arial" panose="020B0604020202020204" pitchFamily="34" charset="0"/>
                        </a:rPr>
                        <a:t>F</a:t>
                      </a:r>
                      <a:endParaRPr lang="en-US" sz="1800" b="0" i="0" u="none" strike="noStrike" dirty="0">
                        <a:effectLst/>
                        <a:latin typeface="Arial" panose="020B060402020202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extLst>
                  <a:ext uri="{0D108BD9-81ED-4DB2-BD59-A6C34878D82A}">
                    <a16:rowId xmlns:a16="http://schemas.microsoft.com/office/drawing/2014/main" val="4153929960"/>
                  </a:ext>
                </a:extLst>
              </a:tr>
              <a:tr h="318593">
                <a:tc>
                  <a:txBody>
                    <a:bodyPr/>
                    <a:lstStyle/>
                    <a:p>
                      <a:pPr marR="0" algn="ctr" rtl="0" fontAlgn="t">
                        <a:buNone/>
                      </a:pPr>
                      <a:r>
                        <a:rPr lang="en-US" sz="1400" b="0" i="0" u="none" strike="noStrike">
                          <a:solidFill>
                            <a:srgbClr val="000000"/>
                          </a:solidFill>
                          <a:effectLst/>
                          <a:latin typeface="Arial" panose="020B0604020202020204" pitchFamily="34" charset="0"/>
                        </a:rPr>
                        <a:t>F</a:t>
                      </a:r>
                      <a:endParaRPr lang="en-US" sz="1800" b="0" i="0" u="none" strike="noStrike">
                        <a:effectLst/>
                        <a:latin typeface="Arial" panose="020B060402020202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0" algn="ctr" rtl="0" fontAlgn="t">
                        <a:buNone/>
                      </a:pPr>
                      <a:r>
                        <a:rPr lang="en-US" sz="1400" b="0" i="0" u="none" strike="noStrike">
                          <a:solidFill>
                            <a:srgbClr val="000000"/>
                          </a:solidFill>
                          <a:effectLst/>
                          <a:latin typeface="Arial" panose="020B0604020202020204" pitchFamily="34" charset="0"/>
                        </a:rPr>
                        <a:t>T</a:t>
                      </a:r>
                      <a:endParaRPr lang="en-US" sz="1800" b="0" i="0" u="none" strike="noStrike">
                        <a:effectLst/>
                        <a:latin typeface="Arial" panose="020B060402020202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0" algn="ctr" rtl="0" fontAlgn="t">
                        <a:buNone/>
                      </a:pPr>
                      <a:r>
                        <a:rPr lang="en-US" sz="1400" b="0" i="0" u="none" strike="noStrike" dirty="0">
                          <a:solidFill>
                            <a:srgbClr val="000000"/>
                          </a:solidFill>
                          <a:effectLst/>
                          <a:latin typeface="Arial" panose="020B0604020202020204" pitchFamily="34" charset="0"/>
                        </a:rPr>
                        <a:t>T</a:t>
                      </a:r>
                      <a:endParaRPr lang="en-US" sz="1800" b="0" i="0" u="none" strike="noStrike" dirty="0">
                        <a:effectLst/>
                        <a:latin typeface="Arial" panose="020B060402020202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02876531"/>
                  </a:ext>
                </a:extLst>
              </a:tr>
              <a:tr h="318593">
                <a:tc>
                  <a:txBody>
                    <a:bodyPr/>
                    <a:lstStyle/>
                    <a:p>
                      <a:pPr marR="0" algn="ctr" rtl="0" fontAlgn="t">
                        <a:buNone/>
                      </a:pPr>
                      <a:r>
                        <a:rPr lang="en-US" sz="1400" b="0" i="0" u="none" strike="noStrike" dirty="0">
                          <a:solidFill>
                            <a:srgbClr val="000000"/>
                          </a:solidFill>
                          <a:effectLst/>
                          <a:latin typeface="Arial" panose="020B0604020202020204" pitchFamily="34" charset="0"/>
                        </a:rPr>
                        <a:t>F</a:t>
                      </a:r>
                      <a:endParaRPr lang="en-US" sz="1800" b="0" i="0" u="none" strike="noStrike" dirty="0">
                        <a:effectLst/>
                        <a:latin typeface="Arial" panose="020B060402020202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0" algn="ctr" rtl="0" fontAlgn="t">
                        <a:buNone/>
                      </a:pPr>
                      <a:r>
                        <a:rPr lang="en-US" sz="1400" b="0" i="0" u="none" strike="noStrike" dirty="0">
                          <a:solidFill>
                            <a:srgbClr val="000000"/>
                          </a:solidFill>
                          <a:effectLst/>
                          <a:latin typeface="Arial" panose="020B0604020202020204" pitchFamily="34" charset="0"/>
                        </a:rPr>
                        <a:t>F</a:t>
                      </a:r>
                      <a:endParaRPr lang="en-US" sz="1800" b="0" i="0" u="none" strike="noStrike" dirty="0">
                        <a:effectLst/>
                        <a:latin typeface="Arial" panose="020B060402020202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0" algn="ctr" rtl="0" fontAlgn="t">
                        <a:buNone/>
                      </a:pPr>
                      <a:r>
                        <a:rPr lang="en-US" sz="1400" b="0" i="0" u="none" strike="noStrike" dirty="0">
                          <a:solidFill>
                            <a:srgbClr val="000000"/>
                          </a:solidFill>
                          <a:effectLst/>
                          <a:latin typeface="Arial" panose="020B0604020202020204" pitchFamily="34" charset="0"/>
                        </a:rPr>
                        <a:t>T</a:t>
                      </a:r>
                      <a:endParaRPr lang="en-US" sz="1800" b="0" i="0" u="none" strike="noStrike" dirty="0">
                        <a:effectLst/>
                        <a:latin typeface="Arial" panose="020B060402020202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60848933"/>
                  </a:ext>
                </a:extLst>
              </a:tr>
            </a:tbl>
          </a:graphicData>
        </a:graphic>
      </p:graphicFrame>
    </p:spTree>
    <p:extLst>
      <p:ext uri="{BB962C8B-B14F-4D97-AF65-F5344CB8AC3E}">
        <p14:creationId xmlns:p14="http://schemas.microsoft.com/office/powerpoint/2010/main" val="274764693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C183FE-F4AA-5538-E079-6C49969172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5B919A-8C8C-FF17-3A86-C0B083881E6B}"/>
              </a:ext>
            </a:extLst>
          </p:cNvPr>
          <p:cNvSpPr>
            <a:spLocks noGrp="1"/>
          </p:cNvSpPr>
          <p:nvPr>
            <p:ph type="title"/>
          </p:nvPr>
        </p:nvSpPr>
        <p:spPr/>
        <p:txBody>
          <a:bodyPr/>
          <a:lstStyle/>
          <a:p>
            <a:r>
              <a:rPr lang="en-US" dirty="0"/>
              <a:t>Vacuous True</a:t>
            </a:r>
          </a:p>
        </p:txBody>
      </p:sp>
      <p:sp>
        <p:nvSpPr>
          <p:cNvPr id="3" name="Content Placeholder 2">
            <a:extLst>
              <a:ext uri="{FF2B5EF4-FFF2-40B4-BE49-F238E27FC236}">
                <a16:creationId xmlns:a16="http://schemas.microsoft.com/office/drawing/2014/main" id="{AC953CBC-D959-BA23-9C0D-87106DA7079B}"/>
              </a:ext>
            </a:extLst>
          </p:cNvPr>
          <p:cNvSpPr>
            <a:spLocks noGrp="1"/>
          </p:cNvSpPr>
          <p:nvPr>
            <p:ph idx="1"/>
          </p:nvPr>
        </p:nvSpPr>
        <p:spPr>
          <a:xfrm>
            <a:off x="291600" y="662399"/>
            <a:ext cx="8520600" cy="4401969"/>
          </a:xfrm>
        </p:spPr>
        <p:txBody>
          <a:bodyPr/>
          <a:lstStyle/>
          <a:p>
            <a:r>
              <a:rPr lang="en-US" dirty="0"/>
              <a:t>An implication p ⇒ q is vacuously true when the hypothesis p is false.</a:t>
            </a:r>
          </a:p>
          <a:p>
            <a:r>
              <a:rPr lang="en-US" dirty="0"/>
              <a:t>Because the condition for making the logical implication false (a true p and a false q) can never be met if p is false, the statement is true by default.</a:t>
            </a:r>
          </a:p>
          <a:p>
            <a:r>
              <a:rPr lang="en-US" dirty="0"/>
              <a:t>Examples: </a:t>
            </a:r>
          </a:p>
          <a:p>
            <a:pPr marL="114300" indent="0">
              <a:buNone/>
            </a:pPr>
            <a:r>
              <a:rPr lang="en-US" dirty="0"/>
              <a:t>"If 2 + 2 = 5, then the moon is made of cheese”</a:t>
            </a:r>
          </a:p>
          <a:p>
            <a:pPr marL="114300" indent="0">
              <a:buNone/>
            </a:pPr>
            <a:r>
              <a:rPr lang="en-US" dirty="0"/>
              <a:t>This is a true statement in propositional logic because the hypothesis (2 + 2 = 5) is false, no matter the truth value of the conclusion.</a:t>
            </a:r>
          </a:p>
        </p:txBody>
      </p:sp>
    </p:spTree>
    <p:extLst>
      <p:ext uri="{BB962C8B-B14F-4D97-AF65-F5344CB8AC3E}">
        <p14:creationId xmlns:p14="http://schemas.microsoft.com/office/powerpoint/2010/main" val="107672125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2E8BBD-57C8-4F54-1C8D-C793116E73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039232-F8D6-A61B-1AA2-BA42AF1BB54E}"/>
              </a:ext>
            </a:extLst>
          </p:cNvPr>
          <p:cNvSpPr>
            <a:spLocks noGrp="1"/>
          </p:cNvSpPr>
          <p:nvPr>
            <p:ph type="title"/>
          </p:nvPr>
        </p:nvSpPr>
        <p:spPr>
          <a:xfrm>
            <a:off x="291600" y="0"/>
            <a:ext cx="8520600" cy="436160"/>
          </a:xfrm>
        </p:spPr>
        <p:txBody>
          <a:bodyPr/>
          <a:lstStyle/>
          <a:p>
            <a:r>
              <a:rPr lang="en-US" dirty="0"/>
              <a:t> </a:t>
            </a:r>
          </a:p>
        </p:txBody>
      </p:sp>
      <p:sp>
        <p:nvSpPr>
          <p:cNvPr id="3" name="Content Placeholder 2">
            <a:extLst>
              <a:ext uri="{FF2B5EF4-FFF2-40B4-BE49-F238E27FC236}">
                <a16:creationId xmlns:a16="http://schemas.microsoft.com/office/drawing/2014/main" id="{B69FD3E8-FF23-7A18-356D-9D7872D805C8}"/>
              </a:ext>
            </a:extLst>
          </p:cNvPr>
          <p:cNvSpPr>
            <a:spLocks noGrp="1"/>
          </p:cNvSpPr>
          <p:nvPr>
            <p:ph idx="1"/>
          </p:nvPr>
        </p:nvSpPr>
        <p:spPr>
          <a:xfrm>
            <a:off x="215400" y="436159"/>
            <a:ext cx="8520600" cy="4581317"/>
          </a:xfrm>
        </p:spPr>
        <p:txBody>
          <a:bodyPr/>
          <a:lstStyle/>
          <a:p>
            <a:r>
              <a:rPr lang="en-US" dirty="0"/>
              <a:t>If I say “All my Porsches are red”, while in reality I don’t have any Porsche, the statement is vacuously true. It would only be false if I had at least one Porsche, and it is not red.</a:t>
            </a:r>
          </a:p>
          <a:p>
            <a:r>
              <a:rPr lang="en-US" dirty="0"/>
              <a:t> In computer programming(python, java, JavaScript), if you check if all elements in a list or set meet a certain criteria, and the list is empty, the program returns True, since the computer cannot find even a single element to invalidate the condition.</a:t>
            </a:r>
          </a:p>
        </p:txBody>
      </p:sp>
    </p:spTree>
    <p:extLst>
      <p:ext uri="{BB962C8B-B14F-4D97-AF65-F5344CB8AC3E}">
        <p14:creationId xmlns:p14="http://schemas.microsoft.com/office/powerpoint/2010/main" val="43002728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C88123-62B2-40AC-93ED-5BE45840EB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A432BB-4110-F666-3874-AF032572EE8B}"/>
              </a:ext>
            </a:extLst>
          </p:cNvPr>
          <p:cNvSpPr>
            <a:spLocks noGrp="1"/>
          </p:cNvSpPr>
          <p:nvPr>
            <p:ph type="title"/>
          </p:nvPr>
        </p:nvSpPr>
        <p:spPr>
          <a:xfrm>
            <a:off x="219387" y="0"/>
            <a:ext cx="8520600" cy="436160"/>
          </a:xfrm>
        </p:spPr>
        <p:txBody>
          <a:bodyPr/>
          <a:lstStyle/>
          <a:p>
            <a:r>
              <a:rPr lang="en-US" dirty="0"/>
              <a:t>Trivial True</a:t>
            </a:r>
          </a:p>
        </p:txBody>
      </p:sp>
      <p:sp>
        <p:nvSpPr>
          <p:cNvPr id="3" name="Content Placeholder 2">
            <a:extLst>
              <a:ext uri="{FF2B5EF4-FFF2-40B4-BE49-F238E27FC236}">
                <a16:creationId xmlns:a16="http://schemas.microsoft.com/office/drawing/2014/main" id="{F81CD09F-978E-6A5E-14CA-26BA65C85D77}"/>
              </a:ext>
            </a:extLst>
          </p:cNvPr>
          <p:cNvSpPr>
            <a:spLocks noGrp="1"/>
          </p:cNvSpPr>
          <p:nvPr>
            <p:ph idx="1"/>
          </p:nvPr>
        </p:nvSpPr>
        <p:spPr>
          <a:xfrm>
            <a:off x="50218" y="415005"/>
            <a:ext cx="8520600" cy="4676138"/>
          </a:xfrm>
        </p:spPr>
        <p:txBody>
          <a:bodyPr/>
          <a:lstStyle/>
          <a:p>
            <a:r>
              <a:rPr lang="en-US" dirty="0"/>
              <a:t>An implication p ⇒ q is trivially true when the conclusion q is true.</a:t>
            </a:r>
          </a:p>
          <a:p>
            <a:r>
              <a:rPr lang="en-US" dirty="0"/>
              <a:t>Since the conclusion is already satisfied, the truth of the hypothesis p becomes irrelevant to the overall truth of the implication.</a:t>
            </a:r>
          </a:p>
          <a:p>
            <a:r>
              <a:rPr lang="en-US" dirty="0"/>
              <a:t>Example: "If it rains, then 2 + 2 = 4." This statement is true whether it is raining or not, simply because 2 + 2 = 4 is an absolute truth.</a:t>
            </a:r>
          </a:p>
          <a:p>
            <a:r>
              <a:rPr lang="en-US" dirty="0"/>
              <a:t>While these cases might seem "pointless" in everyday speech, they are vital in formal mathematics to ensure that logical systems remain consistent</a:t>
            </a:r>
          </a:p>
        </p:txBody>
      </p:sp>
    </p:spTree>
    <p:extLst>
      <p:ext uri="{BB962C8B-B14F-4D97-AF65-F5344CB8AC3E}">
        <p14:creationId xmlns:p14="http://schemas.microsoft.com/office/powerpoint/2010/main" val="154454446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A44D6E-39D7-EFBC-805E-0DC0392956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5A3F31-82CC-4402-14B0-B37F021E5A25}"/>
              </a:ext>
            </a:extLst>
          </p:cNvPr>
          <p:cNvSpPr>
            <a:spLocks noGrp="1"/>
          </p:cNvSpPr>
          <p:nvPr>
            <p:ph type="title"/>
          </p:nvPr>
        </p:nvSpPr>
        <p:spPr/>
        <p:txBody>
          <a:bodyPr/>
          <a:lstStyle/>
          <a:p>
            <a:r>
              <a:rPr lang="en-US" dirty="0"/>
              <a:t>Biconditional statement or double implication</a:t>
            </a:r>
          </a:p>
        </p:txBody>
      </p:sp>
      <p:sp>
        <p:nvSpPr>
          <p:cNvPr id="3" name="Content Placeholder 2">
            <a:extLst>
              <a:ext uri="{FF2B5EF4-FFF2-40B4-BE49-F238E27FC236}">
                <a16:creationId xmlns:a16="http://schemas.microsoft.com/office/drawing/2014/main" id="{B199539D-8022-EFE8-111F-4E018C10AE87}"/>
              </a:ext>
            </a:extLst>
          </p:cNvPr>
          <p:cNvSpPr>
            <a:spLocks noGrp="1"/>
          </p:cNvSpPr>
          <p:nvPr>
            <p:ph idx="1"/>
          </p:nvPr>
        </p:nvSpPr>
        <p:spPr>
          <a:xfrm>
            <a:off x="291600" y="662399"/>
            <a:ext cx="8520600" cy="4357951"/>
          </a:xfrm>
        </p:spPr>
        <p:txBody>
          <a:bodyPr/>
          <a:lstStyle/>
          <a:p>
            <a:r>
              <a:rPr lang="en-US" dirty="0"/>
              <a:t>For any propositions p and q, the biconditional statement p ⇔ q is the proposition “p if and only if q”.</a:t>
            </a:r>
          </a:p>
          <a:p>
            <a:r>
              <a:rPr lang="en-US" dirty="0"/>
              <a:t>The biconditional statement p ⇔ q is true when p and q have the same truth values and is false otherwise. </a:t>
            </a:r>
          </a:p>
          <a:p>
            <a:r>
              <a:rPr lang="en-US" dirty="0"/>
              <a:t>Biconditional statements are also called double implications.</a:t>
            </a:r>
          </a:p>
          <a:p>
            <a:r>
              <a:rPr lang="en-US" dirty="0"/>
              <a:t>There are some other common ways to express p ⇔ q:</a:t>
            </a:r>
          </a:p>
          <a:p>
            <a:r>
              <a:rPr lang="en-US" dirty="0"/>
              <a:t>“p is necessary and sufficient for q”</a:t>
            </a:r>
          </a:p>
          <a:p>
            <a:r>
              <a:rPr lang="en-US" dirty="0"/>
              <a:t>“if p then q, and conversely”</a:t>
            </a:r>
          </a:p>
          <a:p>
            <a:r>
              <a:rPr lang="en-US" dirty="0"/>
              <a:t>“p </a:t>
            </a:r>
            <a:r>
              <a:rPr lang="en-US" dirty="0" err="1"/>
              <a:t>iff</a:t>
            </a:r>
            <a:r>
              <a:rPr lang="en-US" dirty="0"/>
              <a:t> q.”</a:t>
            </a:r>
          </a:p>
        </p:txBody>
      </p:sp>
    </p:spTree>
    <p:extLst>
      <p:ext uri="{BB962C8B-B14F-4D97-AF65-F5344CB8AC3E}">
        <p14:creationId xmlns:p14="http://schemas.microsoft.com/office/powerpoint/2010/main" val="79892807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1BDA0B-CB79-7F28-BC14-342D49195B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78B566-1832-AD4A-0C38-8CE8DCDBB514}"/>
              </a:ext>
            </a:extLst>
          </p:cNvPr>
          <p:cNvSpPr>
            <a:spLocks noGrp="1"/>
          </p:cNvSpPr>
          <p:nvPr>
            <p:ph type="title"/>
          </p:nvPr>
        </p:nvSpPr>
        <p:spPr>
          <a:xfrm>
            <a:off x="291600" y="85833"/>
            <a:ext cx="8520600" cy="436160"/>
          </a:xfrm>
        </p:spPr>
        <p:txBody>
          <a:bodyPr/>
          <a:lstStyle/>
          <a:p>
            <a:r>
              <a:rPr lang="en-US" dirty="0"/>
              <a:t> </a:t>
            </a:r>
          </a:p>
        </p:txBody>
      </p:sp>
      <p:sp>
        <p:nvSpPr>
          <p:cNvPr id="3" name="Content Placeholder 2">
            <a:extLst>
              <a:ext uri="{FF2B5EF4-FFF2-40B4-BE49-F238E27FC236}">
                <a16:creationId xmlns:a16="http://schemas.microsoft.com/office/drawing/2014/main" id="{13EE79D4-F209-5A77-A91F-5CC84C0568FE}"/>
              </a:ext>
            </a:extLst>
          </p:cNvPr>
          <p:cNvSpPr>
            <a:spLocks noGrp="1"/>
          </p:cNvSpPr>
          <p:nvPr>
            <p:ph idx="1"/>
          </p:nvPr>
        </p:nvSpPr>
        <p:spPr>
          <a:xfrm>
            <a:off x="114620" y="173931"/>
            <a:ext cx="8520600" cy="4883736"/>
          </a:xfrm>
        </p:spPr>
        <p:txBody>
          <a:bodyPr/>
          <a:lstStyle/>
          <a:p>
            <a:r>
              <a:rPr lang="en-US" dirty="0"/>
              <a:t>Note that p ⇔ q is the same as (p ⇒ q) ∧ (q ⇒ p).</a:t>
            </a:r>
          </a:p>
          <a:p>
            <a:r>
              <a:rPr lang="en-US" dirty="0"/>
              <a:t>Sufficient: p ⇒ q (If p is true, that is enough to guarantee q is).</a:t>
            </a:r>
          </a:p>
          <a:p>
            <a:r>
              <a:rPr lang="en-US" dirty="0"/>
              <a:t>Necessary: q ⇒ p (For q to be true, it is necessary that p also be true).</a:t>
            </a:r>
          </a:p>
          <a:p>
            <a:r>
              <a:rPr lang="en-US" dirty="0"/>
              <a:t>The truth table of biconditional statement;</a:t>
            </a:r>
          </a:p>
          <a:p>
            <a:endParaRPr lang="en-US" dirty="0"/>
          </a:p>
        </p:txBody>
      </p:sp>
      <p:graphicFrame>
        <p:nvGraphicFramePr>
          <p:cNvPr id="4" name="Table 3">
            <a:extLst>
              <a:ext uri="{FF2B5EF4-FFF2-40B4-BE49-F238E27FC236}">
                <a16:creationId xmlns:a16="http://schemas.microsoft.com/office/drawing/2014/main" id="{76184955-3D77-6014-167D-B318A8C56170}"/>
              </a:ext>
            </a:extLst>
          </p:cNvPr>
          <p:cNvGraphicFramePr>
            <a:graphicFrameLocks noGrp="1"/>
          </p:cNvGraphicFramePr>
          <p:nvPr>
            <p:extLst>
              <p:ext uri="{D42A27DB-BD31-4B8C-83A1-F6EECF244321}">
                <p14:modId xmlns:p14="http://schemas.microsoft.com/office/powerpoint/2010/main" val="2926586218"/>
              </p:ext>
            </p:extLst>
          </p:nvPr>
        </p:nvGraphicFramePr>
        <p:xfrm>
          <a:off x="2325856" y="2905213"/>
          <a:ext cx="4098127" cy="1846199"/>
        </p:xfrm>
        <a:graphic>
          <a:graphicData uri="http://schemas.openxmlformats.org/drawingml/2006/table">
            <a:tbl>
              <a:tblPr firstRow="1" bandRow="1"/>
              <a:tblGrid>
                <a:gridCol w="1363393">
                  <a:extLst>
                    <a:ext uri="{9D8B030D-6E8A-4147-A177-3AD203B41FA5}">
                      <a16:colId xmlns:a16="http://schemas.microsoft.com/office/drawing/2014/main" val="634603211"/>
                    </a:ext>
                  </a:extLst>
                </a:gridCol>
                <a:gridCol w="1367367">
                  <a:extLst>
                    <a:ext uri="{9D8B030D-6E8A-4147-A177-3AD203B41FA5}">
                      <a16:colId xmlns:a16="http://schemas.microsoft.com/office/drawing/2014/main" val="3203363560"/>
                    </a:ext>
                  </a:extLst>
                </a:gridCol>
                <a:gridCol w="1367367">
                  <a:extLst>
                    <a:ext uri="{9D8B030D-6E8A-4147-A177-3AD203B41FA5}">
                      <a16:colId xmlns:a16="http://schemas.microsoft.com/office/drawing/2014/main" val="2914356640"/>
                    </a:ext>
                  </a:extLst>
                </a:gridCol>
              </a:tblGrid>
              <a:tr h="362839">
                <a:tc>
                  <a:txBody>
                    <a:bodyPr/>
                    <a:lstStyle/>
                    <a:p>
                      <a:pPr marR="0" algn="ctr" rtl="0" fontAlgn="t">
                        <a:buNone/>
                      </a:pPr>
                      <a:r>
                        <a:rPr lang="en-US" sz="1400" b="0" i="0" u="none" strike="noStrike" dirty="0">
                          <a:solidFill>
                            <a:srgbClr val="000000"/>
                          </a:solidFill>
                          <a:effectLst/>
                          <a:latin typeface="Arial" panose="020B0604020202020204" pitchFamily="34" charset="0"/>
                        </a:rPr>
                        <a:t>p</a:t>
                      </a:r>
                      <a:endParaRPr lang="en-US" sz="1800" b="0" i="0" u="none" strike="noStrike" dirty="0">
                        <a:effectLst/>
                        <a:latin typeface="Arial" panose="020B060402020202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F7F7F"/>
                    </a:solidFill>
                  </a:tcPr>
                </a:tc>
                <a:tc>
                  <a:txBody>
                    <a:bodyPr/>
                    <a:lstStyle/>
                    <a:p>
                      <a:pPr marR="0" algn="ctr" rtl="0" fontAlgn="t">
                        <a:buNone/>
                      </a:pPr>
                      <a:r>
                        <a:rPr lang="en-US" sz="1400" b="0" i="0" u="none" strike="noStrike" dirty="0">
                          <a:solidFill>
                            <a:srgbClr val="000000"/>
                          </a:solidFill>
                          <a:effectLst/>
                          <a:latin typeface="Arial" panose="020B0604020202020204" pitchFamily="34" charset="0"/>
                        </a:rPr>
                        <a:t>q</a:t>
                      </a:r>
                      <a:endParaRPr lang="en-US" sz="1800" b="0" i="0" u="none" strike="noStrike" dirty="0">
                        <a:effectLst/>
                        <a:latin typeface="Arial" panose="020B060402020202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F7F7F"/>
                    </a:solidFill>
                  </a:tcPr>
                </a:tc>
                <a:tc>
                  <a:txBody>
                    <a:bodyPr/>
                    <a:lstStyle/>
                    <a:p>
                      <a:pPr marR="0" algn="ctr" rtl="0" fontAlgn="t">
                        <a:buNone/>
                      </a:pPr>
                      <a:r>
                        <a:rPr lang="en-US" sz="1400" b="0" i="0" u="none" strike="noStrike" dirty="0">
                          <a:solidFill>
                            <a:srgbClr val="000000"/>
                          </a:solidFill>
                          <a:effectLst/>
                          <a:latin typeface="Arial" panose="020B0604020202020204" pitchFamily="34" charset="0"/>
                        </a:rPr>
                        <a:t>p ⇔ q</a:t>
                      </a:r>
                      <a:endParaRPr lang="en-US" sz="1800" b="0" i="0" u="none" strike="noStrike" dirty="0">
                        <a:effectLst/>
                        <a:latin typeface="Arial" panose="020B060402020202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F7F7F"/>
                    </a:solidFill>
                  </a:tcPr>
                </a:tc>
                <a:extLst>
                  <a:ext uri="{0D108BD9-81ED-4DB2-BD59-A6C34878D82A}">
                    <a16:rowId xmlns:a16="http://schemas.microsoft.com/office/drawing/2014/main" val="1105223954"/>
                  </a:ext>
                </a:extLst>
              </a:tr>
              <a:tr h="370840">
                <a:tc>
                  <a:txBody>
                    <a:bodyPr/>
                    <a:lstStyle/>
                    <a:p>
                      <a:pPr marR="0" algn="ctr" rtl="0" fontAlgn="t">
                        <a:buNone/>
                      </a:pPr>
                      <a:r>
                        <a:rPr lang="en-US" sz="1400" b="0" i="0" u="none" strike="noStrike">
                          <a:solidFill>
                            <a:srgbClr val="000000"/>
                          </a:solidFill>
                          <a:effectLst/>
                          <a:latin typeface="Arial" panose="020B0604020202020204" pitchFamily="34" charset="0"/>
                        </a:rPr>
                        <a:t>T</a:t>
                      </a:r>
                      <a:endParaRPr lang="en-US" sz="1800" b="0" i="0" u="none" strike="noStrike">
                        <a:effectLst/>
                        <a:latin typeface="Arial" panose="020B060402020202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0" algn="ctr" rtl="0" fontAlgn="t">
                        <a:buNone/>
                      </a:pPr>
                      <a:r>
                        <a:rPr lang="en-US" sz="1400" b="0" i="0" u="none" strike="noStrike">
                          <a:solidFill>
                            <a:srgbClr val="000000"/>
                          </a:solidFill>
                          <a:effectLst/>
                          <a:latin typeface="Arial" panose="020B0604020202020204" pitchFamily="34" charset="0"/>
                        </a:rPr>
                        <a:t>T</a:t>
                      </a:r>
                      <a:endParaRPr lang="en-US" sz="1800" b="0" i="0" u="none" strike="noStrike">
                        <a:effectLst/>
                        <a:latin typeface="Arial" panose="020B060402020202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0" algn="ctr" rtl="0" fontAlgn="t">
                        <a:buNone/>
                      </a:pPr>
                      <a:r>
                        <a:rPr lang="en-US" sz="1400" b="0" i="0" u="none" strike="noStrike" dirty="0">
                          <a:solidFill>
                            <a:srgbClr val="000000"/>
                          </a:solidFill>
                          <a:effectLst/>
                          <a:latin typeface="Arial" panose="020B0604020202020204" pitchFamily="34" charset="0"/>
                        </a:rPr>
                        <a:t>T</a:t>
                      </a:r>
                      <a:endParaRPr lang="en-US" sz="1800" b="0" i="0" u="none" strike="noStrike" dirty="0">
                        <a:effectLst/>
                        <a:latin typeface="Arial" panose="020B060402020202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71321742"/>
                  </a:ext>
                </a:extLst>
              </a:tr>
              <a:tr h="370840">
                <a:tc>
                  <a:txBody>
                    <a:bodyPr/>
                    <a:lstStyle/>
                    <a:p>
                      <a:pPr marR="0" algn="ctr" rtl="0" fontAlgn="t">
                        <a:buNone/>
                      </a:pPr>
                      <a:r>
                        <a:rPr lang="en-US" sz="1400" b="0" i="0" u="none" strike="noStrike">
                          <a:solidFill>
                            <a:srgbClr val="000000"/>
                          </a:solidFill>
                          <a:effectLst/>
                          <a:latin typeface="Arial" panose="020B0604020202020204" pitchFamily="34" charset="0"/>
                        </a:rPr>
                        <a:t>T</a:t>
                      </a:r>
                      <a:endParaRPr lang="en-US" sz="1800" b="0" i="0" u="none" strike="noStrike">
                        <a:effectLst/>
                        <a:latin typeface="Arial" panose="020B060402020202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0" algn="ctr" rtl="0" fontAlgn="t">
                        <a:buNone/>
                      </a:pPr>
                      <a:r>
                        <a:rPr lang="en-US" sz="1400" b="0" i="0" u="none" strike="noStrike">
                          <a:solidFill>
                            <a:srgbClr val="000000"/>
                          </a:solidFill>
                          <a:effectLst/>
                          <a:latin typeface="Arial" panose="020B0604020202020204" pitchFamily="34" charset="0"/>
                        </a:rPr>
                        <a:t>F</a:t>
                      </a:r>
                      <a:endParaRPr lang="en-US" sz="1800" b="0" i="0" u="none" strike="noStrike">
                        <a:effectLst/>
                        <a:latin typeface="Arial" panose="020B060402020202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0" algn="ctr" rtl="0" fontAlgn="t">
                        <a:buNone/>
                      </a:pPr>
                      <a:r>
                        <a:rPr lang="en-US" sz="1400" b="0" i="0" u="none" strike="noStrike" dirty="0">
                          <a:solidFill>
                            <a:srgbClr val="000000"/>
                          </a:solidFill>
                          <a:effectLst/>
                          <a:latin typeface="Arial" panose="020B0604020202020204" pitchFamily="34" charset="0"/>
                        </a:rPr>
                        <a:t>F</a:t>
                      </a:r>
                      <a:endParaRPr lang="en-US" sz="1800" b="0" i="0" u="none" strike="noStrike" dirty="0">
                        <a:effectLst/>
                        <a:latin typeface="Arial" panose="020B060402020202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67700500"/>
                  </a:ext>
                </a:extLst>
              </a:tr>
              <a:tr h="370840">
                <a:tc>
                  <a:txBody>
                    <a:bodyPr/>
                    <a:lstStyle/>
                    <a:p>
                      <a:pPr marR="0" algn="ctr" rtl="0" fontAlgn="t">
                        <a:buNone/>
                      </a:pPr>
                      <a:r>
                        <a:rPr lang="en-US" sz="1400" b="0" i="0" u="none" strike="noStrike">
                          <a:solidFill>
                            <a:srgbClr val="000000"/>
                          </a:solidFill>
                          <a:effectLst/>
                          <a:latin typeface="Arial" panose="020B0604020202020204" pitchFamily="34" charset="0"/>
                        </a:rPr>
                        <a:t>F</a:t>
                      </a:r>
                      <a:endParaRPr lang="en-US" sz="1800" b="0" i="0" u="none" strike="noStrike">
                        <a:effectLst/>
                        <a:latin typeface="Arial" panose="020B060402020202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0" algn="ctr" rtl="0" fontAlgn="t">
                        <a:buNone/>
                      </a:pPr>
                      <a:r>
                        <a:rPr lang="en-US" sz="1400" b="0" i="0" u="none" strike="noStrike">
                          <a:solidFill>
                            <a:srgbClr val="000000"/>
                          </a:solidFill>
                          <a:effectLst/>
                          <a:latin typeface="Arial" panose="020B0604020202020204" pitchFamily="34" charset="0"/>
                        </a:rPr>
                        <a:t>T</a:t>
                      </a:r>
                      <a:endParaRPr lang="en-US" sz="1800" b="0" i="0" u="none" strike="noStrike">
                        <a:effectLst/>
                        <a:latin typeface="Arial" panose="020B060402020202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0" algn="ctr" rtl="0" fontAlgn="t">
                        <a:buNone/>
                      </a:pPr>
                      <a:r>
                        <a:rPr lang="en-US" sz="1400" b="0" i="0" u="none" strike="noStrike" dirty="0">
                          <a:solidFill>
                            <a:srgbClr val="000000"/>
                          </a:solidFill>
                          <a:effectLst/>
                          <a:latin typeface="Arial" panose="020B0604020202020204" pitchFamily="34" charset="0"/>
                        </a:rPr>
                        <a:t>F</a:t>
                      </a:r>
                      <a:endParaRPr lang="en-US" sz="1800" b="0" i="0" u="none" strike="noStrike" dirty="0">
                        <a:effectLst/>
                        <a:latin typeface="Arial" panose="020B060402020202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78048824"/>
                  </a:ext>
                </a:extLst>
              </a:tr>
              <a:tr h="370840">
                <a:tc>
                  <a:txBody>
                    <a:bodyPr/>
                    <a:lstStyle/>
                    <a:p>
                      <a:pPr marR="0" algn="ctr" rtl="0" fontAlgn="t">
                        <a:buNone/>
                      </a:pPr>
                      <a:r>
                        <a:rPr lang="en-US" sz="1400" b="0" i="0" u="none" strike="noStrike" dirty="0">
                          <a:solidFill>
                            <a:srgbClr val="000000"/>
                          </a:solidFill>
                          <a:effectLst/>
                          <a:latin typeface="Arial" panose="020B0604020202020204" pitchFamily="34" charset="0"/>
                        </a:rPr>
                        <a:t>F</a:t>
                      </a:r>
                      <a:endParaRPr lang="en-US" sz="1800" b="0" i="0" u="none" strike="noStrike" dirty="0">
                        <a:effectLst/>
                        <a:latin typeface="Arial" panose="020B060402020202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0" algn="ctr" rtl="0" fontAlgn="t">
                        <a:buNone/>
                      </a:pPr>
                      <a:r>
                        <a:rPr lang="en-US" sz="1400" b="0" i="0" u="none" strike="noStrike" dirty="0">
                          <a:solidFill>
                            <a:srgbClr val="000000"/>
                          </a:solidFill>
                          <a:effectLst/>
                          <a:latin typeface="Arial" panose="020B0604020202020204" pitchFamily="34" charset="0"/>
                        </a:rPr>
                        <a:t>F</a:t>
                      </a:r>
                      <a:endParaRPr lang="en-US" sz="1800" b="0" i="0" u="none" strike="noStrike" dirty="0">
                        <a:effectLst/>
                        <a:latin typeface="Arial" panose="020B060402020202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0" algn="ctr" rtl="0" fontAlgn="t">
                        <a:buNone/>
                      </a:pPr>
                      <a:r>
                        <a:rPr lang="en-US" sz="1400" b="0" i="0" u="none" strike="noStrike" dirty="0">
                          <a:solidFill>
                            <a:srgbClr val="000000"/>
                          </a:solidFill>
                          <a:effectLst/>
                          <a:latin typeface="Arial" panose="020B0604020202020204" pitchFamily="34" charset="0"/>
                        </a:rPr>
                        <a:t>T</a:t>
                      </a:r>
                      <a:endParaRPr lang="en-US" sz="1800" b="0" i="0" u="none" strike="noStrike" dirty="0">
                        <a:effectLst/>
                        <a:latin typeface="Arial" panose="020B060402020202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44666058"/>
                  </a:ext>
                </a:extLst>
              </a:tr>
            </a:tbl>
          </a:graphicData>
        </a:graphic>
      </p:graphicFrame>
    </p:spTree>
    <p:extLst>
      <p:ext uri="{BB962C8B-B14F-4D97-AF65-F5344CB8AC3E}">
        <p14:creationId xmlns:p14="http://schemas.microsoft.com/office/powerpoint/2010/main" val="335482044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C8D49A-43E4-F03A-3A61-6D2276B8FC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A02AAC-C057-2F1A-F9BF-AEA7D1AD3BB0}"/>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DD495DB8-831E-9D5B-5DA8-82F4E04145B8}"/>
              </a:ext>
            </a:extLst>
          </p:cNvPr>
          <p:cNvSpPr>
            <a:spLocks noGrp="1"/>
          </p:cNvSpPr>
          <p:nvPr>
            <p:ph idx="1"/>
          </p:nvPr>
        </p:nvSpPr>
        <p:spPr>
          <a:xfrm>
            <a:off x="291600" y="662400"/>
            <a:ext cx="8520600" cy="4363850"/>
          </a:xfrm>
        </p:spPr>
        <p:txBody>
          <a:bodyPr/>
          <a:lstStyle/>
          <a:p>
            <a:r>
              <a:rPr lang="en-US" dirty="0"/>
              <a:t>Examples; “An integer n is even if and only if there exists an integer k such that n = 2k."</a:t>
            </a:r>
          </a:p>
          <a:p>
            <a:r>
              <a:rPr lang="en-US" dirty="0"/>
              <a:t>This is a biconditional as if we find an integer that can be written as 2k, it is even by definition. Conversely, if we know an integer is even, it must be representable as 2k. There is no even number that is not 2k, and no 2k number that is not even.</a:t>
            </a:r>
          </a:p>
          <a:p>
            <a:r>
              <a:rPr lang="en-US" dirty="0"/>
              <a:t>Similarly, "A triangle is equilateral if and only if all its internal angles are 60 degrees".</a:t>
            </a:r>
          </a:p>
        </p:txBody>
      </p:sp>
    </p:spTree>
    <p:extLst>
      <p:ext uri="{BB962C8B-B14F-4D97-AF65-F5344CB8AC3E}">
        <p14:creationId xmlns:p14="http://schemas.microsoft.com/office/powerpoint/2010/main" val="35118421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510878-6AD3-B8B8-5B7A-FBDBCC32D7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F6E140-97C6-9457-7D8E-E88734CA978E}"/>
              </a:ext>
            </a:extLst>
          </p:cNvPr>
          <p:cNvSpPr>
            <a:spLocks noGrp="1"/>
          </p:cNvSpPr>
          <p:nvPr>
            <p:ph type="title"/>
          </p:nvPr>
        </p:nvSpPr>
        <p:spPr>
          <a:xfrm>
            <a:off x="291600" y="95110"/>
            <a:ext cx="8520600" cy="436160"/>
          </a:xfrm>
        </p:spPr>
        <p:txBody>
          <a:bodyPr/>
          <a:lstStyle/>
          <a:p>
            <a:r>
              <a:rPr lang="en-US" dirty="0"/>
              <a:t>Logical Equivalences</a:t>
            </a:r>
          </a:p>
        </p:txBody>
      </p:sp>
      <p:sp>
        <p:nvSpPr>
          <p:cNvPr id="3" name="Content Placeholder 2">
            <a:extLst>
              <a:ext uri="{FF2B5EF4-FFF2-40B4-BE49-F238E27FC236}">
                <a16:creationId xmlns:a16="http://schemas.microsoft.com/office/drawing/2014/main" id="{3060BE94-3A2B-CE0F-F09A-4D28A3A26342}"/>
              </a:ext>
            </a:extLst>
          </p:cNvPr>
          <p:cNvSpPr>
            <a:spLocks noGrp="1"/>
          </p:cNvSpPr>
          <p:nvPr>
            <p:ph idx="1"/>
          </p:nvPr>
        </p:nvSpPr>
        <p:spPr>
          <a:xfrm>
            <a:off x="173612" y="454577"/>
            <a:ext cx="8520600" cy="4688923"/>
          </a:xfrm>
        </p:spPr>
        <p:txBody>
          <a:bodyPr/>
          <a:lstStyle/>
          <a:p>
            <a:r>
              <a:rPr lang="en-US" dirty="0"/>
              <a:t>The compound propositions p and q are called logically equivalent if p ↔ q is a tautology.</a:t>
            </a:r>
          </a:p>
          <a:p>
            <a:r>
              <a:rPr lang="en-US" dirty="0"/>
              <a:t>The notation p ≡ q is used to denote that p and q are logically equivalent.</a:t>
            </a:r>
          </a:p>
          <a:p>
            <a:r>
              <a:rPr lang="en-US" dirty="0"/>
              <a:t>Logically equivalent compound propositions have the same truth values in all possible cases.</a:t>
            </a:r>
          </a:p>
          <a:p>
            <a:r>
              <a:rPr lang="en-US" dirty="0"/>
              <a:t>One way to determine whether two compound propositions are equivalent is to use a truth table.</a:t>
            </a:r>
          </a:p>
          <a:p>
            <a:r>
              <a:rPr lang="en-US" dirty="0"/>
              <a:t>In particular, the compound propositions p and q are equivalent if and only if the columns giving their truth values agree.</a:t>
            </a:r>
          </a:p>
        </p:txBody>
      </p:sp>
    </p:spTree>
    <p:extLst>
      <p:ext uri="{BB962C8B-B14F-4D97-AF65-F5344CB8AC3E}">
        <p14:creationId xmlns:p14="http://schemas.microsoft.com/office/powerpoint/2010/main" val="74014366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26FCC2-1702-3607-F2CE-88899D5070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5AC04A-C4AF-9265-3C99-4DF616D3D694}"/>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9450DF68-47D9-DFA8-A460-4BB84629BB46}"/>
              </a:ext>
            </a:extLst>
          </p:cNvPr>
          <p:cNvSpPr>
            <a:spLocks noGrp="1"/>
          </p:cNvSpPr>
          <p:nvPr>
            <p:ph idx="1"/>
          </p:nvPr>
        </p:nvSpPr>
        <p:spPr>
          <a:xfrm>
            <a:off x="209009" y="261244"/>
            <a:ext cx="8520600" cy="4753208"/>
          </a:xfrm>
        </p:spPr>
        <p:txBody>
          <a:bodyPr/>
          <a:lstStyle/>
          <a:p>
            <a:r>
              <a:rPr lang="en-US" dirty="0"/>
              <a:t>Example; ¬(p ∨ q) and ¬p ∧ ¬q are logically equivalent.</a:t>
            </a:r>
          </a:p>
          <a:p>
            <a:pPr marL="114300" indent="0">
              <a:buNone/>
            </a:pPr>
            <a:r>
              <a:rPr lang="en-US" dirty="0"/>
              <a:t>Because the truth values of the compound propositions ¬(p ∨ q) and ¬p ∧ ¬q agree for all possible combinations of the truth values of p and q, it follows that ¬(p ∨ q) ↔ (¬p ∧ ¬q) is a tautology and that these compound propositions are logically equivalent.</a:t>
            </a:r>
          </a:p>
        </p:txBody>
      </p:sp>
      <p:graphicFrame>
        <p:nvGraphicFramePr>
          <p:cNvPr id="4" name="Table 3">
            <a:extLst>
              <a:ext uri="{FF2B5EF4-FFF2-40B4-BE49-F238E27FC236}">
                <a16:creationId xmlns:a16="http://schemas.microsoft.com/office/drawing/2014/main" id="{2598958C-31C3-FB34-3BD6-8A4FC368864E}"/>
              </a:ext>
            </a:extLst>
          </p:cNvPr>
          <p:cNvGraphicFramePr>
            <a:graphicFrameLocks noGrp="1"/>
          </p:cNvGraphicFramePr>
          <p:nvPr>
            <p:extLst>
              <p:ext uri="{D42A27DB-BD31-4B8C-83A1-F6EECF244321}">
                <p14:modId xmlns:p14="http://schemas.microsoft.com/office/powerpoint/2010/main" val="1811617887"/>
              </p:ext>
            </p:extLst>
          </p:nvPr>
        </p:nvGraphicFramePr>
        <p:xfrm>
          <a:off x="1785987" y="2981325"/>
          <a:ext cx="5316834" cy="1854200"/>
        </p:xfrm>
        <a:graphic>
          <a:graphicData uri="http://schemas.openxmlformats.org/drawingml/2006/table">
            <a:tbl>
              <a:tblPr firstRow="1" bandRow="1">
                <a:tableStyleId>{5940675A-B579-460E-94D1-54222C63F5DA}</a:tableStyleId>
              </a:tblPr>
              <a:tblGrid>
                <a:gridCol w="619916">
                  <a:extLst>
                    <a:ext uri="{9D8B030D-6E8A-4147-A177-3AD203B41FA5}">
                      <a16:colId xmlns:a16="http://schemas.microsoft.com/office/drawing/2014/main" val="3691632631"/>
                    </a:ext>
                  </a:extLst>
                </a:gridCol>
                <a:gridCol w="587115">
                  <a:extLst>
                    <a:ext uri="{9D8B030D-6E8A-4147-A177-3AD203B41FA5}">
                      <a16:colId xmlns:a16="http://schemas.microsoft.com/office/drawing/2014/main" val="1311086384"/>
                    </a:ext>
                  </a:extLst>
                </a:gridCol>
                <a:gridCol w="571389">
                  <a:extLst>
                    <a:ext uri="{9D8B030D-6E8A-4147-A177-3AD203B41FA5}">
                      <a16:colId xmlns:a16="http://schemas.microsoft.com/office/drawing/2014/main" val="2159269040"/>
                    </a:ext>
                  </a:extLst>
                </a:gridCol>
                <a:gridCol w="592357">
                  <a:extLst>
                    <a:ext uri="{9D8B030D-6E8A-4147-A177-3AD203B41FA5}">
                      <a16:colId xmlns:a16="http://schemas.microsoft.com/office/drawing/2014/main" val="2072048594"/>
                    </a:ext>
                  </a:extLst>
                </a:gridCol>
                <a:gridCol w="952077">
                  <a:extLst>
                    <a:ext uri="{9D8B030D-6E8A-4147-A177-3AD203B41FA5}">
                      <a16:colId xmlns:a16="http://schemas.microsoft.com/office/drawing/2014/main" val="1909277590"/>
                    </a:ext>
                  </a:extLst>
                </a:gridCol>
                <a:gridCol w="967494">
                  <a:extLst>
                    <a:ext uri="{9D8B030D-6E8A-4147-A177-3AD203B41FA5}">
                      <a16:colId xmlns:a16="http://schemas.microsoft.com/office/drawing/2014/main" val="1865235049"/>
                    </a:ext>
                  </a:extLst>
                </a:gridCol>
                <a:gridCol w="1026486">
                  <a:extLst>
                    <a:ext uri="{9D8B030D-6E8A-4147-A177-3AD203B41FA5}">
                      <a16:colId xmlns:a16="http://schemas.microsoft.com/office/drawing/2014/main" val="4021680246"/>
                    </a:ext>
                  </a:extLst>
                </a:gridCol>
              </a:tblGrid>
              <a:tr h="370840">
                <a:tc>
                  <a:txBody>
                    <a:bodyPr/>
                    <a:lstStyle/>
                    <a:p>
                      <a:pPr algn="ctr"/>
                      <a:r>
                        <a:rPr lang="en-US" dirty="0"/>
                        <a:t>p</a:t>
                      </a:r>
                    </a:p>
                  </a:txBody>
                  <a:tcPr>
                    <a:solidFill>
                      <a:schemeClr val="tx1">
                        <a:lumMod val="50000"/>
                        <a:lumOff val="50000"/>
                      </a:schemeClr>
                    </a:solidFill>
                  </a:tcPr>
                </a:tc>
                <a:tc>
                  <a:txBody>
                    <a:bodyPr/>
                    <a:lstStyle/>
                    <a:p>
                      <a:pPr algn="ctr"/>
                      <a:r>
                        <a:rPr lang="en-US" dirty="0"/>
                        <a:t>q</a:t>
                      </a:r>
                    </a:p>
                  </a:txBody>
                  <a:tcPr>
                    <a:solidFill>
                      <a:schemeClr val="tx1">
                        <a:lumMod val="50000"/>
                        <a:lumOff val="50000"/>
                      </a:schemeClr>
                    </a:solidFill>
                  </a:tcPr>
                </a:tc>
                <a:tc>
                  <a:txBody>
                    <a:bodyPr/>
                    <a:lstStyle/>
                    <a:p>
                      <a:pPr algn="ctr"/>
                      <a:r>
                        <a:rPr lang="en-US" dirty="0"/>
                        <a:t>¬p</a:t>
                      </a:r>
                    </a:p>
                  </a:txBody>
                  <a:tcPr>
                    <a:solidFill>
                      <a:schemeClr val="tx1">
                        <a:lumMod val="50000"/>
                        <a:lumOff val="50000"/>
                      </a:schemeClr>
                    </a:solidFill>
                  </a:tcPr>
                </a:tc>
                <a:tc>
                  <a:txBody>
                    <a:bodyPr/>
                    <a:lstStyle/>
                    <a:p>
                      <a:pPr algn="ctr"/>
                      <a:r>
                        <a:rPr lang="en-US" dirty="0"/>
                        <a:t>¬q</a:t>
                      </a:r>
                    </a:p>
                  </a:txBody>
                  <a:tcPr>
                    <a:solidFill>
                      <a:schemeClr val="tx1">
                        <a:lumMod val="50000"/>
                        <a:lumOff val="50000"/>
                      </a:schemeClr>
                    </a:solidFill>
                  </a:tcPr>
                </a:tc>
                <a:tc>
                  <a:txBody>
                    <a:bodyPr/>
                    <a:lstStyle/>
                    <a:p>
                      <a:pPr algn="ctr"/>
                      <a:r>
                        <a:rPr lang="en-US" dirty="0"/>
                        <a:t>p ∨ q</a:t>
                      </a:r>
                    </a:p>
                  </a:txBody>
                  <a:tcPr>
                    <a:solidFill>
                      <a:schemeClr val="tx1">
                        <a:lumMod val="50000"/>
                        <a:lumOff val="50000"/>
                      </a:schemeClr>
                    </a:solidFill>
                  </a:tcPr>
                </a:tc>
                <a:tc>
                  <a:txBody>
                    <a:bodyPr/>
                    <a:lstStyle/>
                    <a:p>
                      <a:pPr algn="ctr"/>
                      <a:r>
                        <a:rPr lang="en-US" dirty="0"/>
                        <a:t>¬(p ∨ q) </a:t>
                      </a:r>
                    </a:p>
                  </a:txBody>
                  <a:tcPr>
                    <a:solidFill>
                      <a:schemeClr val="tx1">
                        <a:lumMod val="50000"/>
                        <a:lumOff val="50000"/>
                      </a:schemeClr>
                    </a:solidFill>
                  </a:tcPr>
                </a:tc>
                <a:tc>
                  <a:txBody>
                    <a:bodyPr/>
                    <a:lstStyle/>
                    <a:p>
                      <a:pPr algn="ctr"/>
                      <a:r>
                        <a:rPr lang="en-US" dirty="0"/>
                        <a:t>(¬p ∧ ¬q)</a:t>
                      </a:r>
                    </a:p>
                  </a:txBody>
                  <a:tcPr>
                    <a:solidFill>
                      <a:schemeClr val="tx1">
                        <a:lumMod val="50000"/>
                        <a:lumOff val="50000"/>
                      </a:schemeClr>
                    </a:solidFill>
                  </a:tcPr>
                </a:tc>
                <a:extLst>
                  <a:ext uri="{0D108BD9-81ED-4DB2-BD59-A6C34878D82A}">
                    <a16:rowId xmlns:a16="http://schemas.microsoft.com/office/drawing/2014/main" val="2372596513"/>
                  </a:ext>
                </a:extLst>
              </a:tr>
              <a:tr h="370840">
                <a:tc>
                  <a:txBody>
                    <a:bodyPr/>
                    <a:lstStyle/>
                    <a:p>
                      <a:pPr algn="ctr"/>
                      <a:r>
                        <a:rPr lang="en-US" dirty="0"/>
                        <a:t>T</a:t>
                      </a:r>
                    </a:p>
                  </a:txBody>
                  <a:tcPr/>
                </a:tc>
                <a:tc>
                  <a:txBody>
                    <a:bodyPr/>
                    <a:lstStyle/>
                    <a:p>
                      <a:pPr algn="ctr"/>
                      <a:r>
                        <a:rPr lang="en-US" dirty="0"/>
                        <a:t>T</a:t>
                      </a:r>
                    </a:p>
                  </a:txBody>
                  <a:tcPr/>
                </a:tc>
                <a:tc>
                  <a:txBody>
                    <a:bodyPr/>
                    <a:lstStyle/>
                    <a:p>
                      <a:pPr algn="ctr"/>
                      <a:r>
                        <a:rPr lang="en-US" dirty="0"/>
                        <a:t>F</a:t>
                      </a:r>
                    </a:p>
                  </a:txBody>
                  <a:tcPr/>
                </a:tc>
                <a:tc>
                  <a:txBody>
                    <a:bodyPr/>
                    <a:lstStyle/>
                    <a:p>
                      <a:pPr algn="ctr"/>
                      <a:r>
                        <a:rPr lang="en-US" dirty="0"/>
                        <a:t>F</a:t>
                      </a:r>
                    </a:p>
                  </a:txBody>
                  <a:tcPr/>
                </a:tc>
                <a:tc>
                  <a:txBody>
                    <a:bodyPr/>
                    <a:lstStyle/>
                    <a:p>
                      <a:pPr algn="ctr"/>
                      <a:r>
                        <a:rPr lang="en-US" dirty="0"/>
                        <a:t>T</a:t>
                      </a:r>
                    </a:p>
                  </a:txBody>
                  <a:tcPr/>
                </a:tc>
                <a:tc>
                  <a:txBody>
                    <a:bodyPr/>
                    <a:lstStyle/>
                    <a:p>
                      <a:pPr algn="ctr"/>
                      <a:r>
                        <a:rPr lang="en-US" dirty="0"/>
                        <a:t>F</a:t>
                      </a:r>
                    </a:p>
                  </a:txBody>
                  <a:tcPr>
                    <a:solidFill>
                      <a:srgbClr val="FFFF00"/>
                    </a:solidFill>
                  </a:tcPr>
                </a:tc>
                <a:tc>
                  <a:txBody>
                    <a:bodyPr/>
                    <a:lstStyle/>
                    <a:p>
                      <a:pPr algn="ctr"/>
                      <a:r>
                        <a:rPr lang="en-US" dirty="0"/>
                        <a:t>F</a:t>
                      </a:r>
                    </a:p>
                  </a:txBody>
                  <a:tcPr>
                    <a:solidFill>
                      <a:srgbClr val="FFFF00"/>
                    </a:solidFill>
                  </a:tcPr>
                </a:tc>
                <a:extLst>
                  <a:ext uri="{0D108BD9-81ED-4DB2-BD59-A6C34878D82A}">
                    <a16:rowId xmlns:a16="http://schemas.microsoft.com/office/drawing/2014/main" val="1531822925"/>
                  </a:ext>
                </a:extLst>
              </a:tr>
              <a:tr h="370840">
                <a:tc>
                  <a:txBody>
                    <a:bodyPr/>
                    <a:lstStyle/>
                    <a:p>
                      <a:pPr algn="ctr"/>
                      <a:r>
                        <a:rPr lang="en-US" dirty="0"/>
                        <a:t>T</a:t>
                      </a:r>
                    </a:p>
                  </a:txBody>
                  <a:tcPr/>
                </a:tc>
                <a:tc>
                  <a:txBody>
                    <a:bodyPr/>
                    <a:lstStyle/>
                    <a:p>
                      <a:pPr algn="ctr"/>
                      <a:r>
                        <a:rPr lang="en-US" dirty="0"/>
                        <a:t>F</a:t>
                      </a:r>
                    </a:p>
                  </a:txBody>
                  <a:tcPr/>
                </a:tc>
                <a:tc>
                  <a:txBody>
                    <a:bodyPr/>
                    <a:lstStyle/>
                    <a:p>
                      <a:pPr algn="ctr"/>
                      <a:r>
                        <a:rPr lang="en-US" dirty="0"/>
                        <a:t>F</a:t>
                      </a:r>
                    </a:p>
                  </a:txBody>
                  <a:tcPr/>
                </a:tc>
                <a:tc>
                  <a:txBody>
                    <a:bodyPr/>
                    <a:lstStyle/>
                    <a:p>
                      <a:pPr algn="ctr"/>
                      <a:r>
                        <a:rPr lang="en-US" dirty="0"/>
                        <a:t>T</a:t>
                      </a:r>
                    </a:p>
                  </a:txBody>
                  <a:tcPr/>
                </a:tc>
                <a:tc>
                  <a:txBody>
                    <a:bodyPr/>
                    <a:lstStyle/>
                    <a:p>
                      <a:pPr algn="ctr"/>
                      <a:r>
                        <a:rPr lang="en-US" dirty="0"/>
                        <a:t>T</a:t>
                      </a:r>
                    </a:p>
                  </a:txBody>
                  <a:tcPr/>
                </a:tc>
                <a:tc>
                  <a:txBody>
                    <a:bodyPr/>
                    <a:lstStyle/>
                    <a:p>
                      <a:pPr algn="ctr"/>
                      <a:r>
                        <a:rPr lang="en-US" dirty="0"/>
                        <a:t>F</a:t>
                      </a:r>
                    </a:p>
                  </a:txBody>
                  <a:tcPr>
                    <a:solidFill>
                      <a:srgbClr val="FFFF00"/>
                    </a:solidFill>
                  </a:tcPr>
                </a:tc>
                <a:tc>
                  <a:txBody>
                    <a:bodyPr/>
                    <a:lstStyle/>
                    <a:p>
                      <a:pPr algn="ctr"/>
                      <a:r>
                        <a:rPr lang="en-US" dirty="0"/>
                        <a:t>F</a:t>
                      </a:r>
                    </a:p>
                  </a:txBody>
                  <a:tcPr>
                    <a:solidFill>
                      <a:srgbClr val="FFFF00"/>
                    </a:solidFill>
                  </a:tcPr>
                </a:tc>
                <a:extLst>
                  <a:ext uri="{0D108BD9-81ED-4DB2-BD59-A6C34878D82A}">
                    <a16:rowId xmlns:a16="http://schemas.microsoft.com/office/drawing/2014/main" val="1717103776"/>
                  </a:ext>
                </a:extLst>
              </a:tr>
              <a:tr h="370840">
                <a:tc>
                  <a:txBody>
                    <a:bodyPr/>
                    <a:lstStyle/>
                    <a:p>
                      <a:pPr algn="ctr"/>
                      <a:r>
                        <a:rPr lang="en-US" dirty="0"/>
                        <a:t>F</a:t>
                      </a:r>
                    </a:p>
                  </a:txBody>
                  <a:tcPr/>
                </a:tc>
                <a:tc>
                  <a:txBody>
                    <a:bodyPr/>
                    <a:lstStyle/>
                    <a:p>
                      <a:pPr algn="ctr"/>
                      <a:r>
                        <a:rPr lang="en-US" dirty="0"/>
                        <a:t>T</a:t>
                      </a:r>
                    </a:p>
                  </a:txBody>
                  <a:tcPr/>
                </a:tc>
                <a:tc>
                  <a:txBody>
                    <a:bodyPr/>
                    <a:lstStyle/>
                    <a:p>
                      <a:pPr algn="ctr"/>
                      <a:r>
                        <a:rPr lang="en-US" dirty="0"/>
                        <a:t>T</a:t>
                      </a:r>
                    </a:p>
                  </a:txBody>
                  <a:tcPr/>
                </a:tc>
                <a:tc>
                  <a:txBody>
                    <a:bodyPr/>
                    <a:lstStyle/>
                    <a:p>
                      <a:pPr algn="ctr"/>
                      <a:r>
                        <a:rPr lang="en-US" dirty="0"/>
                        <a:t>F</a:t>
                      </a:r>
                    </a:p>
                  </a:txBody>
                  <a:tcPr/>
                </a:tc>
                <a:tc>
                  <a:txBody>
                    <a:bodyPr/>
                    <a:lstStyle/>
                    <a:p>
                      <a:pPr algn="ctr"/>
                      <a:r>
                        <a:rPr lang="en-US" dirty="0"/>
                        <a:t>T</a:t>
                      </a:r>
                    </a:p>
                  </a:txBody>
                  <a:tcPr/>
                </a:tc>
                <a:tc>
                  <a:txBody>
                    <a:bodyPr/>
                    <a:lstStyle/>
                    <a:p>
                      <a:pPr algn="ctr"/>
                      <a:r>
                        <a:rPr lang="en-US" dirty="0"/>
                        <a:t>F</a:t>
                      </a:r>
                    </a:p>
                  </a:txBody>
                  <a:tcPr>
                    <a:solidFill>
                      <a:srgbClr val="FFFF00"/>
                    </a:solidFill>
                  </a:tcPr>
                </a:tc>
                <a:tc>
                  <a:txBody>
                    <a:bodyPr/>
                    <a:lstStyle/>
                    <a:p>
                      <a:pPr algn="ctr"/>
                      <a:r>
                        <a:rPr lang="en-US" dirty="0"/>
                        <a:t>F</a:t>
                      </a:r>
                    </a:p>
                  </a:txBody>
                  <a:tcPr>
                    <a:solidFill>
                      <a:srgbClr val="FFFF00"/>
                    </a:solidFill>
                  </a:tcPr>
                </a:tc>
                <a:extLst>
                  <a:ext uri="{0D108BD9-81ED-4DB2-BD59-A6C34878D82A}">
                    <a16:rowId xmlns:a16="http://schemas.microsoft.com/office/drawing/2014/main" val="2605818561"/>
                  </a:ext>
                </a:extLst>
              </a:tr>
              <a:tr h="370840">
                <a:tc>
                  <a:txBody>
                    <a:bodyPr/>
                    <a:lstStyle/>
                    <a:p>
                      <a:pPr algn="ctr"/>
                      <a:r>
                        <a:rPr lang="en-US" dirty="0"/>
                        <a:t>F</a:t>
                      </a:r>
                    </a:p>
                  </a:txBody>
                  <a:tcPr/>
                </a:tc>
                <a:tc>
                  <a:txBody>
                    <a:bodyPr/>
                    <a:lstStyle/>
                    <a:p>
                      <a:pPr algn="ctr"/>
                      <a:r>
                        <a:rPr lang="en-US" dirty="0"/>
                        <a:t>F</a:t>
                      </a:r>
                    </a:p>
                  </a:txBody>
                  <a:tcPr/>
                </a:tc>
                <a:tc>
                  <a:txBody>
                    <a:bodyPr/>
                    <a:lstStyle/>
                    <a:p>
                      <a:pPr algn="ctr"/>
                      <a:r>
                        <a:rPr lang="en-US" dirty="0"/>
                        <a:t>T</a:t>
                      </a:r>
                    </a:p>
                  </a:txBody>
                  <a:tcPr/>
                </a:tc>
                <a:tc>
                  <a:txBody>
                    <a:bodyPr/>
                    <a:lstStyle/>
                    <a:p>
                      <a:pPr algn="ctr"/>
                      <a:r>
                        <a:rPr lang="en-US" dirty="0"/>
                        <a:t>T</a:t>
                      </a:r>
                    </a:p>
                  </a:txBody>
                  <a:tcPr/>
                </a:tc>
                <a:tc>
                  <a:txBody>
                    <a:bodyPr/>
                    <a:lstStyle/>
                    <a:p>
                      <a:pPr algn="ctr"/>
                      <a:r>
                        <a:rPr lang="en-US" dirty="0"/>
                        <a:t>F</a:t>
                      </a:r>
                    </a:p>
                  </a:txBody>
                  <a:tcPr/>
                </a:tc>
                <a:tc>
                  <a:txBody>
                    <a:bodyPr/>
                    <a:lstStyle/>
                    <a:p>
                      <a:pPr algn="ctr"/>
                      <a:r>
                        <a:rPr lang="en-US" dirty="0"/>
                        <a:t>T</a:t>
                      </a:r>
                    </a:p>
                  </a:txBody>
                  <a:tcPr>
                    <a:solidFill>
                      <a:srgbClr val="FFFF00"/>
                    </a:solidFill>
                  </a:tcPr>
                </a:tc>
                <a:tc>
                  <a:txBody>
                    <a:bodyPr/>
                    <a:lstStyle/>
                    <a:p>
                      <a:pPr algn="ctr"/>
                      <a:r>
                        <a:rPr lang="en-US" dirty="0"/>
                        <a:t>T</a:t>
                      </a:r>
                    </a:p>
                  </a:txBody>
                  <a:tcPr>
                    <a:solidFill>
                      <a:srgbClr val="FFFF00"/>
                    </a:solidFill>
                  </a:tcPr>
                </a:tc>
                <a:extLst>
                  <a:ext uri="{0D108BD9-81ED-4DB2-BD59-A6C34878D82A}">
                    <a16:rowId xmlns:a16="http://schemas.microsoft.com/office/drawing/2014/main" val="614995297"/>
                  </a:ext>
                </a:extLst>
              </a:tr>
            </a:tbl>
          </a:graphicData>
        </a:graphic>
      </p:graphicFrame>
    </p:spTree>
    <p:extLst>
      <p:ext uri="{BB962C8B-B14F-4D97-AF65-F5344CB8AC3E}">
        <p14:creationId xmlns:p14="http://schemas.microsoft.com/office/powerpoint/2010/main" val="98383529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E0C361-5DE3-767D-A081-A856B6538EC1}"/>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30ADA1FA-DD27-05E1-8AE4-E602E3F39892}"/>
              </a:ext>
            </a:extLst>
          </p:cNvPr>
          <p:cNvSpPr>
            <a:spLocks noGrp="1"/>
          </p:cNvSpPr>
          <p:nvPr>
            <p:ph idx="1"/>
          </p:nvPr>
        </p:nvSpPr>
        <p:spPr>
          <a:xfrm>
            <a:off x="164216" y="183600"/>
            <a:ext cx="8520600" cy="4848550"/>
          </a:xfrm>
        </p:spPr>
        <p:txBody>
          <a:bodyPr/>
          <a:lstStyle/>
          <a:p>
            <a:pPr marL="114300" indent="0">
              <a:buNone/>
            </a:pPr>
            <a:r>
              <a:rPr lang="en-US" dirty="0"/>
              <a:t>Other examples of logical equivalences include;</a:t>
            </a:r>
          </a:p>
          <a:p>
            <a:r>
              <a:rPr lang="en-US" dirty="0"/>
              <a:t>p → q ≡ ¬p ∨ q</a:t>
            </a:r>
          </a:p>
          <a:p>
            <a:r>
              <a:rPr lang="en-US" dirty="0"/>
              <a:t>p → q ≡ ¬q → ¬p</a:t>
            </a:r>
          </a:p>
          <a:p>
            <a:r>
              <a:rPr lang="en-US" dirty="0"/>
              <a:t>p ∨ q ≡ ¬p → q</a:t>
            </a:r>
          </a:p>
          <a:p>
            <a:r>
              <a:rPr lang="en-US" dirty="0"/>
              <a:t>p ∧ q ≡ ¬(p → ¬q)</a:t>
            </a:r>
          </a:p>
          <a:p>
            <a:r>
              <a:rPr lang="en-US" dirty="0"/>
              <a:t>¬(p → q) ≡ p ∧ ¬q</a:t>
            </a:r>
          </a:p>
          <a:p>
            <a:r>
              <a:rPr lang="en-US" dirty="0"/>
              <a:t>p ↔ q ≡ (p → q) ∧ (q → p)</a:t>
            </a:r>
          </a:p>
          <a:p>
            <a:r>
              <a:rPr lang="en-US" dirty="0"/>
              <a:t>p ↔ q ≡ ¬p ↔ ¬q</a:t>
            </a:r>
          </a:p>
          <a:p>
            <a:r>
              <a:rPr lang="en-US" dirty="0"/>
              <a:t>p ↔ q ≡ (p ∧ q) ∨ (¬p ∧ ¬q)</a:t>
            </a:r>
          </a:p>
          <a:p>
            <a:r>
              <a:rPr lang="en-US" dirty="0"/>
              <a:t>(p → q) ∨ (p → r) ≡ p → (q ∨ r)</a:t>
            </a:r>
          </a:p>
          <a:p>
            <a:r>
              <a:rPr lang="en-US" dirty="0"/>
              <a:t>(p → r) ∨ (q → r) ≡ (p ∧ q) → r</a:t>
            </a:r>
          </a:p>
        </p:txBody>
      </p:sp>
    </p:spTree>
    <p:extLst>
      <p:ext uri="{BB962C8B-B14F-4D97-AF65-F5344CB8AC3E}">
        <p14:creationId xmlns:p14="http://schemas.microsoft.com/office/powerpoint/2010/main" val="93994323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44929-11AD-839F-6595-5354372AF7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80048C-C2E9-6E9F-97AE-5C86BAF8A1D4}"/>
              </a:ext>
            </a:extLst>
          </p:cNvPr>
          <p:cNvSpPr>
            <a:spLocks noGrp="1"/>
          </p:cNvSpPr>
          <p:nvPr>
            <p:ph type="title"/>
          </p:nvPr>
        </p:nvSpPr>
        <p:spPr>
          <a:xfrm>
            <a:off x="191310" y="64893"/>
            <a:ext cx="8520600" cy="436160"/>
          </a:xfrm>
        </p:spPr>
        <p:txBody>
          <a:bodyPr/>
          <a:lstStyle/>
          <a:p>
            <a:r>
              <a:rPr lang="en-US" dirty="0"/>
              <a:t>How Propositional Variables and Connectives deduce Truth Value</a:t>
            </a:r>
          </a:p>
        </p:txBody>
      </p:sp>
      <p:sp>
        <p:nvSpPr>
          <p:cNvPr id="3" name="Content Placeholder 2">
            <a:extLst>
              <a:ext uri="{FF2B5EF4-FFF2-40B4-BE49-F238E27FC236}">
                <a16:creationId xmlns:a16="http://schemas.microsoft.com/office/drawing/2014/main" id="{A5A91893-3C34-2DFE-77E5-4C68D36B5ADE}"/>
              </a:ext>
            </a:extLst>
          </p:cNvPr>
          <p:cNvSpPr>
            <a:spLocks noGrp="1"/>
          </p:cNvSpPr>
          <p:nvPr>
            <p:ph idx="1"/>
          </p:nvPr>
        </p:nvSpPr>
        <p:spPr>
          <a:xfrm>
            <a:off x="55624" y="986126"/>
            <a:ext cx="8520600" cy="4210468"/>
          </a:xfrm>
        </p:spPr>
        <p:txBody>
          <a:bodyPr/>
          <a:lstStyle/>
          <a:p>
            <a:r>
              <a:rPr lang="en-US" dirty="0"/>
              <a:t>The truth value of a proposition can be deduced using either the truth table or valuation functions together with recursive semantics.</a:t>
            </a:r>
          </a:p>
          <a:p>
            <a:r>
              <a:rPr lang="en-US" dirty="0"/>
              <a:t>We can use truth tables to determine the truth values of compound propositions, by using a separate column to find the truth value of each compound expression  that occurs in the compound proposition as it is built up.</a:t>
            </a:r>
          </a:p>
        </p:txBody>
      </p:sp>
    </p:spTree>
    <p:extLst>
      <p:ext uri="{BB962C8B-B14F-4D97-AF65-F5344CB8AC3E}">
        <p14:creationId xmlns:p14="http://schemas.microsoft.com/office/powerpoint/2010/main" val="81546271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4B726F-414E-E1F9-27A5-498079CE07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FF2727-6A77-CB09-A6B7-A4197CF9857F}"/>
              </a:ext>
            </a:extLst>
          </p:cNvPr>
          <p:cNvSpPr>
            <a:spLocks noGrp="1"/>
          </p:cNvSpPr>
          <p:nvPr>
            <p:ph type="title"/>
          </p:nvPr>
        </p:nvSpPr>
        <p:spPr>
          <a:xfrm>
            <a:off x="150015" y="0"/>
            <a:ext cx="8520600" cy="436160"/>
          </a:xfrm>
        </p:spPr>
        <p:txBody>
          <a:bodyPr/>
          <a:lstStyle/>
          <a:p>
            <a:r>
              <a:rPr lang="en-US" dirty="0"/>
              <a:t> </a:t>
            </a:r>
          </a:p>
        </p:txBody>
      </p:sp>
      <p:sp>
        <p:nvSpPr>
          <p:cNvPr id="3" name="Content Placeholder 2">
            <a:extLst>
              <a:ext uri="{FF2B5EF4-FFF2-40B4-BE49-F238E27FC236}">
                <a16:creationId xmlns:a16="http://schemas.microsoft.com/office/drawing/2014/main" id="{AE678FCA-FA61-E0C3-021E-2F96A9B1D46E}"/>
              </a:ext>
            </a:extLst>
          </p:cNvPr>
          <p:cNvSpPr>
            <a:spLocks noGrp="1"/>
          </p:cNvSpPr>
          <p:nvPr>
            <p:ph idx="1"/>
          </p:nvPr>
        </p:nvSpPr>
        <p:spPr>
          <a:xfrm>
            <a:off x="220807" y="343834"/>
            <a:ext cx="8520600" cy="4670617"/>
          </a:xfrm>
        </p:spPr>
        <p:txBody>
          <a:bodyPr/>
          <a:lstStyle/>
          <a:p>
            <a:r>
              <a:rPr lang="en-US" dirty="0"/>
              <a:t>The truth values of the compound proposition for each combination of truth values of the propositional variables in it is found in the final column of the table.</a:t>
            </a:r>
          </a:p>
          <a:p>
            <a:r>
              <a:rPr lang="en-US" dirty="0"/>
              <a:t>For example, to find the truth value of the proposition 			    (p ∨ ¬q) → (p ∧ q)</a:t>
            </a:r>
          </a:p>
          <a:p>
            <a:r>
              <a:rPr lang="en-US" dirty="0"/>
              <a:t> Since this proposition involves two propositional variables p and q, we use four rows in the truth table, one for each of the pairs of truth values TT, TF, FT, and FF. </a:t>
            </a:r>
          </a:p>
          <a:p>
            <a:r>
              <a:rPr lang="en-US" dirty="0"/>
              <a:t>The first two columns are used for the truth values of p and q, respectively. </a:t>
            </a:r>
          </a:p>
        </p:txBody>
      </p:sp>
    </p:spTree>
    <p:extLst>
      <p:ext uri="{BB962C8B-B14F-4D97-AF65-F5344CB8AC3E}">
        <p14:creationId xmlns:p14="http://schemas.microsoft.com/office/powerpoint/2010/main" val="312303391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B2A4CA-360A-801B-1431-1A5CE63F57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050A0D-15DE-CB7C-B157-28BB285045AD}"/>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4B379F41-B925-8FF7-E39D-903C1A4E67B7}"/>
              </a:ext>
            </a:extLst>
          </p:cNvPr>
          <p:cNvSpPr>
            <a:spLocks noGrp="1"/>
          </p:cNvSpPr>
          <p:nvPr>
            <p:ph idx="1"/>
          </p:nvPr>
        </p:nvSpPr>
        <p:spPr>
          <a:xfrm>
            <a:off x="0" y="183600"/>
            <a:ext cx="8520600" cy="4824952"/>
          </a:xfrm>
        </p:spPr>
        <p:txBody>
          <a:bodyPr/>
          <a:lstStyle/>
          <a:p>
            <a:r>
              <a:rPr lang="en-US" dirty="0"/>
              <a:t>In the third column we find the truth value of ¬q, which is used to find the truth value of p ∨ ¬q in the fourth column. </a:t>
            </a:r>
          </a:p>
          <a:p>
            <a:r>
              <a:rPr lang="en-US" dirty="0"/>
              <a:t>The fifth column gives the truth value of p ∧ q. Finally, the truth value of (p ∨ ¬q) → (p ∧ q) is found in the last column.</a:t>
            </a:r>
          </a:p>
        </p:txBody>
      </p:sp>
      <p:graphicFrame>
        <p:nvGraphicFramePr>
          <p:cNvPr id="4" name="Table 3">
            <a:extLst>
              <a:ext uri="{FF2B5EF4-FFF2-40B4-BE49-F238E27FC236}">
                <a16:creationId xmlns:a16="http://schemas.microsoft.com/office/drawing/2014/main" id="{81D96AEA-0EDB-C5E1-F478-EDFD3C82C27D}"/>
              </a:ext>
            </a:extLst>
          </p:cNvPr>
          <p:cNvGraphicFramePr>
            <a:graphicFrameLocks noGrp="1"/>
          </p:cNvGraphicFramePr>
          <p:nvPr>
            <p:extLst>
              <p:ext uri="{D42A27DB-BD31-4B8C-83A1-F6EECF244321}">
                <p14:modId xmlns:p14="http://schemas.microsoft.com/office/powerpoint/2010/main" val="3373355293"/>
              </p:ext>
            </p:extLst>
          </p:nvPr>
        </p:nvGraphicFramePr>
        <p:xfrm>
          <a:off x="1344617" y="2964311"/>
          <a:ext cx="6096000" cy="1854200"/>
        </p:xfrm>
        <a:graphic>
          <a:graphicData uri="http://schemas.openxmlformats.org/drawingml/2006/table">
            <a:tbl>
              <a:tblPr firstRow="1" bandRow="1">
                <a:tableStyleId>{5940675A-B579-460E-94D1-54222C63F5DA}</a:tableStyleId>
              </a:tblPr>
              <a:tblGrid>
                <a:gridCol w="531378">
                  <a:extLst>
                    <a:ext uri="{9D8B030D-6E8A-4147-A177-3AD203B41FA5}">
                      <a16:colId xmlns:a16="http://schemas.microsoft.com/office/drawing/2014/main" val="387862004"/>
                    </a:ext>
                  </a:extLst>
                </a:gridCol>
                <a:gridCol w="566338">
                  <a:extLst>
                    <a:ext uri="{9D8B030D-6E8A-4147-A177-3AD203B41FA5}">
                      <a16:colId xmlns:a16="http://schemas.microsoft.com/office/drawing/2014/main" val="1946342410"/>
                    </a:ext>
                  </a:extLst>
                </a:gridCol>
                <a:gridCol w="572237">
                  <a:extLst>
                    <a:ext uri="{9D8B030D-6E8A-4147-A177-3AD203B41FA5}">
                      <a16:colId xmlns:a16="http://schemas.microsoft.com/office/drawing/2014/main" val="3299704058"/>
                    </a:ext>
                  </a:extLst>
                </a:gridCol>
                <a:gridCol w="1085482">
                  <a:extLst>
                    <a:ext uri="{9D8B030D-6E8A-4147-A177-3AD203B41FA5}">
                      <a16:colId xmlns:a16="http://schemas.microsoft.com/office/drawing/2014/main" val="963428717"/>
                    </a:ext>
                  </a:extLst>
                </a:gridCol>
                <a:gridCol w="1097280">
                  <a:extLst>
                    <a:ext uri="{9D8B030D-6E8A-4147-A177-3AD203B41FA5}">
                      <a16:colId xmlns:a16="http://schemas.microsoft.com/office/drawing/2014/main" val="4169635889"/>
                    </a:ext>
                  </a:extLst>
                </a:gridCol>
                <a:gridCol w="2243285">
                  <a:extLst>
                    <a:ext uri="{9D8B030D-6E8A-4147-A177-3AD203B41FA5}">
                      <a16:colId xmlns:a16="http://schemas.microsoft.com/office/drawing/2014/main" val="2991411928"/>
                    </a:ext>
                  </a:extLst>
                </a:gridCol>
              </a:tblGrid>
              <a:tr h="370840">
                <a:tc>
                  <a:txBody>
                    <a:bodyPr/>
                    <a:lstStyle/>
                    <a:p>
                      <a:pPr algn="ctr"/>
                      <a:r>
                        <a:rPr lang="en-US" dirty="0"/>
                        <a:t>p</a:t>
                      </a:r>
                    </a:p>
                  </a:txBody>
                  <a:tcPr>
                    <a:solidFill>
                      <a:schemeClr val="tx1">
                        <a:lumMod val="50000"/>
                        <a:lumOff val="50000"/>
                      </a:schemeClr>
                    </a:solidFill>
                  </a:tcPr>
                </a:tc>
                <a:tc>
                  <a:txBody>
                    <a:bodyPr/>
                    <a:lstStyle/>
                    <a:p>
                      <a:pPr algn="ctr"/>
                      <a:r>
                        <a:rPr lang="en-US" dirty="0"/>
                        <a:t>q</a:t>
                      </a:r>
                    </a:p>
                  </a:txBody>
                  <a:tcPr>
                    <a:solidFill>
                      <a:schemeClr val="tx1">
                        <a:lumMod val="50000"/>
                        <a:lumOff val="50000"/>
                      </a:schemeClr>
                    </a:solidFill>
                  </a:tcPr>
                </a:tc>
                <a:tc>
                  <a:txBody>
                    <a:bodyPr/>
                    <a:lstStyle/>
                    <a:p>
                      <a:pPr algn="ctr"/>
                      <a:r>
                        <a:rPr lang="en-US" dirty="0"/>
                        <a:t>¬q</a:t>
                      </a:r>
                    </a:p>
                  </a:txBody>
                  <a:tcPr>
                    <a:solidFill>
                      <a:schemeClr val="tx1">
                        <a:lumMod val="50000"/>
                        <a:lumOff val="50000"/>
                      </a:schemeClr>
                    </a:solidFill>
                  </a:tcPr>
                </a:tc>
                <a:tc>
                  <a:txBody>
                    <a:bodyPr/>
                    <a:lstStyle/>
                    <a:p>
                      <a:pPr algn="ctr"/>
                      <a:r>
                        <a:rPr lang="en-US" dirty="0"/>
                        <a:t>p ∨ ¬q</a:t>
                      </a:r>
                    </a:p>
                  </a:txBody>
                  <a:tcPr>
                    <a:solidFill>
                      <a:schemeClr val="tx1">
                        <a:lumMod val="50000"/>
                        <a:lumOff val="50000"/>
                      </a:schemeClr>
                    </a:solidFill>
                  </a:tcPr>
                </a:tc>
                <a:tc>
                  <a:txBody>
                    <a:bodyPr/>
                    <a:lstStyle/>
                    <a:p>
                      <a:pPr algn="ctr"/>
                      <a:r>
                        <a:rPr lang="en-US" dirty="0"/>
                        <a:t>p ∧ q</a:t>
                      </a:r>
                    </a:p>
                  </a:txBody>
                  <a:tcPr>
                    <a:solidFill>
                      <a:schemeClr val="tx1">
                        <a:lumMod val="50000"/>
                        <a:lumOff val="50000"/>
                      </a:schemeClr>
                    </a:solidFill>
                  </a:tcPr>
                </a:tc>
                <a:tc>
                  <a:txBody>
                    <a:bodyPr/>
                    <a:lstStyle/>
                    <a:p>
                      <a:pPr algn="ctr"/>
                      <a:r>
                        <a:rPr lang="en-US" dirty="0"/>
                        <a:t>(p ∨ ¬q) → (p ∧ q) </a:t>
                      </a:r>
                    </a:p>
                  </a:txBody>
                  <a:tcPr>
                    <a:solidFill>
                      <a:schemeClr val="tx1">
                        <a:lumMod val="50000"/>
                        <a:lumOff val="50000"/>
                      </a:schemeClr>
                    </a:solidFill>
                  </a:tcPr>
                </a:tc>
                <a:extLst>
                  <a:ext uri="{0D108BD9-81ED-4DB2-BD59-A6C34878D82A}">
                    <a16:rowId xmlns:a16="http://schemas.microsoft.com/office/drawing/2014/main" val="753434746"/>
                  </a:ext>
                </a:extLst>
              </a:tr>
              <a:tr h="370840">
                <a:tc>
                  <a:txBody>
                    <a:bodyPr/>
                    <a:lstStyle/>
                    <a:p>
                      <a:pPr algn="ctr"/>
                      <a:r>
                        <a:rPr lang="en-US" dirty="0"/>
                        <a:t>T</a:t>
                      </a:r>
                    </a:p>
                  </a:txBody>
                  <a:tcPr/>
                </a:tc>
                <a:tc>
                  <a:txBody>
                    <a:bodyPr/>
                    <a:lstStyle/>
                    <a:p>
                      <a:pPr algn="ctr"/>
                      <a:r>
                        <a:rPr lang="en-US" dirty="0"/>
                        <a:t>T</a:t>
                      </a:r>
                    </a:p>
                  </a:txBody>
                  <a:tcPr/>
                </a:tc>
                <a:tc>
                  <a:txBody>
                    <a:bodyPr/>
                    <a:lstStyle/>
                    <a:p>
                      <a:pPr algn="ctr"/>
                      <a:r>
                        <a:rPr lang="en-US" dirty="0"/>
                        <a:t>F</a:t>
                      </a:r>
                    </a:p>
                  </a:txBody>
                  <a:tcPr/>
                </a:tc>
                <a:tc>
                  <a:txBody>
                    <a:bodyPr/>
                    <a:lstStyle/>
                    <a:p>
                      <a:pPr algn="ctr"/>
                      <a:r>
                        <a:rPr lang="en-US" dirty="0"/>
                        <a:t>T</a:t>
                      </a:r>
                    </a:p>
                  </a:txBody>
                  <a:tcPr/>
                </a:tc>
                <a:tc>
                  <a:txBody>
                    <a:bodyPr/>
                    <a:lstStyle/>
                    <a:p>
                      <a:pPr algn="ctr"/>
                      <a:r>
                        <a:rPr lang="en-US" dirty="0"/>
                        <a:t>T</a:t>
                      </a:r>
                    </a:p>
                  </a:txBody>
                  <a:tcPr/>
                </a:tc>
                <a:tc>
                  <a:txBody>
                    <a:bodyPr/>
                    <a:lstStyle/>
                    <a:p>
                      <a:pPr algn="ctr"/>
                      <a:r>
                        <a:rPr lang="en-US" dirty="0"/>
                        <a:t>T</a:t>
                      </a:r>
                    </a:p>
                  </a:txBody>
                  <a:tcPr/>
                </a:tc>
                <a:extLst>
                  <a:ext uri="{0D108BD9-81ED-4DB2-BD59-A6C34878D82A}">
                    <a16:rowId xmlns:a16="http://schemas.microsoft.com/office/drawing/2014/main" val="3509321260"/>
                  </a:ext>
                </a:extLst>
              </a:tr>
              <a:tr h="370840">
                <a:tc>
                  <a:txBody>
                    <a:bodyPr/>
                    <a:lstStyle/>
                    <a:p>
                      <a:pPr algn="ctr"/>
                      <a:r>
                        <a:rPr lang="en-US" dirty="0"/>
                        <a:t>T</a:t>
                      </a:r>
                    </a:p>
                  </a:txBody>
                  <a:tcPr/>
                </a:tc>
                <a:tc>
                  <a:txBody>
                    <a:bodyPr/>
                    <a:lstStyle/>
                    <a:p>
                      <a:pPr algn="ctr"/>
                      <a:r>
                        <a:rPr lang="en-US" dirty="0"/>
                        <a:t>F</a:t>
                      </a:r>
                    </a:p>
                  </a:txBody>
                  <a:tcPr/>
                </a:tc>
                <a:tc>
                  <a:txBody>
                    <a:bodyPr/>
                    <a:lstStyle/>
                    <a:p>
                      <a:pPr algn="ctr"/>
                      <a:r>
                        <a:rPr lang="en-US" dirty="0"/>
                        <a:t>T</a:t>
                      </a:r>
                    </a:p>
                  </a:txBody>
                  <a:tcPr/>
                </a:tc>
                <a:tc>
                  <a:txBody>
                    <a:bodyPr/>
                    <a:lstStyle/>
                    <a:p>
                      <a:pPr algn="ctr"/>
                      <a:r>
                        <a:rPr lang="en-US" dirty="0"/>
                        <a:t>T</a:t>
                      </a:r>
                    </a:p>
                  </a:txBody>
                  <a:tcPr/>
                </a:tc>
                <a:tc>
                  <a:txBody>
                    <a:bodyPr/>
                    <a:lstStyle/>
                    <a:p>
                      <a:pPr algn="ctr"/>
                      <a:r>
                        <a:rPr lang="en-US" dirty="0"/>
                        <a:t>F</a:t>
                      </a:r>
                    </a:p>
                  </a:txBody>
                  <a:tcPr/>
                </a:tc>
                <a:tc>
                  <a:txBody>
                    <a:bodyPr/>
                    <a:lstStyle/>
                    <a:p>
                      <a:pPr algn="ctr"/>
                      <a:r>
                        <a:rPr lang="en-US" dirty="0"/>
                        <a:t>F</a:t>
                      </a:r>
                    </a:p>
                  </a:txBody>
                  <a:tcPr/>
                </a:tc>
                <a:extLst>
                  <a:ext uri="{0D108BD9-81ED-4DB2-BD59-A6C34878D82A}">
                    <a16:rowId xmlns:a16="http://schemas.microsoft.com/office/drawing/2014/main" val="3208520478"/>
                  </a:ext>
                </a:extLst>
              </a:tr>
              <a:tr h="370840">
                <a:tc>
                  <a:txBody>
                    <a:bodyPr/>
                    <a:lstStyle/>
                    <a:p>
                      <a:pPr algn="ctr"/>
                      <a:r>
                        <a:rPr lang="en-US" dirty="0"/>
                        <a:t>F</a:t>
                      </a:r>
                    </a:p>
                  </a:txBody>
                  <a:tcPr/>
                </a:tc>
                <a:tc>
                  <a:txBody>
                    <a:bodyPr/>
                    <a:lstStyle/>
                    <a:p>
                      <a:pPr algn="ctr"/>
                      <a:r>
                        <a:rPr lang="en-US" dirty="0"/>
                        <a:t>T</a:t>
                      </a:r>
                    </a:p>
                  </a:txBody>
                  <a:tcPr/>
                </a:tc>
                <a:tc>
                  <a:txBody>
                    <a:bodyPr/>
                    <a:lstStyle/>
                    <a:p>
                      <a:pPr algn="ctr"/>
                      <a:r>
                        <a:rPr lang="en-US" dirty="0"/>
                        <a:t>F</a:t>
                      </a:r>
                    </a:p>
                  </a:txBody>
                  <a:tcPr/>
                </a:tc>
                <a:tc>
                  <a:txBody>
                    <a:bodyPr/>
                    <a:lstStyle/>
                    <a:p>
                      <a:pPr algn="ctr"/>
                      <a:r>
                        <a:rPr lang="en-US" dirty="0"/>
                        <a:t>F</a:t>
                      </a:r>
                    </a:p>
                  </a:txBody>
                  <a:tcPr/>
                </a:tc>
                <a:tc>
                  <a:txBody>
                    <a:bodyPr/>
                    <a:lstStyle/>
                    <a:p>
                      <a:pPr algn="ctr"/>
                      <a:r>
                        <a:rPr lang="en-US" dirty="0"/>
                        <a:t>F</a:t>
                      </a:r>
                    </a:p>
                  </a:txBody>
                  <a:tcPr/>
                </a:tc>
                <a:tc>
                  <a:txBody>
                    <a:bodyPr/>
                    <a:lstStyle/>
                    <a:p>
                      <a:pPr algn="ctr"/>
                      <a:r>
                        <a:rPr lang="en-US" dirty="0"/>
                        <a:t>T</a:t>
                      </a:r>
                    </a:p>
                  </a:txBody>
                  <a:tcPr/>
                </a:tc>
                <a:extLst>
                  <a:ext uri="{0D108BD9-81ED-4DB2-BD59-A6C34878D82A}">
                    <a16:rowId xmlns:a16="http://schemas.microsoft.com/office/drawing/2014/main" val="1116523551"/>
                  </a:ext>
                </a:extLst>
              </a:tr>
              <a:tr h="370840">
                <a:tc>
                  <a:txBody>
                    <a:bodyPr/>
                    <a:lstStyle/>
                    <a:p>
                      <a:pPr algn="ctr"/>
                      <a:r>
                        <a:rPr lang="en-US" dirty="0"/>
                        <a:t>F</a:t>
                      </a:r>
                    </a:p>
                  </a:txBody>
                  <a:tcPr/>
                </a:tc>
                <a:tc>
                  <a:txBody>
                    <a:bodyPr/>
                    <a:lstStyle/>
                    <a:p>
                      <a:pPr algn="ctr"/>
                      <a:r>
                        <a:rPr lang="en-US" dirty="0"/>
                        <a:t>F</a:t>
                      </a:r>
                    </a:p>
                  </a:txBody>
                  <a:tcPr/>
                </a:tc>
                <a:tc>
                  <a:txBody>
                    <a:bodyPr/>
                    <a:lstStyle/>
                    <a:p>
                      <a:pPr algn="ctr"/>
                      <a:r>
                        <a:rPr lang="en-US" dirty="0"/>
                        <a:t>T</a:t>
                      </a:r>
                    </a:p>
                  </a:txBody>
                  <a:tcPr/>
                </a:tc>
                <a:tc>
                  <a:txBody>
                    <a:bodyPr/>
                    <a:lstStyle/>
                    <a:p>
                      <a:pPr algn="ctr"/>
                      <a:r>
                        <a:rPr lang="en-US" dirty="0"/>
                        <a:t>T</a:t>
                      </a:r>
                    </a:p>
                  </a:txBody>
                  <a:tcPr/>
                </a:tc>
                <a:tc>
                  <a:txBody>
                    <a:bodyPr/>
                    <a:lstStyle/>
                    <a:p>
                      <a:pPr algn="ctr"/>
                      <a:r>
                        <a:rPr lang="en-US" dirty="0"/>
                        <a:t>F</a:t>
                      </a:r>
                    </a:p>
                  </a:txBody>
                  <a:tcPr/>
                </a:tc>
                <a:tc>
                  <a:txBody>
                    <a:bodyPr/>
                    <a:lstStyle/>
                    <a:p>
                      <a:pPr algn="ctr"/>
                      <a:r>
                        <a:rPr lang="en-US" dirty="0"/>
                        <a:t>F</a:t>
                      </a:r>
                    </a:p>
                  </a:txBody>
                  <a:tcPr/>
                </a:tc>
                <a:extLst>
                  <a:ext uri="{0D108BD9-81ED-4DB2-BD59-A6C34878D82A}">
                    <a16:rowId xmlns:a16="http://schemas.microsoft.com/office/drawing/2014/main" val="2280224738"/>
                  </a:ext>
                </a:extLst>
              </a:tr>
            </a:tbl>
          </a:graphicData>
        </a:graphic>
      </p:graphicFrame>
    </p:spTree>
    <p:extLst>
      <p:ext uri="{BB962C8B-B14F-4D97-AF65-F5344CB8AC3E}">
        <p14:creationId xmlns:p14="http://schemas.microsoft.com/office/powerpoint/2010/main" val="42445657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7A7BDE-38E9-C214-A2B5-4A56A1909A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4104B4-C998-DA6F-79A5-CA3770C8D0C8}"/>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2D05548F-1D55-00CE-3F70-7960E5C0B928}"/>
              </a:ext>
            </a:extLst>
          </p:cNvPr>
          <p:cNvSpPr>
            <a:spLocks noGrp="1"/>
          </p:cNvSpPr>
          <p:nvPr>
            <p:ph idx="1"/>
          </p:nvPr>
        </p:nvSpPr>
        <p:spPr>
          <a:xfrm>
            <a:off x="197210" y="247666"/>
            <a:ext cx="8520600" cy="4648168"/>
          </a:xfrm>
        </p:spPr>
        <p:txBody>
          <a:bodyPr/>
          <a:lstStyle/>
          <a:p>
            <a:r>
              <a:rPr lang="en-US" dirty="0"/>
              <a:t>A valuation function is defined as a mapping from the set of propositional variables P to the set of truth values B = {T, F}.</a:t>
            </a:r>
          </a:p>
          <a:p>
            <a:r>
              <a:rPr lang="en-US" dirty="0"/>
              <a:t>Simply a valuation function is a mapping that assigns a truth value (typically 1 for True and 0 for False) to atomic propositions.</a:t>
            </a:r>
          </a:p>
          <a:p>
            <a:r>
              <a:rPr lang="en-US" dirty="0"/>
              <a:t>We can then use recursive rules to deduce the truth value of compound propositions.</a:t>
            </a:r>
          </a:p>
          <a:p>
            <a:r>
              <a:rPr lang="en-US" dirty="0"/>
              <a:t>If a proposition has n variables, there are exactly 2</a:t>
            </a:r>
            <a:r>
              <a:rPr lang="en-US" baseline="30000" dirty="0"/>
              <a:t>n</a:t>
            </a:r>
            <a:r>
              <a:rPr lang="en-US" dirty="0"/>
              <a:t> possible valuations(corresponding to the 2</a:t>
            </a:r>
            <a:r>
              <a:rPr lang="en-US" baseline="30000" dirty="0"/>
              <a:t>n</a:t>
            </a:r>
            <a:r>
              <a:rPr lang="en-US" dirty="0"/>
              <a:t> rows of a truth table).</a:t>
            </a:r>
            <a:endParaRPr lang="en-US" baseline="30000" dirty="0"/>
          </a:p>
        </p:txBody>
      </p:sp>
    </p:spTree>
    <p:extLst>
      <p:ext uri="{BB962C8B-B14F-4D97-AF65-F5344CB8AC3E}">
        <p14:creationId xmlns:p14="http://schemas.microsoft.com/office/powerpoint/2010/main" val="276917621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D4DCA2-184C-AD44-DEFC-3A14FD5E0C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04F878-F8A9-5A92-B2BB-000E665AE903}"/>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26511FF4-7D8F-0899-9AB1-57EAD84C0BDD}"/>
              </a:ext>
            </a:extLst>
          </p:cNvPr>
          <p:cNvSpPr>
            <a:spLocks noGrp="1"/>
          </p:cNvSpPr>
          <p:nvPr>
            <p:ph idx="1"/>
          </p:nvPr>
        </p:nvSpPr>
        <p:spPr>
          <a:xfrm>
            <a:off x="114619" y="183927"/>
            <a:ext cx="8520600" cy="4854121"/>
          </a:xfrm>
        </p:spPr>
        <p:txBody>
          <a:bodyPr/>
          <a:lstStyle/>
          <a:p>
            <a:r>
              <a:rPr lang="en-US" dirty="0"/>
              <a:t>The Rules of Valuation;</a:t>
            </a:r>
          </a:p>
          <a:p>
            <a:pPr marL="114300" indent="0">
              <a:buNone/>
            </a:pPr>
            <a:r>
              <a:rPr lang="en-US" dirty="0"/>
              <a:t>    Negation: v(¬p) = 1 - v(p)</a:t>
            </a:r>
          </a:p>
          <a:p>
            <a:pPr marL="114300" indent="0">
              <a:buNone/>
            </a:pPr>
            <a:r>
              <a:rPr lang="en-US" dirty="0"/>
              <a:t>    Conjunction: v(p ∧ q) = min(v(p), v(q))</a:t>
            </a:r>
          </a:p>
          <a:p>
            <a:pPr marL="114300" indent="0">
              <a:buNone/>
            </a:pPr>
            <a:r>
              <a:rPr lang="en-US" dirty="0"/>
              <a:t>    Disjunction: v(p ∨ q) = max(v(p), v(q))</a:t>
            </a:r>
          </a:p>
          <a:p>
            <a:pPr marL="114300" indent="0">
              <a:buNone/>
            </a:pPr>
            <a:r>
              <a:rPr lang="en-US" dirty="0"/>
              <a:t>    Implication: v(p ⇒ q) = 1 if v(p) ≤ v(q), otherwise 0</a:t>
            </a:r>
          </a:p>
          <a:p>
            <a:r>
              <a:rPr lang="en-US" dirty="0"/>
              <a:t>Example deduction</a:t>
            </a:r>
          </a:p>
          <a:p>
            <a:pPr marL="114300" indent="0">
              <a:buNone/>
            </a:pPr>
            <a:r>
              <a:rPr lang="en-US" dirty="0"/>
              <a:t>To determine the truth value of the proposition:</a:t>
            </a:r>
          </a:p>
          <a:p>
            <a:pPr marL="114300" indent="0">
              <a:buNone/>
            </a:pPr>
            <a:r>
              <a:rPr lang="en-US" dirty="0"/>
              <a:t>		  P = (p ∧ q) ⇒ ∼r.</a:t>
            </a:r>
          </a:p>
          <a:p>
            <a:pPr marL="114300" indent="0">
              <a:buNone/>
            </a:pPr>
            <a:r>
              <a:rPr lang="en-US" dirty="0"/>
              <a:t>Define the Initial State</a:t>
            </a:r>
          </a:p>
          <a:p>
            <a:pPr marL="114300" indent="0">
              <a:buNone/>
            </a:pPr>
            <a:r>
              <a:rPr lang="en-US" dirty="0"/>
              <a:t>-suppose we have the following individual truth values for our atoms;</a:t>
            </a:r>
          </a:p>
        </p:txBody>
      </p:sp>
    </p:spTree>
    <p:extLst>
      <p:ext uri="{BB962C8B-B14F-4D97-AF65-F5344CB8AC3E}">
        <p14:creationId xmlns:p14="http://schemas.microsoft.com/office/powerpoint/2010/main" val="24921672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C17FAE-02B0-D51B-9C6E-13EC821567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05317F-8F0C-1CE7-170A-23E91BB52853}"/>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11C71F6B-D88E-B29C-5A1A-67646F5DB907}"/>
              </a:ext>
            </a:extLst>
          </p:cNvPr>
          <p:cNvSpPr>
            <a:spLocks noGrp="1"/>
          </p:cNvSpPr>
          <p:nvPr>
            <p:ph idx="1"/>
          </p:nvPr>
        </p:nvSpPr>
        <p:spPr>
          <a:xfrm>
            <a:off x="291600" y="320236"/>
            <a:ext cx="8520600" cy="4639663"/>
          </a:xfrm>
        </p:spPr>
        <p:txBody>
          <a:bodyPr/>
          <a:lstStyle/>
          <a:p>
            <a:pPr marL="114300" indent="0">
              <a:buNone/>
            </a:pPr>
            <a:r>
              <a:rPr lang="en-US" dirty="0"/>
              <a:t>v(p) = 1 (True)</a:t>
            </a:r>
          </a:p>
          <a:p>
            <a:pPr marL="114300" indent="0">
              <a:buNone/>
            </a:pPr>
            <a:r>
              <a:rPr lang="en-US" dirty="0"/>
              <a:t>v(q) = 1 (True)</a:t>
            </a:r>
          </a:p>
          <a:p>
            <a:pPr marL="114300" indent="0">
              <a:buNone/>
            </a:pPr>
            <a:r>
              <a:rPr lang="en-US" dirty="0"/>
              <a:t>v(r) = 1 (True)</a:t>
            </a:r>
          </a:p>
          <a:p>
            <a:pPr marL="114300" indent="0">
              <a:buNone/>
            </a:pPr>
            <a:r>
              <a:rPr lang="en-US" dirty="0"/>
              <a:t> Evaluate the hypothesis(p ∧ q).</a:t>
            </a:r>
          </a:p>
          <a:p>
            <a:pPr marL="114300" indent="0">
              <a:buNone/>
            </a:pPr>
            <a:r>
              <a:rPr lang="en-US" dirty="0"/>
              <a:t>-using the conjunction rule;</a:t>
            </a:r>
          </a:p>
          <a:p>
            <a:pPr marL="114300" indent="0">
              <a:buNone/>
            </a:pPr>
            <a:r>
              <a:rPr lang="en-US" dirty="0"/>
              <a:t>	v(p ∧ q) = min(v(p), v(q)) </a:t>
            </a:r>
          </a:p>
          <a:p>
            <a:pPr marL="114300" indent="0">
              <a:buNone/>
            </a:pPr>
            <a:r>
              <a:rPr lang="en-US" dirty="0"/>
              <a:t>	v(p ∧ q) = min(1, 1) = 1</a:t>
            </a:r>
          </a:p>
          <a:p>
            <a:pPr marL="114300" indent="0">
              <a:buNone/>
            </a:pPr>
            <a:r>
              <a:rPr lang="en-US" dirty="0"/>
              <a:t>Evaluate the negation(∼r)</a:t>
            </a:r>
          </a:p>
          <a:p>
            <a:pPr marL="114300" indent="0">
              <a:buNone/>
            </a:pPr>
            <a:r>
              <a:rPr lang="en-US" dirty="0"/>
              <a:t>-using the negation rule;</a:t>
            </a:r>
          </a:p>
          <a:p>
            <a:pPr marL="114300" indent="0">
              <a:buNone/>
            </a:pPr>
            <a:r>
              <a:rPr lang="en-US" dirty="0"/>
              <a:t>v(∼r)= 1 - v(r) </a:t>
            </a:r>
          </a:p>
          <a:p>
            <a:pPr marL="114300" indent="0">
              <a:buNone/>
            </a:pPr>
            <a:r>
              <a:rPr lang="en-US" dirty="0"/>
              <a:t>v(∼r)= 1 - 1 = 0</a:t>
            </a:r>
          </a:p>
        </p:txBody>
      </p:sp>
    </p:spTree>
    <p:extLst>
      <p:ext uri="{BB962C8B-B14F-4D97-AF65-F5344CB8AC3E}">
        <p14:creationId xmlns:p14="http://schemas.microsoft.com/office/powerpoint/2010/main" val="368105839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4C0D64-C867-9A9A-922F-E2DA2657A1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DDBE42-7A15-E770-A5F5-57B9146141DD}"/>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CB7BDFD8-EEA2-2443-BEFD-90B3A20DC7A4}"/>
              </a:ext>
            </a:extLst>
          </p:cNvPr>
          <p:cNvSpPr>
            <a:spLocks noGrp="1"/>
          </p:cNvSpPr>
          <p:nvPr>
            <p:ph idx="1"/>
          </p:nvPr>
        </p:nvSpPr>
        <p:spPr>
          <a:xfrm>
            <a:off x="173613" y="302540"/>
            <a:ext cx="8520600" cy="4706012"/>
          </a:xfrm>
        </p:spPr>
        <p:txBody>
          <a:bodyPr/>
          <a:lstStyle/>
          <a:p>
            <a:r>
              <a:rPr lang="en-US" dirty="0"/>
              <a:t>Deduce the Final Truth Value</a:t>
            </a:r>
          </a:p>
          <a:p>
            <a:pPr marL="114300" indent="0">
              <a:buNone/>
            </a:pPr>
            <a:r>
              <a:rPr lang="en-US" dirty="0"/>
              <a:t>-now we substitute the results into the implication:</a:t>
            </a:r>
          </a:p>
          <a:p>
            <a:pPr marL="114300" indent="0">
              <a:buNone/>
            </a:pPr>
            <a:r>
              <a:rPr lang="en-US" dirty="0"/>
              <a:t>	v(P) = v((p ∧ q) ⇒ ∼r) </a:t>
            </a:r>
          </a:p>
          <a:p>
            <a:pPr marL="114300" indent="0">
              <a:buNone/>
            </a:pPr>
            <a:r>
              <a:rPr lang="en-US" dirty="0"/>
              <a:t>	v(P) = v(1 ⇒ 0) </a:t>
            </a:r>
          </a:p>
          <a:p>
            <a:pPr marL="114300" indent="0">
              <a:buNone/>
            </a:pPr>
            <a:r>
              <a:rPr lang="en-US" dirty="0"/>
              <a:t> -Since v(hypothesis) = 1 and v(conclusion) = 0, the    condition v(p) ≤ v(q) is not met, thus </a:t>
            </a:r>
          </a:p>
          <a:p>
            <a:pPr marL="114300" indent="0">
              <a:buNone/>
            </a:pPr>
            <a:r>
              <a:rPr lang="en-US" dirty="0"/>
              <a:t>	v(P) = 0 </a:t>
            </a:r>
          </a:p>
          <a:p>
            <a:pPr marL="114300" indent="0">
              <a:buNone/>
            </a:pPr>
            <a:r>
              <a:rPr lang="en-US" dirty="0"/>
              <a:t>Under this specific valuation, the proposition (p ∧ q) ⇒ ∼r is False.</a:t>
            </a:r>
          </a:p>
        </p:txBody>
      </p:sp>
    </p:spTree>
    <p:extLst>
      <p:ext uri="{BB962C8B-B14F-4D97-AF65-F5344CB8AC3E}">
        <p14:creationId xmlns:p14="http://schemas.microsoft.com/office/powerpoint/2010/main" val="166406525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0C319B-78C4-1A74-ACD5-EB12900D14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EB612F-9F33-B2DC-CBCF-DCEC89F8E283}"/>
              </a:ext>
            </a:extLst>
          </p:cNvPr>
          <p:cNvSpPr>
            <a:spLocks noGrp="1"/>
          </p:cNvSpPr>
          <p:nvPr>
            <p:ph type="title"/>
          </p:nvPr>
        </p:nvSpPr>
        <p:spPr>
          <a:xfrm>
            <a:off x="291600" y="65613"/>
            <a:ext cx="8520600" cy="436160"/>
          </a:xfrm>
        </p:spPr>
        <p:txBody>
          <a:bodyPr/>
          <a:lstStyle/>
          <a:p>
            <a:r>
              <a:rPr lang="en-US" dirty="0"/>
              <a:t>Tautologies, Contradictions, and Contingents</a:t>
            </a:r>
          </a:p>
        </p:txBody>
      </p:sp>
      <p:sp>
        <p:nvSpPr>
          <p:cNvPr id="3" name="Content Placeholder 2">
            <a:extLst>
              <a:ext uri="{FF2B5EF4-FFF2-40B4-BE49-F238E27FC236}">
                <a16:creationId xmlns:a16="http://schemas.microsoft.com/office/drawing/2014/main" id="{D23BC989-37E2-F0A1-2BF4-36E7C0A4F6CD}"/>
              </a:ext>
            </a:extLst>
          </p:cNvPr>
          <p:cNvSpPr>
            <a:spLocks noGrp="1"/>
          </p:cNvSpPr>
          <p:nvPr>
            <p:ph idx="1"/>
          </p:nvPr>
        </p:nvSpPr>
        <p:spPr>
          <a:xfrm>
            <a:off x="291600" y="556212"/>
            <a:ext cx="8520600" cy="4440542"/>
          </a:xfrm>
        </p:spPr>
        <p:txBody>
          <a:bodyPr/>
          <a:lstStyle/>
          <a:p>
            <a:r>
              <a:rPr lang="en-US" dirty="0"/>
              <a:t>A tautology is a compound proposition that is True regardless of the truth values assigned to its individual component propositions.</a:t>
            </a:r>
          </a:p>
          <a:p>
            <a:r>
              <a:rPr lang="en-US" dirty="0"/>
              <a:t>A proposition is a tautology if and only if it evaluates to True under every possible valuation in a truth table.</a:t>
            </a:r>
          </a:p>
          <a:p>
            <a:r>
              <a:rPr lang="en-US" dirty="0"/>
              <a:t>In determining logical equivalence, two propositions p and q are considered logically equivalent if the biconditional statement p ⇒ q is a tautology.</a:t>
            </a:r>
          </a:p>
          <a:p>
            <a:r>
              <a:rPr lang="en-US" dirty="0"/>
              <a:t>Example the statements p ∨ ∼p and [(p ⇒ q) ∧ p] ⇒ q are tautologies.</a:t>
            </a:r>
          </a:p>
        </p:txBody>
      </p:sp>
    </p:spTree>
    <p:extLst>
      <p:ext uri="{BB962C8B-B14F-4D97-AF65-F5344CB8AC3E}">
        <p14:creationId xmlns:p14="http://schemas.microsoft.com/office/powerpoint/2010/main" val="296887980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13173B-F0BC-7C41-AB18-BD52103FE8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0E7F22-8A6A-82E9-E2CC-1608F5A7BF10}"/>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C60BA0DF-68E3-8E10-D503-717831F802A3}"/>
              </a:ext>
            </a:extLst>
          </p:cNvPr>
          <p:cNvSpPr>
            <a:spLocks noGrp="1"/>
          </p:cNvSpPr>
          <p:nvPr>
            <p:ph idx="1"/>
          </p:nvPr>
        </p:nvSpPr>
        <p:spPr>
          <a:xfrm>
            <a:off x="311700" y="183600"/>
            <a:ext cx="8520600" cy="4865920"/>
          </a:xfrm>
        </p:spPr>
        <p:txBody>
          <a:bodyPr/>
          <a:lstStyle/>
          <a:p>
            <a:r>
              <a:rPr lang="en-US" dirty="0"/>
              <a:t>The truth table of p ∨ ∼p</a:t>
            </a:r>
          </a:p>
          <a:p>
            <a:endParaRPr lang="en-US" dirty="0"/>
          </a:p>
          <a:p>
            <a:endParaRPr lang="en-US" dirty="0"/>
          </a:p>
          <a:p>
            <a:endParaRPr lang="en-US" dirty="0"/>
          </a:p>
          <a:p>
            <a:endParaRPr lang="en-US" dirty="0"/>
          </a:p>
          <a:p>
            <a:r>
              <a:rPr lang="en-US" dirty="0"/>
              <a:t>The truth table of [(p ⇒ q) ∧ p] ⇒ q</a:t>
            </a:r>
          </a:p>
        </p:txBody>
      </p:sp>
      <p:graphicFrame>
        <p:nvGraphicFramePr>
          <p:cNvPr id="4" name="Table 3">
            <a:extLst>
              <a:ext uri="{FF2B5EF4-FFF2-40B4-BE49-F238E27FC236}">
                <a16:creationId xmlns:a16="http://schemas.microsoft.com/office/drawing/2014/main" id="{F94E2391-0209-A51C-D8C3-3008C2AB73F3}"/>
              </a:ext>
            </a:extLst>
          </p:cNvPr>
          <p:cNvGraphicFramePr>
            <a:graphicFrameLocks noGrp="1"/>
          </p:cNvGraphicFramePr>
          <p:nvPr>
            <p:extLst>
              <p:ext uri="{D42A27DB-BD31-4B8C-83A1-F6EECF244321}">
                <p14:modId xmlns:p14="http://schemas.microsoft.com/office/powerpoint/2010/main" val="2351443309"/>
              </p:ext>
            </p:extLst>
          </p:nvPr>
        </p:nvGraphicFramePr>
        <p:xfrm>
          <a:off x="3035766" y="945413"/>
          <a:ext cx="3032268" cy="1112520"/>
        </p:xfrm>
        <a:graphic>
          <a:graphicData uri="http://schemas.openxmlformats.org/drawingml/2006/table">
            <a:tbl>
              <a:tblPr firstRow="1" bandRow="1">
                <a:tableStyleId>{5940675A-B579-460E-94D1-54222C63F5DA}</a:tableStyleId>
              </a:tblPr>
              <a:tblGrid>
                <a:gridCol w="1010756">
                  <a:extLst>
                    <a:ext uri="{9D8B030D-6E8A-4147-A177-3AD203B41FA5}">
                      <a16:colId xmlns:a16="http://schemas.microsoft.com/office/drawing/2014/main" val="416237492"/>
                    </a:ext>
                  </a:extLst>
                </a:gridCol>
                <a:gridCol w="1010756">
                  <a:extLst>
                    <a:ext uri="{9D8B030D-6E8A-4147-A177-3AD203B41FA5}">
                      <a16:colId xmlns:a16="http://schemas.microsoft.com/office/drawing/2014/main" val="2203988286"/>
                    </a:ext>
                  </a:extLst>
                </a:gridCol>
                <a:gridCol w="1010756">
                  <a:extLst>
                    <a:ext uri="{9D8B030D-6E8A-4147-A177-3AD203B41FA5}">
                      <a16:colId xmlns:a16="http://schemas.microsoft.com/office/drawing/2014/main" val="1093524797"/>
                    </a:ext>
                  </a:extLst>
                </a:gridCol>
              </a:tblGrid>
              <a:tr h="370840">
                <a:tc>
                  <a:txBody>
                    <a:bodyPr/>
                    <a:lstStyle/>
                    <a:p>
                      <a:pPr algn="ctr"/>
                      <a:r>
                        <a:rPr lang="en-US" dirty="0"/>
                        <a:t>p</a:t>
                      </a:r>
                    </a:p>
                  </a:txBody>
                  <a:tcPr>
                    <a:solidFill>
                      <a:schemeClr val="tx1">
                        <a:lumMod val="50000"/>
                        <a:lumOff val="50000"/>
                      </a:schemeClr>
                    </a:solidFill>
                  </a:tcPr>
                </a:tc>
                <a:tc>
                  <a:txBody>
                    <a:bodyPr/>
                    <a:lstStyle/>
                    <a:p>
                      <a:pPr algn="ctr"/>
                      <a:r>
                        <a:rPr lang="en-US" dirty="0"/>
                        <a:t>∼p</a:t>
                      </a:r>
                    </a:p>
                  </a:txBody>
                  <a:tcPr>
                    <a:solidFill>
                      <a:schemeClr val="tx1">
                        <a:lumMod val="50000"/>
                        <a:lumOff val="50000"/>
                      </a:schemeClr>
                    </a:solidFill>
                  </a:tcPr>
                </a:tc>
                <a:tc>
                  <a:txBody>
                    <a:bodyPr/>
                    <a:lstStyle/>
                    <a:p>
                      <a:pPr algn="ctr"/>
                      <a:r>
                        <a:rPr lang="en-US" dirty="0"/>
                        <a:t>p ∨ ∼p</a:t>
                      </a:r>
                    </a:p>
                  </a:txBody>
                  <a:tcPr>
                    <a:solidFill>
                      <a:schemeClr val="tx1">
                        <a:lumMod val="50000"/>
                        <a:lumOff val="50000"/>
                      </a:schemeClr>
                    </a:solidFill>
                  </a:tcPr>
                </a:tc>
                <a:extLst>
                  <a:ext uri="{0D108BD9-81ED-4DB2-BD59-A6C34878D82A}">
                    <a16:rowId xmlns:a16="http://schemas.microsoft.com/office/drawing/2014/main" val="2673005881"/>
                  </a:ext>
                </a:extLst>
              </a:tr>
              <a:tr h="370840">
                <a:tc>
                  <a:txBody>
                    <a:bodyPr/>
                    <a:lstStyle/>
                    <a:p>
                      <a:pPr algn="ctr"/>
                      <a:r>
                        <a:rPr lang="en-US" dirty="0"/>
                        <a:t>T</a:t>
                      </a:r>
                    </a:p>
                  </a:txBody>
                  <a:tcPr/>
                </a:tc>
                <a:tc>
                  <a:txBody>
                    <a:bodyPr/>
                    <a:lstStyle/>
                    <a:p>
                      <a:pPr algn="ctr"/>
                      <a:r>
                        <a:rPr lang="en-US" dirty="0"/>
                        <a:t>F</a:t>
                      </a:r>
                    </a:p>
                  </a:txBody>
                  <a:tcPr/>
                </a:tc>
                <a:tc>
                  <a:txBody>
                    <a:bodyPr/>
                    <a:lstStyle/>
                    <a:p>
                      <a:pPr algn="ctr"/>
                      <a:r>
                        <a:rPr lang="en-US" dirty="0"/>
                        <a:t>T</a:t>
                      </a:r>
                    </a:p>
                  </a:txBody>
                  <a:tcPr>
                    <a:solidFill>
                      <a:srgbClr val="FFFF00"/>
                    </a:solidFill>
                  </a:tcPr>
                </a:tc>
                <a:extLst>
                  <a:ext uri="{0D108BD9-81ED-4DB2-BD59-A6C34878D82A}">
                    <a16:rowId xmlns:a16="http://schemas.microsoft.com/office/drawing/2014/main" val="1214530117"/>
                  </a:ext>
                </a:extLst>
              </a:tr>
              <a:tr h="370840">
                <a:tc>
                  <a:txBody>
                    <a:bodyPr/>
                    <a:lstStyle/>
                    <a:p>
                      <a:pPr algn="ctr"/>
                      <a:r>
                        <a:rPr lang="en-US" dirty="0"/>
                        <a:t>F</a:t>
                      </a:r>
                    </a:p>
                  </a:txBody>
                  <a:tcPr/>
                </a:tc>
                <a:tc>
                  <a:txBody>
                    <a:bodyPr/>
                    <a:lstStyle/>
                    <a:p>
                      <a:pPr algn="ctr"/>
                      <a:r>
                        <a:rPr lang="en-US" dirty="0"/>
                        <a:t>T</a:t>
                      </a:r>
                    </a:p>
                  </a:txBody>
                  <a:tcPr/>
                </a:tc>
                <a:tc>
                  <a:txBody>
                    <a:bodyPr/>
                    <a:lstStyle/>
                    <a:p>
                      <a:pPr algn="ctr"/>
                      <a:r>
                        <a:rPr lang="en-US" dirty="0"/>
                        <a:t>T</a:t>
                      </a:r>
                    </a:p>
                  </a:txBody>
                  <a:tcPr>
                    <a:solidFill>
                      <a:srgbClr val="FFFF00"/>
                    </a:solidFill>
                  </a:tcPr>
                </a:tc>
                <a:extLst>
                  <a:ext uri="{0D108BD9-81ED-4DB2-BD59-A6C34878D82A}">
                    <a16:rowId xmlns:a16="http://schemas.microsoft.com/office/drawing/2014/main" val="3629401467"/>
                  </a:ext>
                </a:extLst>
              </a:tr>
            </a:tbl>
          </a:graphicData>
        </a:graphic>
      </p:graphicFrame>
      <p:graphicFrame>
        <p:nvGraphicFramePr>
          <p:cNvPr id="5" name="Table 4">
            <a:extLst>
              <a:ext uri="{FF2B5EF4-FFF2-40B4-BE49-F238E27FC236}">
                <a16:creationId xmlns:a16="http://schemas.microsoft.com/office/drawing/2014/main" id="{3BFDAD6D-AB3F-CD05-8FDA-BA8A4EF94418}"/>
              </a:ext>
            </a:extLst>
          </p:cNvPr>
          <p:cNvGraphicFramePr>
            <a:graphicFrameLocks noGrp="1"/>
          </p:cNvGraphicFramePr>
          <p:nvPr>
            <p:extLst>
              <p:ext uri="{D42A27DB-BD31-4B8C-83A1-F6EECF244321}">
                <p14:modId xmlns:p14="http://schemas.microsoft.com/office/powerpoint/2010/main" val="3025030804"/>
              </p:ext>
            </p:extLst>
          </p:nvPr>
        </p:nvGraphicFramePr>
        <p:xfrm>
          <a:off x="1358818" y="2946686"/>
          <a:ext cx="6096000" cy="1854200"/>
        </p:xfrm>
        <a:graphic>
          <a:graphicData uri="http://schemas.openxmlformats.org/drawingml/2006/table">
            <a:tbl>
              <a:tblPr firstRow="1" bandRow="1">
                <a:tableStyleId>{5940675A-B579-460E-94D1-54222C63F5DA}</a:tableStyleId>
              </a:tblPr>
              <a:tblGrid>
                <a:gridCol w="582070">
                  <a:extLst>
                    <a:ext uri="{9D8B030D-6E8A-4147-A177-3AD203B41FA5}">
                      <a16:colId xmlns:a16="http://schemas.microsoft.com/office/drawing/2014/main" val="1474651462"/>
                    </a:ext>
                  </a:extLst>
                </a:gridCol>
                <a:gridCol w="643029">
                  <a:extLst>
                    <a:ext uri="{9D8B030D-6E8A-4147-A177-3AD203B41FA5}">
                      <a16:colId xmlns:a16="http://schemas.microsoft.com/office/drawing/2014/main" val="1021313541"/>
                    </a:ext>
                  </a:extLst>
                </a:gridCol>
                <a:gridCol w="914400">
                  <a:extLst>
                    <a:ext uri="{9D8B030D-6E8A-4147-A177-3AD203B41FA5}">
                      <a16:colId xmlns:a16="http://schemas.microsoft.com/office/drawing/2014/main" val="1460236809"/>
                    </a:ext>
                  </a:extLst>
                </a:gridCol>
                <a:gridCol w="1433544">
                  <a:extLst>
                    <a:ext uri="{9D8B030D-6E8A-4147-A177-3AD203B41FA5}">
                      <a16:colId xmlns:a16="http://schemas.microsoft.com/office/drawing/2014/main" val="3813392949"/>
                    </a:ext>
                  </a:extLst>
                </a:gridCol>
                <a:gridCol w="2522957">
                  <a:extLst>
                    <a:ext uri="{9D8B030D-6E8A-4147-A177-3AD203B41FA5}">
                      <a16:colId xmlns:a16="http://schemas.microsoft.com/office/drawing/2014/main" val="607083907"/>
                    </a:ext>
                  </a:extLst>
                </a:gridCol>
              </a:tblGrid>
              <a:tr h="370840">
                <a:tc>
                  <a:txBody>
                    <a:bodyPr/>
                    <a:lstStyle/>
                    <a:p>
                      <a:pPr algn="ctr"/>
                      <a:r>
                        <a:rPr lang="en-US" dirty="0"/>
                        <a:t>p</a:t>
                      </a:r>
                    </a:p>
                  </a:txBody>
                  <a:tcPr>
                    <a:solidFill>
                      <a:schemeClr val="tx1">
                        <a:lumMod val="50000"/>
                        <a:lumOff val="50000"/>
                      </a:schemeClr>
                    </a:solidFill>
                  </a:tcPr>
                </a:tc>
                <a:tc>
                  <a:txBody>
                    <a:bodyPr/>
                    <a:lstStyle/>
                    <a:p>
                      <a:pPr algn="ctr"/>
                      <a:r>
                        <a:rPr lang="en-US" dirty="0"/>
                        <a:t>q</a:t>
                      </a:r>
                    </a:p>
                  </a:txBody>
                  <a:tcPr>
                    <a:solidFill>
                      <a:schemeClr val="tx1">
                        <a:lumMod val="50000"/>
                        <a:lumOff val="50000"/>
                      </a:schemeClr>
                    </a:solidFill>
                  </a:tcPr>
                </a:tc>
                <a:tc>
                  <a:txBody>
                    <a:bodyPr/>
                    <a:lstStyle/>
                    <a:p>
                      <a:pPr algn="ctr"/>
                      <a:r>
                        <a:rPr lang="en-US" dirty="0"/>
                        <a:t>p ⇒ q</a:t>
                      </a:r>
                    </a:p>
                  </a:txBody>
                  <a:tcPr>
                    <a:solidFill>
                      <a:schemeClr val="tx1">
                        <a:lumMod val="50000"/>
                        <a:lumOff val="50000"/>
                      </a:schemeClr>
                    </a:solidFill>
                  </a:tcPr>
                </a:tc>
                <a:tc>
                  <a:txBody>
                    <a:bodyPr/>
                    <a:lstStyle/>
                    <a:p>
                      <a:pPr algn="ctr"/>
                      <a:r>
                        <a:rPr lang="en-US" dirty="0"/>
                        <a:t>(p ⇒ q) ∧ p</a:t>
                      </a:r>
                    </a:p>
                  </a:txBody>
                  <a:tcPr>
                    <a:solidFill>
                      <a:schemeClr val="tx1">
                        <a:lumMod val="50000"/>
                        <a:lumOff val="50000"/>
                      </a:schemeClr>
                    </a:solidFill>
                  </a:tcPr>
                </a:tc>
                <a:tc>
                  <a:txBody>
                    <a:bodyPr/>
                    <a:lstStyle/>
                    <a:p>
                      <a:pPr algn="ctr"/>
                      <a:r>
                        <a:rPr lang="en-US" dirty="0"/>
                        <a:t>[(p ⇒ q) ∧ p] ⇒ q</a:t>
                      </a:r>
                    </a:p>
                  </a:txBody>
                  <a:tcPr>
                    <a:solidFill>
                      <a:schemeClr val="tx1">
                        <a:lumMod val="50000"/>
                        <a:lumOff val="50000"/>
                      </a:schemeClr>
                    </a:solidFill>
                  </a:tcPr>
                </a:tc>
                <a:extLst>
                  <a:ext uri="{0D108BD9-81ED-4DB2-BD59-A6C34878D82A}">
                    <a16:rowId xmlns:a16="http://schemas.microsoft.com/office/drawing/2014/main" val="3435009964"/>
                  </a:ext>
                </a:extLst>
              </a:tr>
              <a:tr h="370840">
                <a:tc>
                  <a:txBody>
                    <a:bodyPr/>
                    <a:lstStyle/>
                    <a:p>
                      <a:pPr algn="ctr"/>
                      <a:r>
                        <a:rPr lang="en-US" dirty="0"/>
                        <a:t>T</a:t>
                      </a:r>
                    </a:p>
                  </a:txBody>
                  <a:tcPr/>
                </a:tc>
                <a:tc>
                  <a:txBody>
                    <a:bodyPr/>
                    <a:lstStyle/>
                    <a:p>
                      <a:pPr algn="ctr"/>
                      <a:r>
                        <a:rPr lang="en-US" dirty="0"/>
                        <a:t>T</a:t>
                      </a:r>
                    </a:p>
                  </a:txBody>
                  <a:tcPr/>
                </a:tc>
                <a:tc>
                  <a:txBody>
                    <a:bodyPr/>
                    <a:lstStyle/>
                    <a:p>
                      <a:pPr algn="ctr"/>
                      <a:r>
                        <a:rPr lang="en-US" dirty="0"/>
                        <a:t>T</a:t>
                      </a:r>
                    </a:p>
                  </a:txBody>
                  <a:tcPr/>
                </a:tc>
                <a:tc>
                  <a:txBody>
                    <a:bodyPr/>
                    <a:lstStyle/>
                    <a:p>
                      <a:pPr algn="ctr"/>
                      <a:r>
                        <a:rPr lang="en-US" dirty="0"/>
                        <a:t>T</a:t>
                      </a:r>
                    </a:p>
                  </a:txBody>
                  <a:tcPr/>
                </a:tc>
                <a:tc>
                  <a:txBody>
                    <a:bodyPr/>
                    <a:lstStyle/>
                    <a:p>
                      <a:pPr algn="ctr"/>
                      <a:r>
                        <a:rPr lang="en-US" dirty="0"/>
                        <a:t>T</a:t>
                      </a:r>
                    </a:p>
                  </a:txBody>
                  <a:tcPr>
                    <a:solidFill>
                      <a:srgbClr val="FFFF00"/>
                    </a:solidFill>
                  </a:tcPr>
                </a:tc>
                <a:extLst>
                  <a:ext uri="{0D108BD9-81ED-4DB2-BD59-A6C34878D82A}">
                    <a16:rowId xmlns:a16="http://schemas.microsoft.com/office/drawing/2014/main" val="2016408642"/>
                  </a:ext>
                </a:extLst>
              </a:tr>
              <a:tr h="370840">
                <a:tc>
                  <a:txBody>
                    <a:bodyPr/>
                    <a:lstStyle/>
                    <a:p>
                      <a:pPr algn="ctr"/>
                      <a:r>
                        <a:rPr lang="en-US" dirty="0"/>
                        <a:t>T</a:t>
                      </a:r>
                    </a:p>
                  </a:txBody>
                  <a:tcPr/>
                </a:tc>
                <a:tc>
                  <a:txBody>
                    <a:bodyPr/>
                    <a:lstStyle/>
                    <a:p>
                      <a:pPr algn="ctr"/>
                      <a:r>
                        <a:rPr lang="en-US" dirty="0"/>
                        <a:t>F</a:t>
                      </a:r>
                    </a:p>
                  </a:txBody>
                  <a:tcPr/>
                </a:tc>
                <a:tc>
                  <a:txBody>
                    <a:bodyPr/>
                    <a:lstStyle/>
                    <a:p>
                      <a:pPr algn="ctr"/>
                      <a:r>
                        <a:rPr lang="en-US" dirty="0"/>
                        <a:t>F</a:t>
                      </a:r>
                    </a:p>
                  </a:txBody>
                  <a:tcPr/>
                </a:tc>
                <a:tc>
                  <a:txBody>
                    <a:bodyPr/>
                    <a:lstStyle/>
                    <a:p>
                      <a:pPr algn="ctr"/>
                      <a:r>
                        <a:rPr lang="en-US" dirty="0"/>
                        <a:t>F</a:t>
                      </a:r>
                    </a:p>
                  </a:txBody>
                  <a:tcPr/>
                </a:tc>
                <a:tc>
                  <a:txBody>
                    <a:bodyPr/>
                    <a:lstStyle/>
                    <a:p>
                      <a:pPr algn="ctr"/>
                      <a:r>
                        <a:rPr lang="en-US" dirty="0"/>
                        <a:t>T</a:t>
                      </a:r>
                    </a:p>
                  </a:txBody>
                  <a:tcPr>
                    <a:solidFill>
                      <a:srgbClr val="FFFF00"/>
                    </a:solidFill>
                  </a:tcPr>
                </a:tc>
                <a:extLst>
                  <a:ext uri="{0D108BD9-81ED-4DB2-BD59-A6C34878D82A}">
                    <a16:rowId xmlns:a16="http://schemas.microsoft.com/office/drawing/2014/main" val="4114951259"/>
                  </a:ext>
                </a:extLst>
              </a:tr>
              <a:tr h="370840">
                <a:tc>
                  <a:txBody>
                    <a:bodyPr/>
                    <a:lstStyle/>
                    <a:p>
                      <a:pPr algn="ctr"/>
                      <a:r>
                        <a:rPr lang="en-US" dirty="0"/>
                        <a:t>F</a:t>
                      </a:r>
                    </a:p>
                  </a:txBody>
                  <a:tcPr/>
                </a:tc>
                <a:tc>
                  <a:txBody>
                    <a:bodyPr/>
                    <a:lstStyle/>
                    <a:p>
                      <a:pPr algn="ctr"/>
                      <a:r>
                        <a:rPr lang="en-US" dirty="0"/>
                        <a:t>T</a:t>
                      </a:r>
                    </a:p>
                  </a:txBody>
                  <a:tcPr/>
                </a:tc>
                <a:tc>
                  <a:txBody>
                    <a:bodyPr/>
                    <a:lstStyle/>
                    <a:p>
                      <a:pPr algn="ctr"/>
                      <a:r>
                        <a:rPr lang="en-US" dirty="0"/>
                        <a:t>T</a:t>
                      </a:r>
                    </a:p>
                  </a:txBody>
                  <a:tcPr/>
                </a:tc>
                <a:tc>
                  <a:txBody>
                    <a:bodyPr/>
                    <a:lstStyle/>
                    <a:p>
                      <a:pPr algn="ctr"/>
                      <a:r>
                        <a:rPr lang="en-US" dirty="0"/>
                        <a:t>F</a:t>
                      </a:r>
                    </a:p>
                  </a:txBody>
                  <a:tcPr/>
                </a:tc>
                <a:tc>
                  <a:txBody>
                    <a:bodyPr/>
                    <a:lstStyle/>
                    <a:p>
                      <a:pPr algn="ctr"/>
                      <a:r>
                        <a:rPr lang="en-US" dirty="0"/>
                        <a:t>T</a:t>
                      </a:r>
                    </a:p>
                  </a:txBody>
                  <a:tcPr>
                    <a:solidFill>
                      <a:srgbClr val="FFFF00"/>
                    </a:solidFill>
                  </a:tcPr>
                </a:tc>
                <a:extLst>
                  <a:ext uri="{0D108BD9-81ED-4DB2-BD59-A6C34878D82A}">
                    <a16:rowId xmlns:a16="http://schemas.microsoft.com/office/drawing/2014/main" val="2026212859"/>
                  </a:ext>
                </a:extLst>
              </a:tr>
              <a:tr h="370840">
                <a:tc>
                  <a:txBody>
                    <a:bodyPr/>
                    <a:lstStyle/>
                    <a:p>
                      <a:pPr algn="ctr"/>
                      <a:r>
                        <a:rPr lang="en-US" dirty="0"/>
                        <a:t>F</a:t>
                      </a:r>
                    </a:p>
                  </a:txBody>
                  <a:tcPr/>
                </a:tc>
                <a:tc>
                  <a:txBody>
                    <a:bodyPr/>
                    <a:lstStyle/>
                    <a:p>
                      <a:pPr algn="ctr"/>
                      <a:r>
                        <a:rPr lang="en-US" dirty="0"/>
                        <a:t>F</a:t>
                      </a:r>
                    </a:p>
                  </a:txBody>
                  <a:tcPr/>
                </a:tc>
                <a:tc>
                  <a:txBody>
                    <a:bodyPr/>
                    <a:lstStyle/>
                    <a:p>
                      <a:pPr algn="ctr"/>
                      <a:r>
                        <a:rPr lang="en-US" dirty="0"/>
                        <a:t>T</a:t>
                      </a:r>
                    </a:p>
                  </a:txBody>
                  <a:tcPr/>
                </a:tc>
                <a:tc>
                  <a:txBody>
                    <a:bodyPr/>
                    <a:lstStyle/>
                    <a:p>
                      <a:pPr algn="ctr"/>
                      <a:r>
                        <a:rPr lang="en-US" dirty="0"/>
                        <a:t>F</a:t>
                      </a:r>
                    </a:p>
                  </a:txBody>
                  <a:tcPr/>
                </a:tc>
                <a:tc>
                  <a:txBody>
                    <a:bodyPr/>
                    <a:lstStyle/>
                    <a:p>
                      <a:pPr algn="ctr"/>
                      <a:r>
                        <a:rPr lang="en-US" dirty="0"/>
                        <a:t>T</a:t>
                      </a:r>
                    </a:p>
                  </a:txBody>
                  <a:tcPr>
                    <a:solidFill>
                      <a:srgbClr val="FFFF00"/>
                    </a:solidFill>
                  </a:tcPr>
                </a:tc>
                <a:extLst>
                  <a:ext uri="{0D108BD9-81ED-4DB2-BD59-A6C34878D82A}">
                    <a16:rowId xmlns:a16="http://schemas.microsoft.com/office/drawing/2014/main" val="29671626"/>
                  </a:ext>
                </a:extLst>
              </a:tr>
            </a:tbl>
          </a:graphicData>
        </a:graphic>
      </p:graphicFrame>
    </p:spTree>
    <p:extLst>
      <p:ext uri="{BB962C8B-B14F-4D97-AF65-F5344CB8AC3E}">
        <p14:creationId xmlns:p14="http://schemas.microsoft.com/office/powerpoint/2010/main" val="130629473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931D77-A807-79D8-CD96-BF5F9560F6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EB6D17-25D3-BFE9-3CC1-D7AA01C6DA10}"/>
              </a:ext>
            </a:extLst>
          </p:cNvPr>
          <p:cNvSpPr>
            <a:spLocks noGrp="1"/>
          </p:cNvSpPr>
          <p:nvPr>
            <p:ph type="title"/>
          </p:nvPr>
        </p:nvSpPr>
        <p:spPr/>
        <p:txBody>
          <a:bodyPr/>
          <a:lstStyle/>
          <a:p>
            <a:r>
              <a:rPr lang="en-US" dirty="0"/>
              <a:t>Contradiction</a:t>
            </a:r>
          </a:p>
        </p:txBody>
      </p:sp>
      <p:sp>
        <p:nvSpPr>
          <p:cNvPr id="3" name="Content Placeholder 2">
            <a:extLst>
              <a:ext uri="{FF2B5EF4-FFF2-40B4-BE49-F238E27FC236}">
                <a16:creationId xmlns:a16="http://schemas.microsoft.com/office/drawing/2014/main" id="{92D3F150-374B-8DC7-33BE-8E0506B1F98C}"/>
              </a:ext>
            </a:extLst>
          </p:cNvPr>
          <p:cNvSpPr>
            <a:spLocks noGrp="1"/>
          </p:cNvSpPr>
          <p:nvPr>
            <p:ph idx="1"/>
          </p:nvPr>
        </p:nvSpPr>
        <p:spPr>
          <a:xfrm>
            <a:off x="291600" y="662400"/>
            <a:ext cx="8520600" cy="4297500"/>
          </a:xfrm>
        </p:spPr>
        <p:txBody>
          <a:bodyPr/>
          <a:lstStyle/>
          <a:p>
            <a:r>
              <a:rPr lang="en-US" dirty="0"/>
              <a:t>A contradiction is a compound proposition that is False for every possible assignment of truth values to its component propositions.</a:t>
            </a:r>
          </a:p>
          <a:p>
            <a:r>
              <a:rPr lang="en-US" dirty="0"/>
              <a:t>A proposition is considered a contradiction if there is no possible assignment or valuation where the statement becomes True.</a:t>
            </a:r>
          </a:p>
          <a:p>
            <a:r>
              <a:rPr lang="en-US" dirty="0"/>
              <a:t>For examples the propositions p ∧ ∼p and q ⇔ ∼q are contradictions as they are always false for any assignment of truth values to their variables.</a:t>
            </a:r>
          </a:p>
        </p:txBody>
      </p:sp>
    </p:spTree>
    <p:extLst>
      <p:ext uri="{BB962C8B-B14F-4D97-AF65-F5344CB8AC3E}">
        <p14:creationId xmlns:p14="http://schemas.microsoft.com/office/powerpoint/2010/main" val="183906606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070413-34DD-5C12-D498-4D33872B8C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1D0C5A-6A7D-2373-00A3-D5F5570B4266}"/>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3B298F14-D1E7-5933-F60B-95A0F2B123AF}"/>
              </a:ext>
            </a:extLst>
          </p:cNvPr>
          <p:cNvSpPr>
            <a:spLocks noGrp="1"/>
          </p:cNvSpPr>
          <p:nvPr>
            <p:ph idx="1"/>
          </p:nvPr>
        </p:nvSpPr>
        <p:spPr>
          <a:xfrm>
            <a:off x="191311" y="183600"/>
            <a:ext cx="8520600" cy="4776300"/>
          </a:xfrm>
        </p:spPr>
        <p:txBody>
          <a:bodyPr/>
          <a:lstStyle/>
          <a:p>
            <a:r>
              <a:rPr lang="en-US" dirty="0"/>
              <a:t>The truth table of p ∨ ∼p</a:t>
            </a:r>
          </a:p>
          <a:p>
            <a:endParaRPr lang="en-US" dirty="0"/>
          </a:p>
          <a:p>
            <a:endParaRPr lang="en-US" dirty="0"/>
          </a:p>
          <a:p>
            <a:endParaRPr lang="en-US" dirty="0"/>
          </a:p>
          <a:p>
            <a:pPr marL="114300" indent="0">
              <a:buNone/>
            </a:pPr>
            <a:endParaRPr lang="en-US" dirty="0"/>
          </a:p>
          <a:p>
            <a:r>
              <a:rPr lang="en-US" dirty="0"/>
              <a:t>The truth table of (p ⇒ q) ∧ (p ∧ q)</a:t>
            </a:r>
          </a:p>
        </p:txBody>
      </p:sp>
      <p:graphicFrame>
        <p:nvGraphicFramePr>
          <p:cNvPr id="4" name="Table 3">
            <a:extLst>
              <a:ext uri="{FF2B5EF4-FFF2-40B4-BE49-F238E27FC236}">
                <a16:creationId xmlns:a16="http://schemas.microsoft.com/office/drawing/2014/main" id="{A2DEE696-CCC1-2156-24C4-89262F2289A3}"/>
              </a:ext>
            </a:extLst>
          </p:cNvPr>
          <p:cNvGraphicFramePr>
            <a:graphicFrameLocks noGrp="1"/>
          </p:cNvGraphicFramePr>
          <p:nvPr>
            <p:extLst>
              <p:ext uri="{D42A27DB-BD31-4B8C-83A1-F6EECF244321}">
                <p14:modId xmlns:p14="http://schemas.microsoft.com/office/powerpoint/2010/main" val="849229920"/>
              </p:ext>
            </p:extLst>
          </p:nvPr>
        </p:nvGraphicFramePr>
        <p:xfrm>
          <a:off x="2871469" y="947564"/>
          <a:ext cx="3035301" cy="1112520"/>
        </p:xfrm>
        <a:graphic>
          <a:graphicData uri="http://schemas.openxmlformats.org/drawingml/2006/table">
            <a:tbl>
              <a:tblPr firstRow="1" bandRow="1"/>
              <a:tblGrid>
                <a:gridCol w="1011767">
                  <a:extLst>
                    <a:ext uri="{9D8B030D-6E8A-4147-A177-3AD203B41FA5}">
                      <a16:colId xmlns:a16="http://schemas.microsoft.com/office/drawing/2014/main" val="582750942"/>
                    </a:ext>
                  </a:extLst>
                </a:gridCol>
                <a:gridCol w="1011767">
                  <a:extLst>
                    <a:ext uri="{9D8B030D-6E8A-4147-A177-3AD203B41FA5}">
                      <a16:colId xmlns:a16="http://schemas.microsoft.com/office/drawing/2014/main" val="558784464"/>
                    </a:ext>
                  </a:extLst>
                </a:gridCol>
                <a:gridCol w="1011767">
                  <a:extLst>
                    <a:ext uri="{9D8B030D-6E8A-4147-A177-3AD203B41FA5}">
                      <a16:colId xmlns:a16="http://schemas.microsoft.com/office/drawing/2014/main" val="1315475892"/>
                    </a:ext>
                  </a:extLst>
                </a:gridCol>
              </a:tblGrid>
              <a:tr h="370840">
                <a:tc>
                  <a:txBody>
                    <a:bodyPr/>
                    <a:lstStyle/>
                    <a:p>
                      <a:pPr marR="0" algn="ctr" rtl="0" fontAlgn="t">
                        <a:buNone/>
                      </a:pPr>
                      <a:r>
                        <a:rPr lang="en-US" sz="1400" b="0" i="0" u="none" strike="noStrike">
                          <a:solidFill>
                            <a:srgbClr val="000000"/>
                          </a:solidFill>
                          <a:effectLst/>
                          <a:latin typeface="Arial" panose="020B0604020202020204" pitchFamily="34" charset="0"/>
                        </a:rPr>
                        <a:t>p</a:t>
                      </a:r>
                      <a:endParaRPr lang="en-US" sz="1800" b="0" i="0" u="none" strike="noStrike">
                        <a:effectLst/>
                        <a:latin typeface="Arial" panose="020B060402020202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F7F7F"/>
                    </a:solidFill>
                  </a:tcPr>
                </a:tc>
                <a:tc>
                  <a:txBody>
                    <a:bodyPr/>
                    <a:lstStyle/>
                    <a:p>
                      <a:pPr marR="0" algn="ctr" rtl="0" fontAlgn="t">
                        <a:buNone/>
                      </a:pPr>
                      <a:r>
                        <a:rPr lang="en-US" sz="1400" b="0" i="0" u="none" strike="noStrike">
                          <a:solidFill>
                            <a:srgbClr val="000000"/>
                          </a:solidFill>
                          <a:effectLst/>
                          <a:latin typeface="Arial" panose="020B0604020202020204" pitchFamily="34" charset="0"/>
                        </a:rPr>
                        <a:t>∼p</a:t>
                      </a:r>
                      <a:endParaRPr lang="en-US" sz="1800" b="0" i="0" u="none" strike="noStrike">
                        <a:effectLst/>
                        <a:latin typeface="Arial" panose="020B060402020202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F7F7F"/>
                    </a:solidFill>
                  </a:tcPr>
                </a:tc>
                <a:tc>
                  <a:txBody>
                    <a:bodyPr/>
                    <a:lstStyle/>
                    <a:p>
                      <a:pPr marR="0" algn="ctr" rtl="0" fontAlgn="t">
                        <a:buNone/>
                      </a:pPr>
                      <a:r>
                        <a:rPr lang="en-US" sz="1400" b="0" i="0" u="none" strike="noStrike" dirty="0">
                          <a:solidFill>
                            <a:srgbClr val="000000"/>
                          </a:solidFill>
                          <a:effectLst/>
                          <a:latin typeface="Arial" panose="020B0604020202020204" pitchFamily="34" charset="0"/>
                        </a:rPr>
                        <a:t>p ∧ ∼p</a:t>
                      </a:r>
                      <a:endParaRPr lang="en-US" sz="1800" b="0" i="0" u="none" strike="noStrike" dirty="0">
                        <a:effectLst/>
                        <a:latin typeface="Arial" panose="020B060402020202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F7F7F"/>
                    </a:solidFill>
                  </a:tcPr>
                </a:tc>
                <a:extLst>
                  <a:ext uri="{0D108BD9-81ED-4DB2-BD59-A6C34878D82A}">
                    <a16:rowId xmlns:a16="http://schemas.microsoft.com/office/drawing/2014/main" val="673755781"/>
                  </a:ext>
                </a:extLst>
              </a:tr>
              <a:tr h="370840">
                <a:tc>
                  <a:txBody>
                    <a:bodyPr/>
                    <a:lstStyle/>
                    <a:p>
                      <a:pPr marR="0" algn="ctr" rtl="0" fontAlgn="t">
                        <a:buNone/>
                      </a:pPr>
                      <a:r>
                        <a:rPr lang="en-US" sz="1400" b="0" i="0" u="none" strike="noStrike">
                          <a:solidFill>
                            <a:srgbClr val="000000"/>
                          </a:solidFill>
                          <a:effectLst/>
                          <a:latin typeface="Arial" panose="020B0604020202020204" pitchFamily="34" charset="0"/>
                        </a:rPr>
                        <a:t>T</a:t>
                      </a:r>
                      <a:endParaRPr lang="en-US" sz="1800" b="0" i="0" u="none" strike="noStrike">
                        <a:effectLst/>
                        <a:latin typeface="Arial" panose="020B060402020202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0" algn="ctr" rtl="0" fontAlgn="t">
                        <a:buNone/>
                      </a:pPr>
                      <a:r>
                        <a:rPr lang="en-US" sz="1400" b="0" i="0" u="none" strike="noStrike">
                          <a:solidFill>
                            <a:srgbClr val="000000"/>
                          </a:solidFill>
                          <a:effectLst/>
                          <a:latin typeface="Arial" panose="020B0604020202020204" pitchFamily="34" charset="0"/>
                        </a:rPr>
                        <a:t>F</a:t>
                      </a:r>
                      <a:endParaRPr lang="en-US" sz="1800" b="0" i="0" u="none" strike="noStrike">
                        <a:effectLst/>
                        <a:latin typeface="Arial" panose="020B060402020202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0" algn="ctr" rtl="0" fontAlgn="t">
                        <a:buNone/>
                      </a:pPr>
                      <a:r>
                        <a:rPr lang="en-US" sz="1400" b="0" i="0" u="none" strike="noStrike" dirty="0">
                          <a:solidFill>
                            <a:srgbClr val="000000"/>
                          </a:solidFill>
                          <a:effectLst/>
                          <a:latin typeface="Arial" panose="020B0604020202020204" pitchFamily="34" charset="0"/>
                        </a:rPr>
                        <a:t>F</a:t>
                      </a:r>
                      <a:endParaRPr lang="en-US" sz="1800" b="0" i="0" u="none" strike="noStrike" dirty="0">
                        <a:effectLst/>
                        <a:latin typeface="Arial" panose="020B060402020202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992742673"/>
                  </a:ext>
                </a:extLst>
              </a:tr>
              <a:tr h="370840">
                <a:tc>
                  <a:txBody>
                    <a:bodyPr/>
                    <a:lstStyle/>
                    <a:p>
                      <a:pPr marR="0" algn="ctr" rtl="0" fontAlgn="t">
                        <a:buNone/>
                      </a:pPr>
                      <a:r>
                        <a:rPr lang="en-US" sz="1400" b="0" i="0" u="none" strike="noStrike">
                          <a:solidFill>
                            <a:srgbClr val="000000"/>
                          </a:solidFill>
                          <a:effectLst/>
                          <a:latin typeface="Arial" panose="020B0604020202020204" pitchFamily="34" charset="0"/>
                        </a:rPr>
                        <a:t>F</a:t>
                      </a:r>
                      <a:endParaRPr lang="en-US" sz="1800" b="0" i="0" u="none" strike="noStrike">
                        <a:effectLst/>
                        <a:latin typeface="Arial" panose="020B060402020202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0" algn="ctr" rtl="0" fontAlgn="t">
                        <a:buNone/>
                      </a:pPr>
                      <a:r>
                        <a:rPr lang="en-US" sz="1400" b="0" i="0" u="none" strike="noStrike">
                          <a:solidFill>
                            <a:srgbClr val="000000"/>
                          </a:solidFill>
                          <a:effectLst/>
                          <a:latin typeface="Arial" panose="020B0604020202020204" pitchFamily="34" charset="0"/>
                        </a:rPr>
                        <a:t>T</a:t>
                      </a:r>
                      <a:endParaRPr lang="en-US" sz="1800" b="0" i="0" u="none" strike="noStrike">
                        <a:effectLst/>
                        <a:latin typeface="Arial" panose="020B060402020202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0" algn="ctr" rtl="0" fontAlgn="t">
                        <a:buNone/>
                      </a:pPr>
                      <a:r>
                        <a:rPr lang="en-US" sz="1400" b="0" i="0" u="none" strike="noStrike" dirty="0">
                          <a:solidFill>
                            <a:srgbClr val="000000"/>
                          </a:solidFill>
                          <a:effectLst/>
                          <a:latin typeface="Arial" panose="020B0604020202020204" pitchFamily="34" charset="0"/>
                        </a:rPr>
                        <a:t>F</a:t>
                      </a:r>
                      <a:endParaRPr lang="en-US" sz="1800" b="0" i="0" u="none" strike="noStrike" dirty="0">
                        <a:effectLst/>
                        <a:latin typeface="Arial" panose="020B060402020202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2650849413"/>
                  </a:ext>
                </a:extLst>
              </a:tr>
            </a:tbl>
          </a:graphicData>
        </a:graphic>
      </p:graphicFrame>
      <p:graphicFrame>
        <p:nvGraphicFramePr>
          <p:cNvPr id="6" name="Table 5">
            <a:extLst>
              <a:ext uri="{FF2B5EF4-FFF2-40B4-BE49-F238E27FC236}">
                <a16:creationId xmlns:a16="http://schemas.microsoft.com/office/drawing/2014/main" id="{AD1F8B04-4098-EC2C-40B7-7B7E8FE60737}"/>
              </a:ext>
            </a:extLst>
          </p:cNvPr>
          <p:cNvGraphicFramePr>
            <a:graphicFrameLocks noGrp="1"/>
          </p:cNvGraphicFramePr>
          <p:nvPr>
            <p:extLst>
              <p:ext uri="{D42A27DB-BD31-4B8C-83A1-F6EECF244321}">
                <p14:modId xmlns:p14="http://schemas.microsoft.com/office/powerpoint/2010/main" val="3057919115"/>
              </p:ext>
            </p:extLst>
          </p:nvPr>
        </p:nvGraphicFramePr>
        <p:xfrm>
          <a:off x="2933960" y="3083416"/>
          <a:ext cx="3035301" cy="1112520"/>
        </p:xfrm>
        <a:graphic>
          <a:graphicData uri="http://schemas.openxmlformats.org/drawingml/2006/table">
            <a:tbl>
              <a:tblPr firstRow="1" bandRow="1"/>
              <a:tblGrid>
                <a:gridCol w="1011767">
                  <a:extLst>
                    <a:ext uri="{9D8B030D-6E8A-4147-A177-3AD203B41FA5}">
                      <a16:colId xmlns:a16="http://schemas.microsoft.com/office/drawing/2014/main" val="4258189811"/>
                    </a:ext>
                  </a:extLst>
                </a:gridCol>
                <a:gridCol w="1011767">
                  <a:extLst>
                    <a:ext uri="{9D8B030D-6E8A-4147-A177-3AD203B41FA5}">
                      <a16:colId xmlns:a16="http://schemas.microsoft.com/office/drawing/2014/main" val="783598210"/>
                    </a:ext>
                  </a:extLst>
                </a:gridCol>
                <a:gridCol w="1011767">
                  <a:extLst>
                    <a:ext uri="{9D8B030D-6E8A-4147-A177-3AD203B41FA5}">
                      <a16:colId xmlns:a16="http://schemas.microsoft.com/office/drawing/2014/main" val="3778091470"/>
                    </a:ext>
                  </a:extLst>
                </a:gridCol>
              </a:tblGrid>
              <a:tr h="370840">
                <a:tc>
                  <a:txBody>
                    <a:bodyPr/>
                    <a:lstStyle/>
                    <a:p>
                      <a:pPr marR="0" algn="ctr" rtl="0" fontAlgn="t">
                        <a:buNone/>
                      </a:pPr>
                      <a:r>
                        <a:rPr lang="en-US" sz="1400" b="0" i="0" u="none" strike="noStrike">
                          <a:solidFill>
                            <a:srgbClr val="000000"/>
                          </a:solidFill>
                          <a:effectLst/>
                          <a:latin typeface="Arial" panose="020B0604020202020204" pitchFamily="34" charset="0"/>
                        </a:rPr>
                        <a:t>p</a:t>
                      </a:r>
                      <a:endParaRPr lang="en-US" sz="1800" b="0" i="0" u="none" strike="noStrike">
                        <a:effectLst/>
                        <a:latin typeface="Arial" panose="020B060402020202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F7F7F"/>
                    </a:solidFill>
                  </a:tcPr>
                </a:tc>
                <a:tc>
                  <a:txBody>
                    <a:bodyPr/>
                    <a:lstStyle/>
                    <a:p>
                      <a:pPr marR="0" algn="ctr" rtl="0" fontAlgn="t">
                        <a:buNone/>
                      </a:pPr>
                      <a:r>
                        <a:rPr lang="en-US" sz="1400" b="0" i="0" u="none" strike="noStrike">
                          <a:solidFill>
                            <a:srgbClr val="000000"/>
                          </a:solidFill>
                          <a:effectLst/>
                          <a:latin typeface="Arial" panose="020B0604020202020204" pitchFamily="34" charset="0"/>
                        </a:rPr>
                        <a:t>∼p</a:t>
                      </a:r>
                      <a:endParaRPr lang="en-US" sz="1800" b="0" i="0" u="none" strike="noStrike">
                        <a:effectLst/>
                        <a:latin typeface="Arial" panose="020B060402020202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F7F7F"/>
                    </a:solidFill>
                  </a:tcPr>
                </a:tc>
                <a:tc>
                  <a:txBody>
                    <a:bodyPr/>
                    <a:lstStyle/>
                    <a:p>
                      <a:pPr marR="0" algn="ctr" rtl="0" fontAlgn="t">
                        <a:buNone/>
                      </a:pPr>
                      <a:r>
                        <a:rPr lang="en-US" sz="1400" b="0" i="0" u="none" strike="noStrike" dirty="0">
                          <a:solidFill>
                            <a:srgbClr val="000000"/>
                          </a:solidFill>
                          <a:effectLst/>
                          <a:latin typeface="Arial" panose="020B0604020202020204" pitchFamily="34" charset="0"/>
                        </a:rPr>
                        <a:t>p ⇔ ∼p</a:t>
                      </a:r>
                      <a:endParaRPr lang="en-US" sz="1800" b="0" i="0" u="none" strike="noStrike" dirty="0">
                        <a:effectLst/>
                        <a:latin typeface="Arial" panose="020B060402020202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F7F7F"/>
                    </a:solidFill>
                  </a:tcPr>
                </a:tc>
                <a:extLst>
                  <a:ext uri="{0D108BD9-81ED-4DB2-BD59-A6C34878D82A}">
                    <a16:rowId xmlns:a16="http://schemas.microsoft.com/office/drawing/2014/main" val="2720448886"/>
                  </a:ext>
                </a:extLst>
              </a:tr>
              <a:tr h="370840">
                <a:tc>
                  <a:txBody>
                    <a:bodyPr/>
                    <a:lstStyle/>
                    <a:p>
                      <a:pPr marR="0" algn="ctr" rtl="0" fontAlgn="t">
                        <a:buNone/>
                      </a:pPr>
                      <a:r>
                        <a:rPr lang="en-US" sz="1400" b="0" i="0" u="none" strike="noStrike" dirty="0">
                          <a:solidFill>
                            <a:srgbClr val="000000"/>
                          </a:solidFill>
                          <a:effectLst/>
                          <a:latin typeface="Arial" panose="020B0604020202020204" pitchFamily="34" charset="0"/>
                        </a:rPr>
                        <a:t>T</a:t>
                      </a:r>
                      <a:endParaRPr lang="en-US" sz="1800" b="0" i="0" u="none" strike="noStrike" dirty="0">
                        <a:effectLst/>
                        <a:latin typeface="Arial" panose="020B060402020202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0" algn="ctr" rtl="0" fontAlgn="t">
                        <a:buNone/>
                      </a:pPr>
                      <a:r>
                        <a:rPr lang="en-US" sz="1400" b="0" i="0" u="none" strike="noStrike" dirty="0">
                          <a:solidFill>
                            <a:srgbClr val="000000"/>
                          </a:solidFill>
                          <a:effectLst/>
                          <a:latin typeface="Arial" panose="020B0604020202020204" pitchFamily="34" charset="0"/>
                        </a:rPr>
                        <a:t>F</a:t>
                      </a:r>
                      <a:endParaRPr lang="en-US" sz="1800" b="0" i="0" u="none" strike="noStrike" dirty="0">
                        <a:effectLst/>
                        <a:latin typeface="Arial" panose="020B060402020202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0" algn="ctr" rtl="0" fontAlgn="t">
                        <a:buNone/>
                      </a:pPr>
                      <a:r>
                        <a:rPr lang="en-US" sz="1400" b="0" i="0" u="none" strike="noStrike" dirty="0">
                          <a:solidFill>
                            <a:srgbClr val="000000"/>
                          </a:solidFill>
                          <a:effectLst/>
                          <a:latin typeface="Arial" panose="020B0604020202020204" pitchFamily="34" charset="0"/>
                        </a:rPr>
                        <a:t>F</a:t>
                      </a:r>
                      <a:endParaRPr lang="en-US" sz="1800" b="0" i="0" u="none" strike="noStrike" dirty="0">
                        <a:effectLst/>
                        <a:latin typeface="Arial" panose="020B060402020202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388835389"/>
                  </a:ext>
                </a:extLst>
              </a:tr>
              <a:tr h="370840">
                <a:tc>
                  <a:txBody>
                    <a:bodyPr/>
                    <a:lstStyle/>
                    <a:p>
                      <a:pPr marR="0" algn="ctr" rtl="0" fontAlgn="t">
                        <a:buNone/>
                      </a:pPr>
                      <a:r>
                        <a:rPr lang="en-US" sz="1400" b="0" i="0" u="none" strike="noStrike">
                          <a:solidFill>
                            <a:srgbClr val="000000"/>
                          </a:solidFill>
                          <a:effectLst/>
                          <a:latin typeface="Arial" panose="020B0604020202020204" pitchFamily="34" charset="0"/>
                        </a:rPr>
                        <a:t>F</a:t>
                      </a:r>
                      <a:endParaRPr lang="en-US" sz="1800" b="0" i="0" u="none" strike="noStrike">
                        <a:effectLst/>
                        <a:latin typeface="Arial" panose="020B060402020202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0" algn="ctr" rtl="0" fontAlgn="t">
                        <a:buNone/>
                      </a:pPr>
                      <a:r>
                        <a:rPr lang="en-US" sz="1400" b="0" i="0" u="none" strike="noStrike">
                          <a:solidFill>
                            <a:srgbClr val="000000"/>
                          </a:solidFill>
                          <a:effectLst/>
                          <a:latin typeface="Arial" panose="020B0604020202020204" pitchFamily="34" charset="0"/>
                        </a:rPr>
                        <a:t>T</a:t>
                      </a:r>
                      <a:endParaRPr lang="en-US" sz="1800" b="0" i="0" u="none" strike="noStrike">
                        <a:effectLst/>
                        <a:latin typeface="Arial" panose="020B060402020202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0" algn="ctr" rtl="0" fontAlgn="t">
                        <a:buNone/>
                      </a:pPr>
                      <a:r>
                        <a:rPr lang="en-US" sz="1400" b="0" i="0" u="none" strike="noStrike" dirty="0">
                          <a:solidFill>
                            <a:srgbClr val="000000"/>
                          </a:solidFill>
                          <a:effectLst/>
                          <a:latin typeface="Arial" panose="020B0604020202020204" pitchFamily="34" charset="0"/>
                        </a:rPr>
                        <a:t>F</a:t>
                      </a:r>
                      <a:endParaRPr lang="en-US" sz="1800" b="0" i="0" u="none" strike="noStrike" dirty="0">
                        <a:effectLst/>
                        <a:latin typeface="Arial" panose="020B060402020202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2165095522"/>
                  </a:ext>
                </a:extLst>
              </a:tr>
            </a:tbl>
          </a:graphicData>
        </a:graphic>
      </p:graphicFrame>
    </p:spTree>
    <p:extLst>
      <p:ext uri="{BB962C8B-B14F-4D97-AF65-F5344CB8AC3E}">
        <p14:creationId xmlns:p14="http://schemas.microsoft.com/office/powerpoint/2010/main" val="188338033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E7D4D0-B711-037D-CBE7-7B76B3BB3B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70BF20-F646-E926-C765-FE09547EB6EF}"/>
              </a:ext>
            </a:extLst>
          </p:cNvPr>
          <p:cNvSpPr>
            <a:spLocks noGrp="1"/>
          </p:cNvSpPr>
          <p:nvPr>
            <p:ph type="title"/>
          </p:nvPr>
        </p:nvSpPr>
        <p:spPr/>
        <p:txBody>
          <a:bodyPr/>
          <a:lstStyle/>
          <a:p>
            <a:r>
              <a:rPr lang="en-US" dirty="0"/>
              <a:t>Contingencies</a:t>
            </a:r>
          </a:p>
        </p:txBody>
      </p:sp>
      <p:sp>
        <p:nvSpPr>
          <p:cNvPr id="3" name="Content Placeholder 2">
            <a:extLst>
              <a:ext uri="{FF2B5EF4-FFF2-40B4-BE49-F238E27FC236}">
                <a16:creationId xmlns:a16="http://schemas.microsoft.com/office/drawing/2014/main" id="{14235334-34A2-BFA4-2459-2C9BAA72D9F9}"/>
              </a:ext>
            </a:extLst>
          </p:cNvPr>
          <p:cNvSpPr>
            <a:spLocks noGrp="1"/>
          </p:cNvSpPr>
          <p:nvPr>
            <p:ph idx="1"/>
          </p:nvPr>
        </p:nvSpPr>
        <p:spPr>
          <a:xfrm>
            <a:off x="291600" y="662400"/>
            <a:ext cx="8520600" cy="4297500"/>
          </a:xfrm>
        </p:spPr>
        <p:txBody>
          <a:bodyPr/>
          <a:lstStyle/>
          <a:p>
            <a:r>
              <a:rPr lang="en-US" dirty="0"/>
              <a:t>A contingency is a proposition that is neither a tautology nor a contradiction.</a:t>
            </a:r>
          </a:p>
          <a:p>
            <a:r>
              <a:rPr lang="en-US" dirty="0"/>
              <a:t>Its truth value is varies depending on the specific truth values assigned to its atomic parts.</a:t>
            </a:r>
          </a:p>
          <a:p>
            <a:r>
              <a:rPr lang="en-US" dirty="0"/>
              <a:t>It is true for at least one valuation and false for at least one other.</a:t>
            </a:r>
          </a:p>
          <a:p>
            <a:r>
              <a:rPr lang="en-US" dirty="0"/>
              <a:t>Most statements in propositional logic are contingent, as their truth values depends on the actual state of their component propositions which may vary.</a:t>
            </a:r>
          </a:p>
        </p:txBody>
      </p:sp>
    </p:spTree>
    <p:extLst>
      <p:ext uri="{BB962C8B-B14F-4D97-AF65-F5344CB8AC3E}">
        <p14:creationId xmlns:p14="http://schemas.microsoft.com/office/powerpoint/2010/main" val="283275009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2064CC-5E44-F2D1-9431-9031195715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EC458D-E560-0294-1B1C-3FAD9DB59251}"/>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47777079-99B2-F86B-6E78-E367E4CFCB3B}"/>
              </a:ext>
            </a:extLst>
          </p:cNvPr>
          <p:cNvSpPr>
            <a:spLocks noGrp="1"/>
          </p:cNvSpPr>
          <p:nvPr>
            <p:ph idx="1"/>
          </p:nvPr>
        </p:nvSpPr>
        <p:spPr>
          <a:xfrm>
            <a:off x="85122" y="89342"/>
            <a:ext cx="8520600" cy="4925109"/>
          </a:xfrm>
        </p:spPr>
        <p:txBody>
          <a:bodyPr/>
          <a:lstStyle/>
          <a:p>
            <a:r>
              <a:rPr lang="en-US" dirty="0"/>
              <a:t>For example, p ⇔ q and (p ∨ ¬q) → (p ∧ q).</a:t>
            </a:r>
          </a:p>
          <a:p>
            <a:r>
              <a:rPr lang="en-US" dirty="0"/>
              <a:t>Their truth tables are shown below;</a:t>
            </a:r>
          </a:p>
        </p:txBody>
      </p:sp>
      <p:graphicFrame>
        <p:nvGraphicFramePr>
          <p:cNvPr id="4" name="Table 3">
            <a:extLst>
              <a:ext uri="{FF2B5EF4-FFF2-40B4-BE49-F238E27FC236}">
                <a16:creationId xmlns:a16="http://schemas.microsoft.com/office/drawing/2014/main" id="{7CF41C2A-8A67-62C4-D9E7-A18177878773}"/>
              </a:ext>
            </a:extLst>
          </p:cNvPr>
          <p:cNvGraphicFramePr>
            <a:graphicFrameLocks noGrp="1"/>
          </p:cNvGraphicFramePr>
          <p:nvPr>
            <p:extLst>
              <p:ext uri="{D42A27DB-BD31-4B8C-83A1-F6EECF244321}">
                <p14:modId xmlns:p14="http://schemas.microsoft.com/office/powerpoint/2010/main" val="2991019938"/>
              </p:ext>
            </p:extLst>
          </p:nvPr>
        </p:nvGraphicFramePr>
        <p:xfrm>
          <a:off x="1503899" y="3156251"/>
          <a:ext cx="6096001" cy="1854200"/>
        </p:xfrm>
        <a:graphic>
          <a:graphicData uri="http://schemas.openxmlformats.org/drawingml/2006/table">
            <a:tbl>
              <a:tblPr firstRow="1" bandRow="1"/>
              <a:tblGrid>
                <a:gridCol w="532291">
                  <a:extLst>
                    <a:ext uri="{9D8B030D-6E8A-4147-A177-3AD203B41FA5}">
                      <a16:colId xmlns:a16="http://schemas.microsoft.com/office/drawing/2014/main" val="3602382880"/>
                    </a:ext>
                  </a:extLst>
                </a:gridCol>
                <a:gridCol w="570312">
                  <a:extLst>
                    <a:ext uri="{9D8B030D-6E8A-4147-A177-3AD203B41FA5}">
                      <a16:colId xmlns:a16="http://schemas.microsoft.com/office/drawing/2014/main" val="2703766741"/>
                    </a:ext>
                  </a:extLst>
                </a:gridCol>
                <a:gridCol w="570312">
                  <a:extLst>
                    <a:ext uri="{9D8B030D-6E8A-4147-A177-3AD203B41FA5}">
                      <a16:colId xmlns:a16="http://schemas.microsoft.com/office/drawing/2014/main" val="4018476170"/>
                    </a:ext>
                  </a:extLst>
                </a:gridCol>
                <a:gridCol w="1083593">
                  <a:extLst>
                    <a:ext uri="{9D8B030D-6E8A-4147-A177-3AD203B41FA5}">
                      <a16:colId xmlns:a16="http://schemas.microsoft.com/office/drawing/2014/main" val="1233410155"/>
                    </a:ext>
                  </a:extLst>
                </a:gridCol>
                <a:gridCol w="1096266">
                  <a:extLst>
                    <a:ext uri="{9D8B030D-6E8A-4147-A177-3AD203B41FA5}">
                      <a16:colId xmlns:a16="http://schemas.microsoft.com/office/drawing/2014/main" val="1688896481"/>
                    </a:ext>
                  </a:extLst>
                </a:gridCol>
                <a:gridCol w="2243227">
                  <a:extLst>
                    <a:ext uri="{9D8B030D-6E8A-4147-A177-3AD203B41FA5}">
                      <a16:colId xmlns:a16="http://schemas.microsoft.com/office/drawing/2014/main" val="167461598"/>
                    </a:ext>
                  </a:extLst>
                </a:gridCol>
              </a:tblGrid>
              <a:tr h="370840">
                <a:tc>
                  <a:txBody>
                    <a:bodyPr/>
                    <a:lstStyle/>
                    <a:p>
                      <a:pPr marR="0" algn="ctr" rtl="0" fontAlgn="t">
                        <a:buNone/>
                      </a:pPr>
                      <a:r>
                        <a:rPr lang="en-US" sz="1400" b="0" i="0" u="none" strike="noStrike">
                          <a:solidFill>
                            <a:srgbClr val="000000"/>
                          </a:solidFill>
                          <a:effectLst/>
                          <a:latin typeface="Arial" panose="020B0604020202020204" pitchFamily="34" charset="0"/>
                        </a:rPr>
                        <a:t>p</a:t>
                      </a:r>
                      <a:endParaRPr lang="en-US" sz="1800" b="0" i="0" u="none" strike="noStrike">
                        <a:effectLst/>
                        <a:latin typeface="Arial" panose="020B060402020202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F7F7F"/>
                    </a:solidFill>
                  </a:tcPr>
                </a:tc>
                <a:tc>
                  <a:txBody>
                    <a:bodyPr/>
                    <a:lstStyle/>
                    <a:p>
                      <a:pPr marR="0" algn="ctr" rtl="0" fontAlgn="t">
                        <a:buNone/>
                      </a:pPr>
                      <a:r>
                        <a:rPr lang="en-US" sz="1400" b="0" i="0" u="none" strike="noStrike">
                          <a:solidFill>
                            <a:srgbClr val="000000"/>
                          </a:solidFill>
                          <a:effectLst/>
                          <a:latin typeface="Arial" panose="020B0604020202020204" pitchFamily="34" charset="0"/>
                        </a:rPr>
                        <a:t>q</a:t>
                      </a:r>
                      <a:endParaRPr lang="en-US" sz="1800" b="0" i="0" u="none" strike="noStrike">
                        <a:effectLst/>
                        <a:latin typeface="Arial" panose="020B060402020202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F7F7F"/>
                    </a:solidFill>
                  </a:tcPr>
                </a:tc>
                <a:tc>
                  <a:txBody>
                    <a:bodyPr/>
                    <a:lstStyle/>
                    <a:p>
                      <a:pPr marR="0" algn="ctr" rtl="0" fontAlgn="t">
                        <a:buNone/>
                      </a:pPr>
                      <a:r>
                        <a:rPr lang="en-US" sz="1400" b="0" i="0" u="none" strike="noStrike">
                          <a:solidFill>
                            <a:srgbClr val="000000"/>
                          </a:solidFill>
                          <a:effectLst/>
                          <a:latin typeface="Arial" panose="020B0604020202020204" pitchFamily="34" charset="0"/>
                        </a:rPr>
                        <a:t>¬q</a:t>
                      </a:r>
                      <a:endParaRPr lang="en-US" sz="1800" b="0" i="0" u="none" strike="noStrike">
                        <a:effectLst/>
                        <a:latin typeface="Arial" panose="020B060402020202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F7F7F"/>
                    </a:solidFill>
                  </a:tcPr>
                </a:tc>
                <a:tc>
                  <a:txBody>
                    <a:bodyPr/>
                    <a:lstStyle/>
                    <a:p>
                      <a:pPr marR="0" algn="ctr" rtl="0" fontAlgn="t">
                        <a:buNone/>
                      </a:pPr>
                      <a:r>
                        <a:rPr lang="en-US" sz="1400" b="0" i="0" u="none" strike="noStrike" dirty="0">
                          <a:solidFill>
                            <a:srgbClr val="000000"/>
                          </a:solidFill>
                          <a:effectLst/>
                          <a:latin typeface="Arial" panose="020B0604020202020204" pitchFamily="34" charset="0"/>
                        </a:rPr>
                        <a:t>p ∨ ¬q</a:t>
                      </a:r>
                      <a:endParaRPr lang="en-US" sz="1800" b="0" i="0" u="none" strike="noStrike" dirty="0">
                        <a:effectLst/>
                        <a:latin typeface="Arial" panose="020B060402020202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F7F7F"/>
                    </a:solidFill>
                  </a:tcPr>
                </a:tc>
                <a:tc>
                  <a:txBody>
                    <a:bodyPr/>
                    <a:lstStyle/>
                    <a:p>
                      <a:pPr marR="0" algn="ctr" rtl="0" fontAlgn="t">
                        <a:buNone/>
                      </a:pPr>
                      <a:r>
                        <a:rPr lang="en-US" sz="1400" b="0" i="0" u="none" strike="noStrike">
                          <a:solidFill>
                            <a:srgbClr val="000000"/>
                          </a:solidFill>
                          <a:effectLst/>
                          <a:latin typeface="Arial" panose="020B0604020202020204" pitchFamily="34" charset="0"/>
                        </a:rPr>
                        <a:t>p ∧ q</a:t>
                      </a:r>
                      <a:endParaRPr lang="en-US" sz="1800" b="0" i="0" u="none" strike="noStrike">
                        <a:effectLst/>
                        <a:latin typeface="Arial" panose="020B060402020202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F7F7F"/>
                    </a:solidFill>
                  </a:tcPr>
                </a:tc>
                <a:tc>
                  <a:txBody>
                    <a:bodyPr/>
                    <a:lstStyle/>
                    <a:p>
                      <a:pPr marR="0" algn="ctr" rtl="0" fontAlgn="t">
                        <a:buNone/>
                      </a:pPr>
                      <a:r>
                        <a:rPr lang="en-US" sz="1400" b="0" i="0" u="none" strike="noStrike">
                          <a:solidFill>
                            <a:srgbClr val="000000"/>
                          </a:solidFill>
                          <a:effectLst/>
                          <a:latin typeface="Arial" panose="020B0604020202020204" pitchFamily="34" charset="0"/>
                        </a:rPr>
                        <a:t>(p ∨ ¬q) → (p ∧ q) </a:t>
                      </a:r>
                      <a:endParaRPr lang="en-US" sz="1800" b="0" i="0" u="none" strike="noStrike">
                        <a:effectLst/>
                        <a:latin typeface="Arial" panose="020B060402020202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F7F7F"/>
                    </a:solidFill>
                  </a:tcPr>
                </a:tc>
                <a:extLst>
                  <a:ext uri="{0D108BD9-81ED-4DB2-BD59-A6C34878D82A}">
                    <a16:rowId xmlns:a16="http://schemas.microsoft.com/office/drawing/2014/main" val="3693707682"/>
                  </a:ext>
                </a:extLst>
              </a:tr>
              <a:tr h="370840">
                <a:tc>
                  <a:txBody>
                    <a:bodyPr/>
                    <a:lstStyle/>
                    <a:p>
                      <a:pPr marR="0" algn="ctr" rtl="0" fontAlgn="t">
                        <a:buNone/>
                      </a:pPr>
                      <a:r>
                        <a:rPr lang="en-US" sz="1400" b="0" i="0" u="none" strike="noStrike">
                          <a:solidFill>
                            <a:srgbClr val="000000"/>
                          </a:solidFill>
                          <a:effectLst/>
                          <a:latin typeface="Arial" panose="020B0604020202020204" pitchFamily="34" charset="0"/>
                        </a:rPr>
                        <a:t>T</a:t>
                      </a:r>
                      <a:endParaRPr lang="en-US" sz="1800" b="0" i="0" u="none" strike="noStrike">
                        <a:effectLst/>
                        <a:latin typeface="Arial" panose="020B060402020202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0" algn="ctr" rtl="0" fontAlgn="t">
                        <a:buNone/>
                      </a:pPr>
                      <a:r>
                        <a:rPr lang="en-US" sz="1400" b="0" i="0" u="none" strike="noStrike">
                          <a:solidFill>
                            <a:srgbClr val="000000"/>
                          </a:solidFill>
                          <a:effectLst/>
                          <a:latin typeface="Arial" panose="020B0604020202020204" pitchFamily="34" charset="0"/>
                        </a:rPr>
                        <a:t>T</a:t>
                      </a:r>
                      <a:endParaRPr lang="en-US" sz="1800" b="0" i="0" u="none" strike="noStrike">
                        <a:effectLst/>
                        <a:latin typeface="Arial" panose="020B060402020202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0" algn="ctr" rtl="0" fontAlgn="t">
                        <a:buNone/>
                      </a:pPr>
                      <a:r>
                        <a:rPr lang="en-US" sz="1400" b="0" i="0" u="none" strike="noStrike">
                          <a:solidFill>
                            <a:srgbClr val="000000"/>
                          </a:solidFill>
                          <a:effectLst/>
                          <a:latin typeface="Arial" panose="020B0604020202020204" pitchFamily="34" charset="0"/>
                        </a:rPr>
                        <a:t>F</a:t>
                      </a:r>
                      <a:endParaRPr lang="en-US" sz="1800" b="0" i="0" u="none" strike="noStrike">
                        <a:effectLst/>
                        <a:latin typeface="Arial" panose="020B060402020202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0" algn="ctr" rtl="0" fontAlgn="t">
                        <a:buNone/>
                      </a:pPr>
                      <a:r>
                        <a:rPr lang="en-US" sz="1400" b="0" i="0" u="none" strike="noStrike">
                          <a:solidFill>
                            <a:srgbClr val="000000"/>
                          </a:solidFill>
                          <a:effectLst/>
                          <a:latin typeface="Arial" panose="020B0604020202020204" pitchFamily="34" charset="0"/>
                        </a:rPr>
                        <a:t>T</a:t>
                      </a:r>
                      <a:endParaRPr lang="en-US" sz="1800" b="0" i="0" u="none" strike="noStrike">
                        <a:effectLst/>
                        <a:latin typeface="Arial" panose="020B060402020202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0" algn="ctr" rtl="0" fontAlgn="t">
                        <a:buNone/>
                      </a:pPr>
                      <a:r>
                        <a:rPr lang="en-US" sz="1400" b="0" i="0" u="none" strike="noStrike">
                          <a:solidFill>
                            <a:srgbClr val="000000"/>
                          </a:solidFill>
                          <a:effectLst/>
                          <a:latin typeface="Arial" panose="020B0604020202020204" pitchFamily="34" charset="0"/>
                        </a:rPr>
                        <a:t>T</a:t>
                      </a:r>
                      <a:endParaRPr lang="en-US" sz="1800" b="0" i="0" u="none" strike="noStrike">
                        <a:effectLst/>
                        <a:latin typeface="Arial" panose="020B060402020202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0" algn="ctr" rtl="0" fontAlgn="t">
                        <a:buNone/>
                      </a:pPr>
                      <a:r>
                        <a:rPr lang="en-US" sz="1400" b="0" i="0" u="none" strike="noStrike">
                          <a:solidFill>
                            <a:srgbClr val="000000"/>
                          </a:solidFill>
                          <a:effectLst/>
                          <a:latin typeface="Arial" panose="020B0604020202020204" pitchFamily="34" charset="0"/>
                        </a:rPr>
                        <a:t>T</a:t>
                      </a:r>
                      <a:endParaRPr lang="en-US" sz="1800" b="0" i="0" u="none" strike="noStrike">
                        <a:effectLst/>
                        <a:latin typeface="Arial" panose="020B060402020202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055711932"/>
                  </a:ext>
                </a:extLst>
              </a:tr>
              <a:tr h="370840">
                <a:tc>
                  <a:txBody>
                    <a:bodyPr/>
                    <a:lstStyle/>
                    <a:p>
                      <a:pPr marR="0" algn="ctr" rtl="0" fontAlgn="t">
                        <a:buNone/>
                      </a:pPr>
                      <a:r>
                        <a:rPr lang="en-US" sz="1400" b="0" i="0" u="none" strike="noStrike">
                          <a:solidFill>
                            <a:srgbClr val="000000"/>
                          </a:solidFill>
                          <a:effectLst/>
                          <a:latin typeface="Arial" panose="020B0604020202020204" pitchFamily="34" charset="0"/>
                        </a:rPr>
                        <a:t>T</a:t>
                      </a:r>
                      <a:endParaRPr lang="en-US" sz="1800" b="0" i="0" u="none" strike="noStrike">
                        <a:effectLst/>
                        <a:latin typeface="Arial" panose="020B060402020202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0" algn="ctr" rtl="0" fontAlgn="t">
                        <a:buNone/>
                      </a:pPr>
                      <a:r>
                        <a:rPr lang="en-US" sz="1400" b="0" i="0" u="none" strike="noStrike">
                          <a:solidFill>
                            <a:srgbClr val="000000"/>
                          </a:solidFill>
                          <a:effectLst/>
                          <a:latin typeface="Arial" panose="020B0604020202020204" pitchFamily="34" charset="0"/>
                        </a:rPr>
                        <a:t>F</a:t>
                      </a:r>
                      <a:endParaRPr lang="en-US" sz="1800" b="0" i="0" u="none" strike="noStrike">
                        <a:effectLst/>
                        <a:latin typeface="Arial" panose="020B060402020202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0" algn="ctr" rtl="0" fontAlgn="t">
                        <a:buNone/>
                      </a:pPr>
                      <a:r>
                        <a:rPr lang="en-US" sz="1400" b="0" i="0" u="none" strike="noStrike">
                          <a:solidFill>
                            <a:srgbClr val="000000"/>
                          </a:solidFill>
                          <a:effectLst/>
                          <a:latin typeface="Arial" panose="020B0604020202020204" pitchFamily="34" charset="0"/>
                        </a:rPr>
                        <a:t>T</a:t>
                      </a:r>
                      <a:endParaRPr lang="en-US" sz="1800" b="0" i="0" u="none" strike="noStrike">
                        <a:effectLst/>
                        <a:latin typeface="Arial" panose="020B060402020202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0" algn="ctr" rtl="0" fontAlgn="t">
                        <a:buNone/>
                      </a:pPr>
                      <a:r>
                        <a:rPr lang="en-US" sz="1400" b="0" i="0" u="none" strike="noStrike">
                          <a:solidFill>
                            <a:srgbClr val="000000"/>
                          </a:solidFill>
                          <a:effectLst/>
                          <a:latin typeface="Arial" panose="020B0604020202020204" pitchFamily="34" charset="0"/>
                        </a:rPr>
                        <a:t>T</a:t>
                      </a:r>
                      <a:endParaRPr lang="en-US" sz="1800" b="0" i="0" u="none" strike="noStrike">
                        <a:effectLst/>
                        <a:latin typeface="Arial" panose="020B060402020202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0" algn="ctr" rtl="0" fontAlgn="t">
                        <a:buNone/>
                      </a:pPr>
                      <a:r>
                        <a:rPr lang="en-US" sz="1400" b="0" i="0" u="none" strike="noStrike">
                          <a:solidFill>
                            <a:srgbClr val="000000"/>
                          </a:solidFill>
                          <a:effectLst/>
                          <a:latin typeface="Arial" panose="020B0604020202020204" pitchFamily="34" charset="0"/>
                        </a:rPr>
                        <a:t>F</a:t>
                      </a:r>
                      <a:endParaRPr lang="en-US" sz="1800" b="0" i="0" u="none" strike="noStrike">
                        <a:effectLst/>
                        <a:latin typeface="Arial" panose="020B060402020202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0" algn="ctr" rtl="0" fontAlgn="t">
                        <a:buNone/>
                      </a:pPr>
                      <a:r>
                        <a:rPr lang="en-US" sz="1400" b="0" i="0" u="none" strike="noStrike">
                          <a:solidFill>
                            <a:srgbClr val="000000"/>
                          </a:solidFill>
                          <a:effectLst/>
                          <a:latin typeface="Arial" panose="020B0604020202020204" pitchFamily="34" charset="0"/>
                        </a:rPr>
                        <a:t>F</a:t>
                      </a:r>
                      <a:endParaRPr lang="en-US" sz="1800" b="0" i="0" u="none" strike="noStrike">
                        <a:effectLst/>
                        <a:latin typeface="Arial" panose="020B060402020202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50371555"/>
                  </a:ext>
                </a:extLst>
              </a:tr>
              <a:tr h="370840">
                <a:tc>
                  <a:txBody>
                    <a:bodyPr/>
                    <a:lstStyle/>
                    <a:p>
                      <a:pPr marR="0" algn="ctr" rtl="0" fontAlgn="t">
                        <a:buNone/>
                      </a:pPr>
                      <a:r>
                        <a:rPr lang="en-US" sz="1400" b="0" i="0" u="none" strike="noStrike">
                          <a:solidFill>
                            <a:srgbClr val="000000"/>
                          </a:solidFill>
                          <a:effectLst/>
                          <a:latin typeface="Arial" panose="020B0604020202020204" pitchFamily="34" charset="0"/>
                        </a:rPr>
                        <a:t>F</a:t>
                      </a:r>
                      <a:endParaRPr lang="en-US" sz="1800" b="0" i="0" u="none" strike="noStrike">
                        <a:effectLst/>
                        <a:latin typeface="Arial" panose="020B060402020202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0" algn="ctr" rtl="0" fontAlgn="t">
                        <a:buNone/>
                      </a:pPr>
                      <a:r>
                        <a:rPr lang="en-US" sz="1400" b="0" i="0" u="none" strike="noStrike">
                          <a:solidFill>
                            <a:srgbClr val="000000"/>
                          </a:solidFill>
                          <a:effectLst/>
                          <a:latin typeface="Arial" panose="020B0604020202020204" pitchFamily="34" charset="0"/>
                        </a:rPr>
                        <a:t>T</a:t>
                      </a:r>
                      <a:endParaRPr lang="en-US" sz="1800" b="0" i="0" u="none" strike="noStrike">
                        <a:effectLst/>
                        <a:latin typeface="Arial" panose="020B060402020202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0" algn="ctr" rtl="0" fontAlgn="t">
                        <a:buNone/>
                      </a:pPr>
                      <a:r>
                        <a:rPr lang="en-US" sz="1400" b="0" i="0" u="none" strike="noStrike">
                          <a:solidFill>
                            <a:srgbClr val="000000"/>
                          </a:solidFill>
                          <a:effectLst/>
                          <a:latin typeface="Arial" panose="020B0604020202020204" pitchFamily="34" charset="0"/>
                        </a:rPr>
                        <a:t>F</a:t>
                      </a:r>
                      <a:endParaRPr lang="en-US" sz="1800" b="0" i="0" u="none" strike="noStrike">
                        <a:effectLst/>
                        <a:latin typeface="Arial" panose="020B060402020202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0" algn="ctr" rtl="0" fontAlgn="t">
                        <a:buNone/>
                      </a:pPr>
                      <a:r>
                        <a:rPr lang="en-US" sz="1400" b="0" i="0" u="none" strike="noStrike">
                          <a:solidFill>
                            <a:srgbClr val="000000"/>
                          </a:solidFill>
                          <a:effectLst/>
                          <a:latin typeface="Arial" panose="020B0604020202020204" pitchFamily="34" charset="0"/>
                        </a:rPr>
                        <a:t>F</a:t>
                      </a:r>
                      <a:endParaRPr lang="en-US" sz="1800" b="0" i="0" u="none" strike="noStrike">
                        <a:effectLst/>
                        <a:latin typeface="Arial" panose="020B060402020202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0" algn="ctr" rtl="0" fontAlgn="t">
                        <a:buNone/>
                      </a:pPr>
                      <a:r>
                        <a:rPr lang="en-US" sz="1400" b="0" i="0" u="none" strike="noStrike">
                          <a:solidFill>
                            <a:srgbClr val="000000"/>
                          </a:solidFill>
                          <a:effectLst/>
                          <a:latin typeface="Arial" panose="020B0604020202020204" pitchFamily="34" charset="0"/>
                        </a:rPr>
                        <a:t>F</a:t>
                      </a:r>
                      <a:endParaRPr lang="en-US" sz="1800" b="0" i="0" u="none" strike="noStrike">
                        <a:effectLst/>
                        <a:latin typeface="Arial" panose="020B060402020202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0" algn="ctr" rtl="0" fontAlgn="t">
                        <a:buNone/>
                      </a:pPr>
                      <a:r>
                        <a:rPr lang="en-US" sz="1400" b="0" i="0" u="none" strike="noStrike">
                          <a:solidFill>
                            <a:srgbClr val="000000"/>
                          </a:solidFill>
                          <a:effectLst/>
                          <a:latin typeface="Arial" panose="020B0604020202020204" pitchFamily="34" charset="0"/>
                        </a:rPr>
                        <a:t>T</a:t>
                      </a:r>
                      <a:endParaRPr lang="en-US" sz="1800" b="0" i="0" u="none" strike="noStrike">
                        <a:effectLst/>
                        <a:latin typeface="Arial" panose="020B060402020202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251673273"/>
                  </a:ext>
                </a:extLst>
              </a:tr>
              <a:tr h="370840">
                <a:tc>
                  <a:txBody>
                    <a:bodyPr/>
                    <a:lstStyle/>
                    <a:p>
                      <a:pPr marR="0" algn="ctr" rtl="0" fontAlgn="t">
                        <a:buNone/>
                      </a:pPr>
                      <a:r>
                        <a:rPr lang="en-US" sz="1400" b="0" i="0" u="none" strike="noStrike">
                          <a:solidFill>
                            <a:srgbClr val="000000"/>
                          </a:solidFill>
                          <a:effectLst/>
                          <a:latin typeface="Arial" panose="020B0604020202020204" pitchFamily="34" charset="0"/>
                        </a:rPr>
                        <a:t>F</a:t>
                      </a:r>
                      <a:endParaRPr lang="en-US" sz="1800" b="0" i="0" u="none" strike="noStrike">
                        <a:effectLst/>
                        <a:latin typeface="Arial" panose="020B060402020202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0" algn="ctr" rtl="0" fontAlgn="t">
                        <a:buNone/>
                      </a:pPr>
                      <a:r>
                        <a:rPr lang="en-US" sz="1400" b="0" i="0" u="none" strike="noStrike">
                          <a:solidFill>
                            <a:srgbClr val="000000"/>
                          </a:solidFill>
                          <a:effectLst/>
                          <a:latin typeface="Arial" panose="020B0604020202020204" pitchFamily="34" charset="0"/>
                        </a:rPr>
                        <a:t>F</a:t>
                      </a:r>
                      <a:endParaRPr lang="en-US" sz="1800" b="0" i="0" u="none" strike="noStrike">
                        <a:effectLst/>
                        <a:latin typeface="Arial" panose="020B060402020202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0" algn="ctr" rtl="0" fontAlgn="t">
                        <a:buNone/>
                      </a:pPr>
                      <a:r>
                        <a:rPr lang="en-US" sz="1400" b="0" i="0" u="none" strike="noStrike">
                          <a:solidFill>
                            <a:srgbClr val="000000"/>
                          </a:solidFill>
                          <a:effectLst/>
                          <a:latin typeface="Arial" panose="020B0604020202020204" pitchFamily="34" charset="0"/>
                        </a:rPr>
                        <a:t>T</a:t>
                      </a:r>
                      <a:endParaRPr lang="en-US" sz="1800" b="0" i="0" u="none" strike="noStrike">
                        <a:effectLst/>
                        <a:latin typeface="Arial" panose="020B060402020202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0" algn="ctr" rtl="0" fontAlgn="t">
                        <a:buNone/>
                      </a:pPr>
                      <a:r>
                        <a:rPr lang="en-US" sz="1400" b="0" i="0" u="none" strike="noStrike">
                          <a:solidFill>
                            <a:srgbClr val="000000"/>
                          </a:solidFill>
                          <a:effectLst/>
                          <a:latin typeface="Arial" panose="020B0604020202020204" pitchFamily="34" charset="0"/>
                        </a:rPr>
                        <a:t>T</a:t>
                      </a:r>
                      <a:endParaRPr lang="en-US" sz="1800" b="0" i="0" u="none" strike="noStrike">
                        <a:effectLst/>
                        <a:latin typeface="Arial" panose="020B060402020202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0" algn="ctr" rtl="0" fontAlgn="t">
                        <a:buNone/>
                      </a:pPr>
                      <a:r>
                        <a:rPr lang="en-US" sz="1400" b="0" i="0" u="none" strike="noStrike">
                          <a:solidFill>
                            <a:srgbClr val="000000"/>
                          </a:solidFill>
                          <a:effectLst/>
                          <a:latin typeface="Arial" panose="020B0604020202020204" pitchFamily="34" charset="0"/>
                        </a:rPr>
                        <a:t>F</a:t>
                      </a:r>
                      <a:endParaRPr lang="en-US" sz="1800" b="0" i="0" u="none" strike="noStrike">
                        <a:effectLst/>
                        <a:latin typeface="Arial" panose="020B060402020202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0" algn="ctr" rtl="0" fontAlgn="t">
                        <a:buNone/>
                      </a:pPr>
                      <a:r>
                        <a:rPr lang="en-US" sz="1400" b="0" i="0" u="none" strike="noStrike" dirty="0">
                          <a:solidFill>
                            <a:srgbClr val="000000"/>
                          </a:solidFill>
                          <a:effectLst/>
                          <a:latin typeface="Arial" panose="020B0604020202020204" pitchFamily="34" charset="0"/>
                        </a:rPr>
                        <a:t>F</a:t>
                      </a:r>
                      <a:endParaRPr lang="en-US" sz="1800" b="0" i="0" u="none" strike="noStrike" dirty="0">
                        <a:effectLst/>
                        <a:latin typeface="Arial" panose="020B060402020202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700104197"/>
                  </a:ext>
                </a:extLst>
              </a:tr>
            </a:tbl>
          </a:graphicData>
        </a:graphic>
      </p:graphicFrame>
      <p:graphicFrame>
        <p:nvGraphicFramePr>
          <p:cNvPr id="5" name="Table 4">
            <a:extLst>
              <a:ext uri="{FF2B5EF4-FFF2-40B4-BE49-F238E27FC236}">
                <a16:creationId xmlns:a16="http://schemas.microsoft.com/office/drawing/2014/main" id="{48E62F81-EFD3-FE53-34B0-21991BB3BDED}"/>
              </a:ext>
            </a:extLst>
          </p:cNvPr>
          <p:cNvGraphicFramePr>
            <a:graphicFrameLocks noGrp="1"/>
          </p:cNvGraphicFramePr>
          <p:nvPr>
            <p:extLst>
              <p:ext uri="{D42A27DB-BD31-4B8C-83A1-F6EECF244321}">
                <p14:modId xmlns:p14="http://schemas.microsoft.com/office/powerpoint/2010/main" val="4224363133"/>
              </p:ext>
            </p:extLst>
          </p:nvPr>
        </p:nvGraphicFramePr>
        <p:xfrm>
          <a:off x="2296358" y="1064149"/>
          <a:ext cx="4098127" cy="1846199"/>
        </p:xfrm>
        <a:graphic>
          <a:graphicData uri="http://schemas.openxmlformats.org/drawingml/2006/table">
            <a:tbl>
              <a:tblPr firstRow="1" bandRow="1"/>
              <a:tblGrid>
                <a:gridCol w="1363393">
                  <a:extLst>
                    <a:ext uri="{9D8B030D-6E8A-4147-A177-3AD203B41FA5}">
                      <a16:colId xmlns:a16="http://schemas.microsoft.com/office/drawing/2014/main" val="602276381"/>
                    </a:ext>
                  </a:extLst>
                </a:gridCol>
                <a:gridCol w="1367367">
                  <a:extLst>
                    <a:ext uri="{9D8B030D-6E8A-4147-A177-3AD203B41FA5}">
                      <a16:colId xmlns:a16="http://schemas.microsoft.com/office/drawing/2014/main" val="832792967"/>
                    </a:ext>
                  </a:extLst>
                </a:gridCol>
                <a:gridCol w="1367367">
                  <a:extLst>
                    <a:ext uri="{9D8B030D-6E8A-4147-A177-3AD203B41FA5}">
                      <a16:colId xmlns:a16="http://schemas.microsoft.com/office/drawing/2014/main" val="3679716173"/>
                    </a:ext>
                  </a:extLst>
                </a:gridCol>
              </a:tblGrid>
              <a:tr h="362839">
                <a:tc>
                  <a:txBody>
                    <a:bodyPr/>
                    <a:lstStyle/>
                    <a:p>
                      <a:pPr marR="0" algn="ctr" rtl="0" fontAlgn="t">
                        <a:buNone/>
                      </a:pPr>
                      <a:r>
                        <a:rPr lang="en-US" sz="1400" b="0" i="0" u="none" strike="noStrike" dirty="0">
                          <a:solidFill>
                            <a:srgbClr val="000000"/>
                          </a:solidFill>
                          <a:effectLst/>
                          <a:latin typeface="Arial" panose="020B0604020202020204" pitchFamily="34" charset="0"/>
                        </a:rPr>
                        <a:t>p</a:t>
                      </a:r>
                      <a:endParaRPr lang="en-US" sz="1800" b="0" i="0" u="none" strike="noStrike" dirty="0">
                        <a:effectLst/>
                        <a:latin typeface="Arial" panose="020B060402020202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F7F7F"/>
                    </a:solidFill>
                  </a:tcPr>
                </a:tc>
                <a:tc>
                  <a:txBody>
                    <a:bodyPr/>
                    <a:lstStyle/>
                    <a:p>
                      <a:pPr marR="0" algn="ctr" rtl="0" fontAlgn="t">
                        <a:buNone/>
                      </a:pPr>
                      <a:r>
                        <a:rPr lang="en-US" sz="1400" b="0" i="0" u="none" strike="noStrike" dirty="0">
                          <a:solidFill>
                            <a:srgbClr val="000000"/>
                          </a:solidFill>
                          <a:effectLst/>
                          <a:latin typeface="Arial" panose="020B0604020202020204" pitchFamily="34" charset="0"/>
                        </a:rPr>
                        <a:t>q</a:t>
                      </a:r>
                      <a:endParaRPr lang="en-US" sz="1800" b="0" i="0" u="none" strike="noStrike" dirty="0">
                        <a:effectLst/>
                        <a:latin typeface="Arial" panose="020B060402020202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F7F7F"/>
                    </a:solidFill>
                  </a:tcPr>
                </a:tc>
                <a:tc>
                  <a:txBody>
                    <a:bodyPr/>
                    <a:lstStyle/>
                    <a:p>
                      <a:pPr marR="0" algn="ctr" rtl="0" fontAlgn="t">
                        <a:buNone/>
                      </a:pPr>
                      <a:r>
                        <a:rPr lang="en-US" sz="1400" b="0" i="0" u="none" strike="noStrike" dirty="0">
                          <a:solidFill>
                            <a:srgbClr val="000000"/>
                          </a:solidFill>
                          <a:effectLst/>
                          <a:latin typeface="Arial" panose="020B0604020202020204" pitchFamily="34" charset="0"/>
                        </a:rPr>
                        <a:t>p ⇔ q</a:t>
                      </a:r>
                      <a:endParaRPr lang="en-US" sz="1800" b="0" i="0" u="none" strike="noStrike" dirty="0">
                        <a:effectLst/>
                        <a:latin typeface="Arial" panose="020B060402020202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F7F7F"/>
                    </a:solidFill>
                  </a:tcPr>
                </a:tc>
                <a:extLst>
                  <a:ext uri="{0D108BD9-81ED-4DB2-BD59-A6C34878D82A}">
                    <a16:rowId xmlns:a16="http://schemas.microsoft.com/office/drawing/2014/main" val="2419745230"/>
                  </a:ext>
                </a:extLst>
              </a:tr>
              <a:tr h="370840">
                <a:tc>
                  <a:txBody>
                    <a:bodyPr/>
                    <a:lstStyle/>
                    <a:p>
                      <a:pPr marR="0" algn="ctr" rtl="0" fontAlgn="t">
                        <a:buNone/>
                      </a:pPr>
                      <a:r>
                        <a:rPr lang="en-US" sz="1400" b="0" i="0" u="none" strike="noStrike">
                          <a:solidFill>
                            <a:srgbClr val="000000"/>
                          </a:solidFill>
                          <a:effectLst/>
                          <a:latin typeface="Arial" panose="020B0604020202020204" pitchFamily="34" charset="0"/>
                        </a:rPr>
                        <a:t>T</a:t>
                      </a:r>
                      <a:endParaRPr lang="en-US" sz="1800" b="0" i="0" u="none" strike="noStrike">
                        <a:effectLst/>
                        <a:latin typeface="Arial" panose="020B060402020202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0" algn="ctr" rtl="0" fontAlgn="t">
                        <a:buNone/>
                      </a:pPr>
                      <a:r>
                        <a:rPr lang="en-US" sz="1400" b="0" i="0" u="none" strike="noStrike">
                          <a:solidFill>
                            <a:srgbClr val="000000"/>
                          </a:solidFill>
                          <a:effectLst/>
                          <a:latin typeface="Arial" panose="020B0604020202020204" pitchFamily="34" charset="0"/>
                        </a:rPr>
                        <a:t>T</a:t>
                      </a:r>
                      <a:endParaRPr lang="en-US" sz="1800" b="0" i="0" u="none" strike="noStrike">
                        <a:effectLst/>
                        <a:latin typeface="Arial" panose="020B060402020202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0" algn="ctr" rtl="0" fontAlgn="t">
                        <a:buNone/>
                      </a:pPr>
                      <a:r>
                        <a:rPr lang="en-US" sz="1400" b="0" i="0" u="none" strike="noStrike" dirty="0">
                          <a:solidFill>
                            <a:srgbClr val="000000"/>
                          </a:solidFill>
                          <a:effectLst/>
                          <a:latin typeface="Arial" panose="020B0604020202020204" pitchFamily="34" charset="0"/>
                        </a:rPr>
                        <a:t>T</a:t>
                      </a:r>
                      <a:endParaRPr lang="en-US" sz="1800" b="0" i="0" u="none" strike="noStrike" dirty="0">
                        <a:effectLst/>
                        <a:latin typeface="Arial" panose="020B060402020202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480702992"/>
                  </a:ext>
                </a:extLst>
              </a:tr>
              <a:tr h="370840">
                <a:tc>
                  <a:txBody>
                    <a:bodyPr/>
                    <a:lstStyle/>
                    <a:p>
                      <a:pPr marR="0" algn="ctr" rtl="0" fontAlgn="t">
                        <a:buNone/>
                      </a:pPr>
                      <a:r>
                        <a:rPr lang="en-US" sz="1400" b="0" i="0" u="none" strike="noStrike">
                          <a:solidFill>
                            <a:srgbClr val="000000"/>
                          </a:solidFill>
                          <a:effectLst/>
                          <a:latin typeface="Arial" panose="020B0604020202020204" pitchFamily="34" charset="0"/>
                        </a:rPr>
                        <a:t>T</a:t>
                      </a:r>
                      <a:endParaRPr lang="en-US" sz="1800" b="0" i="0" u="none" strike="noStrike">
                        <a:effectLst/>
                        <a:latin typeface="Arial" panose="020B060402020202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0" algn="ctr" rtl="0" fontAlgn="t">
                        <a:buNone/>
                      </a:pPr>
                      <a:r>
                        <a:rPr lang="en-US" sz="1400" b="0" i="0" u="none" strike="noStrike" dirty="0">
                          <a:solidFill>
                            <a:srgbClr val="000000"/>
                          </a:solidFill>
                          <a:effectLst/>
                          <a:latin typeface="Arial" panose="020B0604020202020204" pitchFamily="34" charset="0"/>
                        </a:rPr>
                        <a:t>F</a:t>
                      </a:r>
                      <a:endParaRPr lang="en-US" sz="1800" b="0" i="0" u="none" strike="noStrike" dirty="0">
                        <a:effectLst/>
                        <a:latin typeface="Arial" panose="020B060402020202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0" algn="ctr" rtl="0" fontAlgn="t">
                        <a:buNone/>
                      </a:pPr>
                      <a:r>
                        <a:rPr lang="en-US" sz="1400" b="0" i="0" u="none" strike="noStrike" dirty="0">
                          <a:solidFill>
                            <a:srgbClr val="000000"/>
                          </a:solidFill>
                          <a:effectLst/>
                          <a:latin typeface="Arial" panose="020B0604020202020204" pitchFamily="34" charset="0"/>
                        </a:rPr>
                        <a:t>F</a:t>
                      </a:r>
                      <a:endParaRPr lang="en-US" sz="1800" b="0" i="0" u="none" strike="noStrike" dirty="0">
                        <a:effectLst/>
                        <a:latin typeface="Arial" panose="020B060402020202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2087569551"/>
                  </a:ext>
                </a:extLst>
              </a:tr>
              <a:tr h="370840">
                <a:tc>
                  <a:txBody>
                    <a:bodyPr/>
                    <a:lstStyle/>
                    <a:p>
                      <a:pPr marR="0" algn="ctr" rtl="0" fontAlgn="t">
                        <a:buNone/>
                      </a:pPr>
                      <a:r>
                        <a:rPr lang="en-US" sz="1400" b="0" i="0" u="none" strike="noStrike">
                          <a:solidFill>
                            <a:srgbClr val="000000"/>
                          </a:solidFill>
                          <a:effectLst/>
                          <a:latin typeface="Arial" panose="020B0604020202020204" pitchFamily="34" charset="0"/>
                        </a:rPr>
                        <a:t>F</a:t>
                      </a:r>
                      <a:endParaRPr lang="en-US" sz="1800" b="0" i="0" u="none" strike="noStrike">
                        <a:effectLst/>
                        <a:latin typeface="Arial" panose="020B060402020202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0" algn="ctr" rtl="0" fontAlgn="t">
                        <a:buNone/>
                      </a:pPr>
                      <a:r>
                        <a:rPr lang="en-US" sz="1400" b="0" i="0" u="none" strike="noStrike">
                          <a:solidFill>
                            <a:srgbClr val="000000"/>
                          </a:solidFill>
                          <a:effectLst/>
                          <a:latin typeface="Arial" panose="020B0604020202020204" pitchFamily="34" charset="0"/>
                        </a:rPr>
                        <a:t>T</a:t>
                      </a:r>
                      <a:endParaRPr lang="en-US" sz="1800" b="0" i="0" u="none" strike="noStrike">
                        <a:effectLst/>
                        <a:latin typeface="Arial" panose="020B060402020202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0" algn="ctr" rtl="0" fontAlgn="t">
                        <a:buNone/>
                      </a:pPr>
                      <a:r>
                        <a:rPr lang="en-US" sz="1400" b="0" i="0" u="none" strike="noStrike" dirty="0">
                          <a:solidFill>
                            <a:srgbClr val="000000"/>
                          </a:solidFill>
                          <a:effectLst/>
                          <a:latin typeface="Arial" panose="020B0604020202020204" pitchFamily="34" charset="0"/>
                        </a:rPr>
                        <a:t>F</a:t>
                      </a:r>
                      <a:endParaRPr lang="en-US" sz="1800" b="0" i="0" u="none" strike="noStrike" dirty="0">
                        <a:effectLst/>
                        <a:latin typeface="Arial" panose="020B060402020202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2876164418"/>
                  </a:ext>
                </a:extLst>
              </a:tr>
              <a:tr h="370840">
                <a:tc>
                  <a:txBody>
                    <a:bodyPr/>
                    <a:lstStyle/>
                    <a:p>
                      <a:pPr marR="0" algn="ctr" rtl="0" fontAlgn="t">
                        <a:buNone/>
                      </a:pPr>
                      <a:r>
                        <a:rPr lang="en-US" sz="1400" b="0" i="0" u="none" strike="noStrike" dirty="0">
                          <a:solidFill>
                            <a:srgbClr val="000000"/>
                          </a:solidFill>
                          <a:effectLst/>
                          <a:latin typeface="Arial" panose="020B0604020202020204" pitchFamily="34" charset="0"/>
                        </a:rPr>
                        <a:t>F</a:t>
                      </a:r>
                      <a:endParaRPr lang="en-US" sz="1800" b="0" i="0" u="none" strike="noStrike" dirty="0">
                        <a:effectLst/>
                        <a:latin typeface="Arial" panose="020B060402020202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0" algn="ctr" rtl="0" fontAlgn="t">
                        <a:buNone/>
                      </a:pPr>
                      <a:r>
                        <a:rPr lang="en-US" sz="1400" b="0" i="0" u="none" strike="noStrike" dirty="0">
                          <a:solidFill>
                            <a:srgbClr val="000000"/>
                          </a:solidFill>
                          <a:effectLst/>
                          <a:latin typeface="Arial" panose="020B0604020202020204" pitchFamily="34" charset="0"/>
                        </a:rPr>
                        <a:t>F</a:t>
                      </a:r>
                      <a:endParaRPr lang="en-US" sz="1800" b="0" i="0" u="none" strike="noStrike" dirty="0">
                        <a:effectLst/>
                        <a:latin typeface="Arial" panose="020B060402020202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0" algn="ctr" rtl="0" fontAlgn="t">
                        <a:buNone/>
                      </a:pPr>
                      <a:r>
                        <a:rPr lang="en-US" sz="1400" b="0" i="0" u="none" strike="noStrike" dirty="0">
                          <a:solidFill>
                            <a:srgbClr val="000000"/>
                          </a:solidFill>
                          <a:effectLst/>
                          <a:latin typeface="Arial" panose="020B0604020202020204" pitchFamily="34" charset="0"/>
                        </a:rPr>
                        <a:t>T</a:t>
                      </a:r>
                      <a:endParaRPr lang="en-US" sz="1800" b="0" i="0" u="none" strike="noStrike" dirty="0">
                        <a:effectLst/>
                        <a:latin typeface="Arial" panose="020B060402020202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593112283"/>
                  </a:ext>
                </a:extLst>
              </a:tr>
            </a:tbl>
          </a:graphicData>
        </a:graphic>
      </p:graphicFrame>
    </p:spTree>
    <p:extLst>
      <p:ext uri="{BB962C8B-B14F-4D97-AF65-F5344CB8AC3E}">
        <p14:creationId xmlns:p14="http://schemas.microsoft.com/office/powerpoint/2010/main" val="368542527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5AD006-55E5-27DB-4CDE-FB1558F44D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A777DE-D20E-D946-20EA-EABECA94EC81}"/>
              </a:ext>
            </a:extLst>
          </p:cNvPr>
          <p:cNvSpPr>
            <a:spLocks noGrp="1"/>
          </p:cNvSpPr>
          <p:nvPr>
            <p:ph type="title"/>
          </p:nvPr>
        </p:nvSpPr>
        <p:spPr>
          <a:xfrm>
            <a:off x="244405" y="136405"/>
            <a:ext cx="8520600" cy="436160"/>
          </a:xfrm>
        </p:spPr>
        <p:txBody>
          <a:bodyPr/>
          <a:lstStyle/>
          <a:p>
            <a:r>
              <a:rPr lang="en-US" b="0" dirty="0">
                <a:effectLst/>
              </a:rPr>
              <a:t>Laws of Propositional Logic equivalences</a:t>
            </a:r>
            <a:endParaRPr lang="en-US" dirty="0"/>
          </a:p>
        </p:txBody>
      </p:sp>
      <p:sp>
        <p:nvSpPr>
          <p:cNvPr id="3" name="Content Placeholder 2">
            <a:extLst>
              <a:ext uri="{FF2B5EF4-FFF2-40B4-BE49-F238E27FC236}">
                <a16:creationId xmlns:a16="http://schemas.microsoft.com/office/drawing/2014/main" id="{9B3CDFF8-F07D-A66D-C037-0FDDA955407A}"/>
              </a:ext>
            </a:extLst>
          </p:cNvPr>
          <p:cNvSpPr>
            <a:spLocks noGrp="1"/>
          </p:cNvSpPr>
          <p:nvPr>
            <p:ph idx="1"/>
          </p:nvPr>
        </p:nvSpPr>
        <p:spPr>
          <a:xfrm>
            <a:off x="126418" y="514915"/>
            <a:ext cx="8520600" cy="4492179"/>
          </a:xfrm>
        </p:spPr>
        <p:txBody>
          <a:bodyPr/>
          <a:lstStyle/>
          <a:p>
            <a:r>
              <a:rPr lang="en-US" dirty="0"/>
              <a:t>Laws of logical equivalences allow us to simplify complex formulas or transform them into equivalent forms.</a:t>
            </a:r>
          </a:p>
          <a:p>
            <a:pPr marL="114300" indent="0">
              <a:buNone/>
            </a:pPr>
            <a:r>
              <a:rPr lang="en-US" dirty="0"/>
              <a:t>They are as follows;</a:t>
            </a:r>
          </a:p>
          <a:p>
            <a:r>
              <a:rPr lang="en-US" dirty="0"/>
              <a:t>Identity law</a:t>
            </a:r>
          </a:p>
          <a:p>
            <a:pPr marL="114300" indent="0">
              <a:buNone/>
            </a:pPr>
            <a:r>
              <a:rPr lang="en-US" dirty="0"/>
              <a:t>	p ∧ T ≡ p</a:t>
            </a:r>
          </a:p>
          <a:p>
            <a:pPr marL="114300" indent="0">
              <a:buNone/>
            </a:pPr>
            <a:r>
              <a:rPr lang="en-US" dirty="0"/>
              <a:t>	p ∨ F ≡ p</a:t>
            </a:r>
          </a:p>
          <a:p>
            <a:pPr marL="114300" indent="0">
              <a:buNone/>
            </a:pPr>
            <a:endParaRPr lang="en-US" dirty="0"/>
          </a:p>
          <a:p>
            <a:pPr marL="114300" indent="0">
              <a:buNone/>
            </a:pPr>
            <a:r>
              <a:rPr lang="en-US" dirty="0"/>
              <a:t>Conditional law</a:t>
            </a:r>
          </a:p>
          <a:p>
            <a:pPr marL="114300" indent="0">
              <a:buNone/>
            </a:pPr>
            <a:r>
              <a:rPr lang="en-US" dirty="0"/>
              <a:t>	p → q ≡ ¬p ∨ q</a:t>
            </a:r>
          </a:p>
        </p:txBody>
      </p:sp>
    </p:spTree>
    <p:extLst>
      <p:ext uri="{BB962C8B-B14F-4D97-AF65-F5344CB8AC3E}">
        <p14:creationId xmlns:p14="http://schemas.microsoft.com/office/powerpoint/2010/main" val="301494608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BA3790-BD13-C073-66C9-6A429AFFE2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2DED5A-BBCC-7677-0FE6-050B1977D84A}"/>
              </a:ext>
            </a:extLst>
          </p:cNvPr>
          <p:cNvSpPr>
            <a:spLocks noGrp="1"/>
          </p:cNvSpPr>
          <p:nvPr>
            <p:ph type="title"/>
          </p:nvPr>
        </p:nvSpPr>
        <p:spPr>
          <a:xfrm>
            <a:off x="173613" y="47914"/>
            <a:ext cx="8520600" cy="436160"/>
          </a:xfrm>
        </p:spPr>
        <p:txBody>
          <a:bodyPr/>
          <a:lstStyle/>
          <a:p>
            <a:r>
              <a:rPr lang="en-US" dirty="0"/>
              <a:t> </a:t>
            </a:r>
          </a:p>
        </p:txBody>
      </p:sp>
      <p:sp>
        <p:nvSpPr>
          <p:cNvPr id="3" name="Content Placeholder 2">
            <a:extLst>
              <a:ext uri="{FF2B5EF4-FFF2-40B4-BE49-F238E27FC236}">
                <a16:creationId xmlns:a16="http://schemas.microsoft.com/office/drawing/2014/main" id="{9AF17E83-9E3F-1C7D-7501-AF38E4A99543}"/>
              </a:ext>
            </a:extLst>
          </p:cNvPr>
          <p:cNvSpPr>
            <a:spLocks noGrp="1"/>
          </p:cNvSpPr>
          <p:nvPr>
            <p:ph idx="1"/>
          </p:nvPr>
        </p:nvSpPr>
        <p:spPr>
          <a:xfrm>
            <a:off x="173613" y="265994"/>
            <a:ext cx="8520600" cy="4766156"/>
          </a:xfrm>
        </p:spPr>
        <p:txBody>
          <a:bodyPr/>
          <a:lstStyle/>
          <a:p>
            <a:r>
              <a:rPr lang="fr-FR" dirty="0"/>
              <a:t>Domination law   </a:t>
            </a:r>
          </a:p>
          <a:p>
            <a:pPr marL="114300" indent="0">
              <a:buNone/>
            </a:pPr>
            <a:r>
              <a:rPr lang="fr-FR" dirty="0"/>
              <a:t>	p ∨ T ≡ T </a:t>
            </a:r>
          </a:p>
          <a:p>
            <a:pPr marL="114300" indent="0">
              <a:buNone/>
            </a:pPr>
            <a:r>
              <a:rPr lang="fr-FR" dirty="0"/>
              <a:t>	p ∧ F ≡ F</a:t>
            </a:r>
            <a:endParaRPr lang="en-US" dirty="0"/>
          </a:p>
          <a:p>
            <a:pPr marL="114300" indent="0">
              <a:buNone/>
            </a:pPr>
            <a:endParaRPr lang="en-US" dirty="0"/>
          </a:p>
          <a:p>
            <a:r>
              <a:rPr lang="en-US" dirty="0"/>
              <a:t>Idempotent law</a:t>
            </a:r>
          </a:p>
          <a:p>
            <a:pPr marL="114300" indent="0">
              <a:buNone/>
            </a:pPr>
            <a:r>
              <a:rPr lang="en-US" dirty="0"/>
              <a:t>	p ∨ p ≡ p</a:t>
            </a:r>
          </a:p>
          <a:p>
            <a:pPr marL="114300" indent="0">
              <a:buNone/>
            </a:pPr>
            <a:r>
              <a:rPr lang="en-US" dirty="0"/>
              <a:t>	p ∧ p ≡ p</a:t>
            </a:r>
          </a:p>
          <a:p>
            <a:pPr marL="114300" indent="0">
              <a:buNone/>
            </a:pPr>
            <a:endParaRPr lang="en-US" dirty="0"/>
          </a:p>
          <a:p>
            <a:r>
              <a:rPr lang="en-US" dirty="0"/>
              <a:t>Double negation law</a:t>
            </a:r>
          </a:p>
          <a:p>
            <a:pPr marL="114300" indent="0">
              <a:buNone/>
            </a:pPr>
            <a:r>
              <a:rPr lang="en-US" dirty="0"/>
              <a:t>	¬(¬p) ≡ p</a:t>
            </a:r>
          </a:p>
          <a:p>
            <a:pPr marL="114300" indent="0">
              <a:buNone/>
            </a:pPr>
            <a:endParaRPr lang="en-US" dirty="0"/>
          </a:p>
          <a:p>
            <a:endParaRPr lang="en-US" dirty="0"/>
          </a:p>
        </p:txBody>
      </p:sp>
    </p:spTree>
    <p:extLst>
      <p:ext uri="{BB962C8B-B14F-4D97-AF65-F5344CB8AC3E}">
        <p14:creationId xmlns:p14="http://schemas.microsoft.com/office/powerpoint/2010/main" val="325913748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8D5F2B-A52B-B0D7-C38E-5C35785E8A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D371DC-EE2D-A4FD-33D2-2F89D099BFB4}"/>
              </a:ext>
            </a:extLst>
          </p:cNvPr>
          <p:cNvSpPr>
            <a:spLocks noGrp="1"/>
          </p:cNvSpPr>
          <p:nvPr>
            <p:ph type="title"/>
          </p:nvPr>
        </p:nvSpPr>
        <p:spPr>
          <a:xfrm>
            <a:off x="179512" y="89210"/>
            <a:ext cx="8520600" cy="436160"/>
          </a:xfrm>
        </p:spPr>
        <p:txBody>
          <a:bodyPr/>
          <a:lstStyle/>
          <a:p>
            <a:r>
              <a:rPr lang="en-US" dirty="0"/>
              <a:t> </a:t>
            </a:r>
          </a:p>
        </p:txBody>
      </p:sp>
      <p:sp>
        <p:nvSpPr>
          <p:cNvPr id="3" name="Content Placeholder 2">
            <a:extLst>
              <a:ext uri="{FF2B5EF4-FFF2-40B4-BE49-F238E27FC236}">
                <a16:creationId xmlns:a16="http://schemas.microsoft.com/office/drawing/2014/main" id="{B29A1250-FD68-90FC-4E87-CBA72B7109A1}"/>
              </a:ext>
            </a:extLst>
          </p:cNvPr>
          <p:cNvSpPr>
            <a:spLocks noGrp="1"/>
          </p:cNvSpPr>
          <p:nvPr>
            <p:ph idx="1"/>
          </p:nvPr>
        </p:nvSpPr>
        <p:spPr>
          <a:xfrm>
            <a:off x="132318" y="131458"/>
            <a:ext cx="8520600" cy="4759107"/>
          </a:xfrm>
        </p:spPr>
        <p:txBody>
          <a:bodyPr/>
          <a:lstStyle/>
          <a:p>
            <a:r>
              <a:rPr lang="en-US" dirty="0"/>
              <a:t>Commutative law</a:t>
            </a:r>
          </a:p>
          <a:p>
            <a:pPr marL="114300" indent="0">
              <a:buNone/>
            </a:pPr>
            <a:r>
              <a:rPr lang="en-US" dirty="0"/>
              <a:t>	p ∨ q ≡ q ∨ p</a:t>
            </a:r>
          </a:p>
          <a:p>
            <a:pPr marL="114300" indent="0">
              <a:buNone/>
            </a:pPr>
            <a:r>
              <a:rPr lang="en-US" dirty="0"/>
              <a:t>	p ∧ q ≡ q ∧ p</a:t>
            </a:r>
          </a:p>
          <a:p>
            <a:pPr marL="114300" indent="0">
              <a:buNone/>
            </a:pPr>
            <a:endParaRPr lang="en-US" dirty="0"/>
          </a:p>
          <a:p>
            <a:r>
              <a:rPr lang="pt-BR" dirty="0"/>
              <a:t>Associative law</a:t>
            </a:r>
          </a:p>
          <a:p>
            <a:pPr marL="114300" indent="0">
              <a:buNone/>
            </a:pPr>
            <a:r>
              <a:rPr lang="pt-BR" dirty="0"/>
              <a:t>	(p ∨ q) ∨ r ≡ p ∨ (q ∨ r)</a:t>
            </a:r>
          </a:p>
          <a:p>
            <a:pPr marL="114300" indent="0">
              <a:buNone/>
            </a:pPr>
            <a:r>
              <a:rPr lang="pt-BR" dirty="0"/>
              <a:t>	(p ∧ q) ∧ r ≡ p ∧ (q ∧ r)</a:t>
            </a:r>
            <a:endParaRPr lang="en-US" dirty="0"/>
          </a:p>
          <a:p>
            <a:pPr marL="114300" indent="0">
              <a:buNone/>
            </a:pPr>
            <a:endParaRPr lang="en-US" dirty="0"/>
          </a:p>
          <a:p>
            <a:r>
              <a:rPr lang="en-US" dirty="0"/>
              <a:t>Distributive law</a:t>
            </a:r>
          </a:p>
          <a:p>
            <a:pPr marL="114300" indent="0">
              <a:buNone/>
            </a:pPr>
            <a:r>
              <a:rPr lang="en-US" dirty="0"/>
              <a:t>	p ∨ (q ∧ r) ≡ (p ∨ q) ∧ (p ∨ r)</a:t>
            </a:r>
          </a:p>
          <a:p>
            <a:pPr marL="114300" indent="0">
              <a:buNone/>
            </a:pPr>
            <a:r>
              <a:rPr lang="en-US" dirty="0"/>
              <a:t>	p ∧ (q ∨ r) ≡ (p ∧ q) ∨ (p ∧ r)</a:t>
            </a:r>
          </a:p>
        </p:txBody>
      </p:sp>
    </p:spTree>
    <p:extLst>
      <p:ext uri="{BB962C8B-B14F-4D97-AF65-F5344CB8AC3E}">
        <p14:creationId xmlns:p14="http://schemas.microsoft.com/office/powerpoint/2010/main" val="428839635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AC7090-4F3D-31BA-E464-E782206BB8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9B494A-BCCF-3F00-50AD-72A8951EE7AF}"/>
              </a:ext>
            </a:extLst>
          </p:cNvPr>
          <p:cNvSpPr>
            <a:spLocks noGrp="1"/>
          </p:cNvSpPr>
          <p:nvPr>
            <p:ph type="title"/>
          </p:nvPr>
        </p:nvSpPr>
        <p:spPr>
          <a:xfrm>
            <a:off x="161815" y="83311"/>
            <a:ext cx="8520600" cy="436160"/>
          </a:xfrm>
        </p:spPr>
        <p:txBody>
          <a:bodyPr/>
          <a:lstStyle/>
          <a:p>
            <a:r>
              <a:rPr lang="en-US" dirty="0"/>
              <a:t> </a:t>
            </a:r>
          </a:p>
        </p:txBody>
      </p:sp>
      <p:sp>
        <p:nvSpPr>
          <p:cNvPr id="3" name="Content Placeholder 2">
            <a:extLst>
              <a:ext uri="{FF2B5EF4-FFF2-40B4-BE49-F238E27FC236}">
                <a16:creationId xmlns:a16="http://schemas.microsoft.com/office/drawing/2014/main" id="{F15A8C29-5DD4-7F3D-E64E-B1A4854720A3}"/>
              </a:ext>
            </a:extLst>
          </p:cNvPr>
          <p:cNvSpPr>
            <a:spLocks noGrp="1"/>
          </p:cNvSpPr>
          <p:nvPr>
            <p:ph idx="1"/>
          </p:nvPr>
        </p:nvSpPr>
        <p:spPr>
          <a:xfrm>
            <a:off x="161815" y="149155"/>
            <a:ext cx="8520600" cy="4911033"/>
          </a:xfrm>
        </p:spPr>
        <p:txBody>
          <a:bodyPr/>
          <a:lstStyle/>
          <a:p>
            <a:r>
              <a:rPr lang="en-US" dirty="0"/>
              <a:t>De Morgan’s law</a:t>
            </a:r>
          </a:p>
          <a:p>
            <a:pPr marL="114300" indent="0">
              <a:buNone/>
            </a:pPr>
            <a:r>
              <a:rPr lang="en-US" dirty="0"/>
              <a:t>	¬(p ∧ q) ≡ ¬p ∨ ¬q</a:t>
            </a:r>
          </a:p>
          <a:p>
            <a:pPr marL="114300" indent="0">
              <a:buNone/>
            </a:pPr>
            <a:r>
              <a:rPr lang="en-US" dirty="0"/>
              <a:t>	¬(p ∨ q) ≡ ¬p ∧ ¬q</a:t>
            </a:r>
          </a:p>
          <a:p>
            <a:pPr marL="114300" indent="0">
              <a:buNone/>
            </a:pPr>
            <a:endParaRPr lang="en-US" dirty="0"/>
          </a:p>
          <a:p>
            <a:r>
              <a:rPr lang="en-US" dirty="0"/>
              <a:t>Absorption law</a:t>
            </a:r>
          </a:p>
          <a:p>
            <a:pPr marL="114300" indent="0">
              <a:buNone/>
            </a:pPr>
            <a:r>
              <a:rPr lang="en-US" dirty="0"/>
              <a:t>	p ∨ (p ∧ q) ≡ p</a:t>
            </a:r>
          </a:p>
          <a:p>
            <a:pPr marL="114300" indent="0">
              <a:buNone/>
            </a:pPr>
            <a:r>
              <a:rPr lang="en-US" dirty="0"/>
              <a:t>	p ∧ (p ∨ q) ≡ p</a:t>
            </a:r>
          </a:p>
          <a:p>
            <a:pPr marL="114300" indent="0">
              <a:buNone/>
            </a:pPr>
            <a:endParaRPr lang="en-US" dirty="0"/>
          </a:p>
          <a:p>
            <a:r>
              <a:rPr lang="en-US" dirty="0"/>
              <a:t>Negation law</a:t>
            </a:r>
          </a:p>
          <a:p>
            <a:pPr marL="114300" indent="0">
              <a:buNone/>
            </a:pPr>
            <a:r>
              <a:rPr lang="en-US" dirty="0"/>
              <a:t>	p ∨ ¬p ≡ T</a:t>
            </a:r>
          </a:p>
          <a:p>
            <a:pPr marL="114300" indent="0">
              <a:buNone/>
            </a:pPr>
            <a:r>
              <a:rPr lang="en-US" dirty="0"/>
              <a:t>	p ∧ ¬p ≡ F</a:t>
            </a:r>
          </a:p>
          <a:p>
            <a:pPr marL="114300" indent="0">
              <a:buNone/>
            </a:pPr>
            <a:endParaRPr lang="en-US" dirty="0"/>
          </a:p>
        </p:txBody>
      </p:sp>
    </p:spTree>
    <p:extLst>
      <p:ext uri="{BB962C8B-B14F-4D97-AF65-F5344CB8AC3E}">
        <p14:creationId xmlns:p14="http://schemas.microsoft.com/office/powerpoint/2010/main" val="395753444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CFBD12-DFCA-566B-9CF5-A34C677F70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994BA2-79C3-5E19-BEEA-EDCC16DD3686}"/>
              </a:ext>
            </a:extLst>
          </p:cNvPr>
          <p:cNvSpPr>
            <a:spLocks noGrp="1"/>
          </p:cNvSpPr>
          <p:nvPr>
            <p:ph type="title"/>
          </p:nvPr>
        </p:nvSpPr>
        <p:spPr>
          <a:xfrm>
            <a:off x="167713" y="53814"/>
            <a:ext cx="8520600" cy="436160"/>
          </a:xfrm>
        </p:spPr>
        <p:txBody>
          <a:bodyPr/>
          <a:lstStyle/>
          <a:p>
            <a:r>
              <a:rPr lang="en-US" dirty="0"/>
              <a:t>Precedence of Logical Operators</a:t>
            </a:r>
          </a:p>
        </p:txBody>
      </p:sp>
      <p:sp>
        <p:nvSpPr>
          <p:cNvPr id="3" name="Content Placeholder 2">
            <a:extLst>
              <a:ext uri="{FF2B5EF4-FFF2-40B4-BE49-F238E27FC236}">
                <a16:creationId xmlns:a16="http://schemas.microsoft.com/office/drawing/2014/main" id="{38130AC5-26D7-43BE-2DD7-7064FF634F3D}"/>
              </a:ext>
            </a:extLst>
          </p:cNvPr>
          <p:cNvSpPr>
            <a:spLocks noGrp="1"/>
          </p:cNvSpPr>
          <p:nvPr>
            <p:ph idx="1"/>
          </p:nvPr>
        </p:nvSpPr>
        <p:spPr>
          <a:xfrm>
            <a:off x="167713" y="597507"/>
            <a:ext cx="8520600" cy="4387448"/>
          </a:xfrm>
        </p:spPr>
        <p:txBody>
          <a:bodyPr/>
          <a:lstStyle/>
          <a:p>
            <a:r>
              <a:rPr lang="en-US" dirty="0"/>
              <a:t>In both mathematics and engineering, clarity in the order of operations is required to prevent ambiguity.</a:t>
            </a:r>
          </a:p>
          <a:p>
            <a:r>
              <a:rPr lang="en-US" dirty="0"/>
              <a:t>Unless parentheses are used, logical operators are evaluated according to the following precedence;</a:t>
            </a:r>
          </a:p>
        </p:txBody>
      </p:sp>
      <p:graphicFrame>
        <p:nvGraphicFramePr>
          <p:cNvPr id="4" name="Table 3">
            <a:extLst>
              <a:ext uri="{FF2B5EF4-FFF2-40B4-BE49-F238E27FC236}">
                <a16:creationId xmlns:a16="http://schemas.microsoft.com/office/drawing/2014/main" id="{3522164A-D0B7-E6AE-C6E2-79BCE375E10C}"/>
              </a:ext>
            </a:extLst>
          </p:cNvPr>
          <p:cNvGraphicFramePr>
            <a:graphicFrameLocks noGrp="1"/>
          </p:cNvGraphicFramePr>
          <p:nvPr>
            <p:extLst>
              <p:ext uri="{D42A27DB-BD31-4B8C-83A1-F6EECF244321}">
                <p14:modId xmlns:p14="http://schemas.microsoft.com/office/powerpoint/2010/main" val="1013063326"/>
              </p:ext>
            </p:extLst>
          </p:nvPr>
        </p:nvGraphicFramePr>
        <p:xfrm>
          <a:off x="2479260" y="2571381"/>
          <a:ext cx="3897506" cy="2216148"/>
        </p:xfrm>
        <a:graphic>
          <a:graphicData uri="http://schemas.openxmlformats.org/drawingml/2006/table">
            <a:tbl>
              <a:tblPr firstRow="1" bandRow="1">
                <a:tableStyleId>{5940675A-B579-460E-94D1-54222C63F5DA}</a:tableStyleId>
              </a:tblPr>
              <a:tblGrid>
                <a:gridCol w="1948753">
                  <a:extLst>
                    <a:ext uri="{9D8B030D-6E8A-4147-A177-3AD203B41FA5}">
                      <a16:colId xmlns:a16="http://schemas.microsoft.com/office/drawing/2014/main" val="2137908966"/>
                    </a:ext>
                  </a:extLst>
                </a:gridCol>
                <a:gridCol w="1948753">
                  <a:extLst>
                    <a:ext uri="{9D8B030D-6E8A-4147-A177-3AD203B41FA5}">
                      <a16:colId xmlns:a16="http://schemas.microsoft.com/office/drawing/2014/main" val="295532514"/>
                    </a:ext>
                  </a:extLst>
                </a:gridCol>
              </a:tblGrid>
              <a:tr h="369358">
                <a:tc>
                  <a:txBody>
                    <a:bodyPr/>
                    <a:lstStyle/>
                    <a:p>
                      <a:pPr algn="ctr"/>
                      <a:r>
                        <a:rPr lang="en-US" dirty="0"/>
                        <a:t>Operator</a:t>
                      </a:r>
                    </a:p>
                  </a:txBody>
                  <a:tcPr>
                    <a:solidFill>
                      <a:schemeClr val="bg1">
                        <a:lumMod val="85000"/>
                      </a:schemeClr>
                    </a:solidFill>
                  </a:tcPr>
                </a:tc>
                <a:tc>
                  <a:txBody>
                    <a:bodyPr/>
                    <a:lstStyle/>
                    <a:p>
                      <a:pPr algn="ctr"/>
                      <a:r>
                        <a:rPr lang="en-US" dirty="0"/>
                        <a:t>Precedence</a:t>
                      </a:r>
                    </a:p>
                  </a:txBody>
                  <a:tcPr>
                    <a:solidFill>
                      <a:schemeClr val="bg1">
                        <a:lumMod val="85000"/>
                      </a:schemeClr>
                    </a:solidFill>
                  </a:tcPr>
                </a:tc>
                <a:extLst>
                  <a:ext uri="{0D108BD9-81ED-4DB2-BD59-A6C34878D82A}">
                    <a16:rowId xmlns:a16="http://schemas.microsoft.com/office/drawing/2014/main" val="2287638730"/>
                  </a:ext>
                </a:extLst>
              </a:tr>
              <a:tr h="369358">
                <a:tc>
                  <a:txBody>
                    <a:bodyPr/>
                    <a:lstStyle/>
                    <a:p>
                      <a:pPr algn="ctr"/>
                      <a:r>
                        <a:rPr lang="en-US" dirty="0"/>
                        <a:t>∼</a:t>
                      </a:r>
                    </a:p>
                  </a:txBody>
                  <a:tcPr/>
                </a:tc>
                <a:tc>
                  <a:txBody>
                    <a:bodyPr/>
                    <a:lstStyle/>
                    <a:p>
                      <a:pPr algn="ctr"/>
                      <a:r>
                        <a:rPr lang="en-US" dirty="0"/>
                        <a:t>1</a:t>
                      </a:r>
                    </a:p>
                  </a:txBody>
                  <a:tcPr/>
                </a:tc>
                <a:extLst>
                  <a:ext uri="{0D108BD9-81ED-4DB2-BD59-A6C34878D82A}">
                    <a16:rowId xmlns:a16="http://schemas.microsoft.com/office/drawing/2014/main" val="3447468671"/>
                  </a:ext>
                </a:extLst>
              </a:tr>
              <a:tr h="369358">
                <a:tc>
                  <a:txBody>
                    <a:bodyPr/>
                    <a:lstStyle/>
                    <a:p>
                      <a:pPr algn="ctr"/>
                      <a:r>
                        <a:rPr lang="en-US" dirty="0"/>
                        <a:t>∧</a:t>
                      </a:r>
                    </a:p>
                  </a:txBody>
                  <a:tcPr/>
                </a:tc>
                <a:tc>
                  <a:txBody>
                    <a:bodyPr/>
                    <a:lstStyle/>
                    <a:p>
                      <a:pPr algn="ctr"/>
                      <a:r>
                        <a:rPr lang="en-US" dirty="0"/>
                        <a:t>2</a:t>
                      </a:r>
                    </a:p>
                  </a:txBody>
                  <a:tcPr/>
                </a:tc>
                <a:extLst>
                  <a:ext uri="{0D108BD9-81ED-4DB2-BD59-A6C34878D82A}">
                    <a16:rowId xmlns:a16="http://schemas.microsoft.com/office/drawing/2014/main" val="2577824991"/>
                  </a:ext>
                </a:extLst>
              </a:tr>
              <a:tr h="369358">
                <a:tc>
                  <a:txBody>
                    <a:bodyPr/>
                    <a:lstStyle/>
                    <a:p>
                      <a:pPr algn="ctr"/>
                      <a:r>
                        <a:rPr lang="en-US" dirty="0"/>
                        <a:t>∨</a:t>
                      </a:r>
                    </a:p>
                  </a:txBody>
                  <a:tcPr/>
                </a:tc>
                <a:tc>
                  <a:txBody>
                    <a:bodyPr/>
                    <a:lstStyle/>
                    <a:p>
                      <a:pPr algn="ctr"/>
                      <a:r>
                        <a:rPr lang="en-US" dirty="0"/>
                        <a:t>3</a:t>
                      </a:r>
                    </a:p>
                  </a:txBody>
                  <a:tcPr/>
                </a:tc>
                <a:extLst>
                  <a:ext uri="{0D108BD9-81ED-4DB2-BD59-A6C34878D82A}">
                    <a16:rowId xmlns:a16="http://schemas.microsoft.com/office/drawing/2014/main" val="1551122994"/>
                  </a:ext>
                </a:extLst>
              </a:tr>
              <a:tr h="369358">
                <a:tc>
                  <a:txBody>
                    <a:bodyPr/>
                    <a:lstStyle/>
                    <a:p>
                      <a:pPr algn="ctr"/>
                      <a:r>
                        <a:rPr lang="en-US" dirty="0"/>
                        <a:t>⇒</a:t>
                      </a:r>
                    </a:p>
                  </a:txBody>
                  <a:tcPr/>
                </a:tc>
                <a:tc>
                  <a:txBody>
                    <a:bodyPr/>
                    <a:lstStyle/>
                    <a:p>
                      <a:pPr algn="ctr"/>
                      <a:r>
                        <a:rPr lang="en-US" dirty="0"/>
                        <a:t>4</a:t>
                      </a:r>
                    </a:p>
                  </a:txBody>
                  <a:tcPr/>
                </a:tc>
                <a:extLst>
                  <a:ext uri="{0D108BD9-81ED-4DB2-BD59-A6C34878D82A}">
                    <a16:rowId xmlns:a16="http://schemas.microsoft.com/office/drawing/2014/main" val="3233595871"/>
                  </a:ext>
                </a:extLst>
              </a:tr>
              <a:tr h="369358">
                <a:tc>
                  <a:txBody>
                    <a:bodyPr/>
                    <a:lstStyle/>
                    <a:p>
                      <a:pPr algn="ctr"/>
                      <a:r>
                        <a:rPr lang="en-US" dirty="0"/>
                        <a:t>⇔</a:t>
                      </a:r>
                    </a:p>
                  </a:txBody>
                  <a:tcPr/>
                </a:tc>
                <a:tc>
                  <a:txBody>
                    <a:bodyPr/>
                    <a:lstStyle/>
                    <a:p>
                      <a:pPr algn="ctr"/>
                      <a:r>
                        <a:rPr lang="en-US" dirty="0"/>
                        <a:t>5</a:t>
                      </a:r>
                    </a:p>
                  </a:txBody>
                  <a:tcPr/>
                </a:tc>
                <a:extLst>
                  <a:ext uri="{0D108BD9-81ED-4DB2-BD59-A6C34878D82A}">
                    <a16:rowId xmlns:a16="http://schemas.microsoft.com/office/drawing/2014/main" val="1193590781"/>
                  </a:ext>
                </a:extLst>
              </a:tr>
            </a:tbl>
          </a:graphicData>
        </a:graphic>
      </p:graphicFrame>
    </p:spTree>
    <p:extLst>
      <p:ext uri="{BB962C8B-B14F-4D97-AF65-F5344CB8AC3E}">
        <p14:creationId xmlns:p14="http://schemas.microsoft.com/office/powerpoint/2010/main" val="367830098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660315-C47C-E982-2F29-37834C0130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90D67F-E655-B4A0-3907-2C5CA8A12CF2}"/>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095B8864-0B65-106B-B599-9A58AFC7CD7F}"/>
              </a:ext>
            </a:extLst>
          </p:cNvPr>
          <p:cNvSpPr>
            <a:spLocks noGrp="1"/>
          </p:cNvSpPr>
          <p:nvPr>
            <p:ph idx="1"/>
          </p:nvPr>
        </p:nvSpPr>
        <p:spPr>
          <a:xfrm>
            <a:off x="209009" y="496070"/>
            <a:ext cx="8603191" cy="4558220"/>
          </a:xfrm>
        </p:spPr>
        <p:txBody>
          <a:bodyPr/>
          <a:lstStyle/>
          <a:p>
            <a:r>
              <a:rPr lang="en-US" dirty="0"/>
              <a:t>For example, ¬p ∧ q is the conjunction of ¬p and q, that is (¬p) ∧ q, and not the negation of the conjunction of p and q, that is ¬(p ∧ q).</a:t>
            </a:r>
          </a:p>
          <a:p>
            <a:r>
              <a:rPr lang="en-US" dirty="0"/>
              <a:t>Generally, even with this precedence we still use parentheses to specify the order in which logical operators in a compound proposition are to be applied.</a:t>
            </a:r>
          </a:p>
          <a:p>
            <a:r>
              <a:rPr lang="en-US" dirty="0"/>
              <a:t> For instance, (p ∨ q) ∧ (¬r) is the conjunction of p ∨ q and ¬r and not the disjunction of p and p ∧ (¬r).</a:t>
            </a:r>
          </a:p>
        </p:txBody>
      </p:sp>
    </p:spTree>
    <p:extLst>
      <p:ext uri="{BB962C8B-B14F-4D97-AF65-F5344CB8AC3E}">
        <p14:creationId xmlns:p14="http://schemas.microsoft.com/office/powerpoint/2010/main" val="182519464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7BC2F9-B665-80E6-0156-E6D9C09543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BD47DC-AA77-4301-5A05-E0343B300658}"/>
              </a:ext>
            </a:extLst>
          </p:cNvPr>
          <p:cNvSpPr>
            <a:spLocks noGrp="1"/>
          </p:cNvSpPr>
          <p:nvPr>
            <p:ph type="title"/>
          </p:nvPr>
        </p:nvSpPr>
        <p:spPr>
          <a:xfrm>
            <a:off x="291600" y="42015"/>
            <a:ext cx="8520600" cy="436160"/>
          </a:xfrm>
        </p:spPr>
        <p:txBody>
          <a:bodyPr/>
          <a:lstStyle/>
          <a:p>
            <a:r>
              <a:rPr lang="en-US" dirty="0"/>
              <a:t>Logic gates</a:t>
            </a:r>
          </a:p>
        </p:txBody>
      </p:sp>
      <p:sp>
        <p:nvSpPr>
          <p:cNvPr id="3" name="Content Placeholder 2">
            <a:extLst>
              <a:ext uri="{FF2B5EF4-FFF2-40B4-BE49-F238E27FC236}">
                <a16:creationId xmlns:a16="http://schemas.microsoft.com/office/drawing/2014/main" id="{661D7DB3-4330-5560-3B85-F7636995BC24}"/>
              </a:ext>
            </a:extLst>
          </p:cNvPr>
          <p:cNvSpPr>
            <a:spLocks noGrp="1"/>
          </p:cNvSpPr>
          <p:nvPr>
            <p:ph idx="1"/>
          </p:nvPr>
        </p:nvSpPr>
        <p:spPr>
          <a:xfrm>
            <a:off x="291600" y="566666"/>
            <a:ext cx="8520600" cy="4465484"/>
          </a:xfrm>
        </p:spPr>
        <p:txBody>
          <a:bodyPr/>
          <a:lstStyle/>
          <a:p>
            <a:r>
              <a:rPr lang="en-US" dirty="0"/>
              <a:t>Logic gates are the fundamental building blocks of digital electronic circuits.</a:t>
            </a:r>
          </a:p>
          <a:p>
            <a:r>
              <a:rPr lang="en-US" dirty="0"/>
              <a:t>They are used to perform logical operations based on the inputs provided to it and gives a logical output that can be either high(1) or low(0).</a:t>
            </a:r>
          </a:p>
          <a:p>
            <a:r>
              <a:rPr lang="en-US" dirty="0"/>
              <a:t>The operation of logic gates is based on Boolean algebra.</a:t>
            </a:r>
          </a:p>
          <a:p>
            <a:r>
              <a:rPr lang="en-US" dirty="0"/>
              <a:t>They include AND, NOT, OR, XOR, NAND, NOR and XNOR gates.</a:t>
            </a:r>
          </a:p>
        </p:txBody>
      </p:sp>
    </p:spTree>
    <p:extLst>
      <p:ext uri="{BB962C8B-B14F-4D97-AF65-F5344CB8AC3E}">
        <p14:creationId xmlns:p14="http://schemas.microsoft.com/office/powerpoint/2010/main" val="105108928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923E5F-C585-5EE0-4F95-B00AA0BD34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E902BC-DCAD-C684-475D-625366D19A5B}"/>
              </a:ext>
            </a:extLst>
          </p:cNvPr>
          <p:cNvSpPr>
            <a:spLocks noGrp="1"/>
          </p:cNvSpPr>
          <p:nvPr>
            <p:ph type="title"/>
          </p:nvPr>
        </p:nvSpPr>
        <p:spPr>
          <a:xfrm>
            <a:off x="120519" y="71513"/>
            <a:ext cx="8520600" cy="436160"/>
          </a:xfrm>
        </p:spPr>
        <p:txBody>
          <a:bodyPr/>
          <a:lstStyle/>
          <a:p>
            <a:r>
              <a:rPr lang="en-US" dirty="0"/>
              <a:t>AND gate</a:t>
            </a:r>
          </a:p>
        </p:txBody>
      </p:sp>
      <p:sp>
        <p:nvSpPr>
          <p:cNvPr id="3" name="Content Placeholder 2">
            <a:extLst>
              <a:ext uri="{FF2B5EF4-FFF2-40B4-BE49-F238E27FC236}">
                <a16:creationId xmlns:a16="http://schemas.microsoft.com/office/drawing/2014/main" id="{EB271900-8F7E-D3BE-BDF2-80121C44A2BD}"/>
              </a:ext>
            </a:extLst>
          </p:cNvPr>
          <p:cNvSpPr>
            <a:spLocks noGrp="1"/>
          </p:cNvSpPr>
          <p:nvPr>
            <p:ph idx="1"/>
          </p:nvPr>
        </p:nvSpPr>
        <p:spPr>
          <a:xfrm>
            <a:off x="120519" y="466706"/>
            <a:ext cx="8520600" cy="4416944"/>
          </a:xfrm>
        </p:spPr>
        <p:txBody>
          <a:bodyPr/>
          <a:lstStyle/>
          <a:p>
            <a:r>
              <a:rPr lang="en-US" dirty="0"/>
              <a:t>An AND gate is used to perform logical multiplication of binary input.</a:t>
            </a:r>
          </a:p>
          <a:p>
            <a:r>
              <a:rPr lang="en-US" dirty="0"/>
              <a:t>The output of the AND gate will be 1 (high) if both the inputs are 1 (high), else the output will be 0 (low).</a:t>
            </a:r>
          </a:p>
        </p:txBody>
      </p:sp>
      <p:pic>
        <p:nvPicPr>
          <p:cNvPr id="8" name="Picture 7">
            <a:extLst>
              <a:ext uri="{FF2B5EF4-FFF2-40B4-BE49-F238E27FC236}">
                <a16:creationId xmlns:a16="http://schemas.microsoft.com/office/drawing/2014/main" id="{339F72D9-4DBC-505E-B548-16B56107F803}"/>
              </a:ext>
            </a:extLst>
          </p:cNvPr>
          <p:cNvPicPr>
            <a:picLocks noChangeAspect="1"/>
          </p:cNvPicPr>
          <p:nvPr/>
        </p:nvPicPr>
        <p:blipFill>
          <a:blip r:embed="rId2"/>
          <a:stretch/>
        </p:blipFill>
        <p:spPr>
          <a:xfrm>
            <a:off x="1488956" y="2206359"/>
            <a:ext cx="5535955" cy="2767977"/>
          </a:xfrm>
          <a:prstGeom prst="rect">
            <a:avLst/>
          </a:prstGeom>
        </p:spPr>
      </p:pic>
    </p:spTree>
    <p:extLst>
      <p:ext uri="{BB962C8B-B14F-4D97-AF65-F5344CB8AC3E}">
        <p14:creationId xmlns:p14="http://schemas.microsoft.com/office/powerpoint/2010/main" val="174526338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8B7E24-A1E2-20CB-FD52-94D74AAEF7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572550-47A2-9338-A1A6-264B9D87A71B}"/>
              </a:ext>
            </a:extLst>
          </p:cNvPr>
          <p:cNvSpPr>
            <a:spLocks noGrp="1"/>
          </p:cNvSpPr>
          <p:nvPr>
            <p:ph type="title"/>
          </p:nvPr>
        </p:nvSpPr>
        <p:spPr>
          <a:xfrm>
            <a:off x="179512" y="0"/>
            <a:ext cx="8520600" cy="436160"/>
          </a:xfrm>
        </p:spPr>
        <p:txBody>
          <a:bodyPr/>
          <a:lstStyle/>
          <a:p>
            <a:r>
              <a:rPr lang="en-US" dirty="0"/>
              <a:t>OR gate</a:t>
            </a:r>
          </a:p>
        </p:txBody>
      </p:sp>
      <p:sp>
        <p:nvSpPr>
          <p:cNvPr id="3" name="Content Placeholder 2">
            <a:extLst>
              <a:ext uri="{FF2B5EF4-FFF2-40B4-BE49-F238E27FC236}">
                <a16:creationId xmlns:a16="http://schemas.microsoft.com/office/drawing/2014/main" id="{B4B7DD1F-3EB6-C032-522E-4EFA3071D130}"/>
              </a:ext>
            </a:extLst>
          </p:cNvPr>
          <p:cNvSpPr>
            <a:spLocks noGrp="1"/>
          </p:cNvSpPr>
          <p:nvPr>
            <p:ph idx="1"/>
          </p:nvPr>
        </p:nvSpPr>
        <p:spPr>
          <a:xfrm>
            <a:off x="126417" y="377885"/>
            <a:ext cx="8640024" cy="4517122"/>
          </a:xfrm>
        </p:spPr>
        <p:txBody>
          <a:bodyPr/>
          <a:lstStyle/>
          <a:p>
            <a:r>
              <a:rPr lang="en-US" dirty="0"/>
              <a:t>An OR gate is used to perform logical addition of binary inputs.</a:t>
            </a:r>
          </a:p>
          <a:p>
            <a:r>
              <a:rPr lang="en-US" dirty="0"/>
              <a:t>The output state of OR gate will be 1 (high) if any of the input state is 1 (high), else output state will be 0 (low).</a:t>
            </a:r>
          </a:p>
        </p:txBody>
      </p:sp>
      <p:pic>
        <p:nvPicPr>
          <p:cNvPr id="9" name="Picture 8">
            <a:extLst>
              <a:ext uri="{FF2B5EF4-FFF2-40B4-BE49-F238E27FC236}">
                <a16:creationId xmlns:a16="http://schemas.microsoft.com/office/drawing/2014/main" id="{26B69540-5007-41D3-8B3F-535D177D0778}"/>
              </a:ext>
            </a:extLst>
          </p:cNvPr>
          <p:cNvPicPr>
            <a:picLocks noChangeAspect="1"/>
          </p:cNvPicPr>
          <p:nvPr/>
        </p:nvPicPr>
        <p:blipFill>
          <a:blip r:embed="rId2"/>
          <a:stretch>
            <a:fillRect/>
          </a:stretch>
        </p:blipFill>
        <p:spPr>
          <a:xfrm>
            <a:off x="1271101" y="2117868"/>
            <a:ext cx="6051263" cy="3025632"/>
          </a:xfrm>
          <a:prstGeom prst="rect">
            <a:avLst/>
          </a:prstGeom>
        </p:spPr>
      </p:pic>
    </p:spTree>
    <p:extLst>
      <p:ext uri="{BB962C8B-B14F-4D97-AF65-F5344CB8AC3E}">
        <p14:creationId xmlns:p14="http://schemas.microsoft.com/office/powerpoint/2010/main" val="384258573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7BDD8D-A7EB-CB5F-96C6-5BD53C86B2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794A08-D14D-3DAF-85E7-899139900E73}"/>
              </a:ext>
            </a:extLst>
          </p:cNvPr>
          <p:cNvSpPr>
            <a:spLocks noGrp="1"/>
          </p:cNvSpPr>
          <p:nvPr>
            <p:ph type="title"/>
          </p:nvPr>
        </p:nvSpPr>
        <p:spPr>
          <a:xfrm>
            <a:off x="203110" y="89210"/>
            <a:ext cx="8520600" cy="436160"/>
          </a:xfrm>
        </p:spPr>
        <p:txBody>
          <a:bodyPr/>
          <a:lstStyle/>
          <a:p>
            <a:r>
              <a:rPr lang="en-US" dirty="0"/>
              <a:t>NOT gate</a:t>
            </a:r>
          </a:p>
        </p:txBody>
      </p:sp>
      <p:sp>
        <p:nvSpPr>
          <p:cNvPr id="3" name="Content Placeholder 2">
            <a:extLst>
              <a:ext uri="{FF2B5EF4-FFF2-40B4-BE49-F238E27FC236}">
                <a16:creationId xmlns:a16="http://schemas.microsoft.com/office/drawing/2014/main" id="{C3000641-3F8D-9CEE-90F5-F91DAED83E2A}"/>
              </a:ext>
            </a:extLst>
          </p:cNvPr>
          <p:cNvSpPr>
            <a:spLocks noGrp="1"/>
          </p:cNvSpPr>
          <p:nvPr>
            <p:ph idx="1"/>
          </p:nvPr>
        </p:nvSpPr>
        <p:spPr>
          <a:xfrm>
            <a:off x="150015" y="609306"/>
            <a:ext cx="8520600" cy="4444984"/>
          </a:xfrm>
        </p:spPr>
        <p:txBody>
          <a:bodyPr/>
          <a:lstStyle/>
          <a:p>
            <a:r>
              <a:rPr lang="en-US" dirty="0"/>
              <a:t>It is also known as an inverter.</a:t>
            </a:r>
          </a:p>
          <a:p>
            <a:r>
              <a:rPr lang="en-US" dirty="0"/>
              <a:t>When the input signal is 0 (low), the output signal is 1 (high) and vice-versa.</a:t>
            </a:r>
          </a:p>
        </p:txBody>
      </p:sp>
      <p:pic>
        <p:nvPicPr>
          <p:cNvPr id="7" name="Picture 6">
            <a:extLst>
              <a:ext uri="{FF2B5EF4-FFF2-40B4-BE49-F238E27FC236}">
                <a16:creationId xmlns:a16="http://schemas.microsoft.com/office/drawing/2014/main" id="{E043AF4E-88B4-6EE7-0BBA-851D467D0940}"/>
              </a:ext>
            </a:extLst>
          </p:cNvPr>
          <p:cNvPicPr>
            <a:picLocks noChangeAspect="1"/>
          </p:cNvPicPr>
          <p:nvPr/>
        </p:nvPicPr>
        <p:blipFill>
          <a:blip r:embed="rId2"/>
          <a:stretch>
            <a:fillRect/>
          </a:stretch>
        </p:blipFill>
        <p:spPr>
          <a:xfrm>
            <a:off x="1272596" y="1947412"/>
            <a:ext cx="6381628" cy="3190814"/>
          </a:xfrm>
          <a:prstGeom prst="rect">
            <a:avLst/>
          </a:prstGeom>
        </p:spPr>
      </p:pic>
    </p:spTree>
    <p:extLst>
      <p:ext uri="{BB962C8B-B14F-4D97-AF65-F5344CB8AC3E}">
        <p14:creationId xmlns:p14="http://schemas.microsoft.com/office/powerpoint/2010/main" val="90845393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20E9C4-CAFE-6234-DB48-084C73B3A9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435FFC-1EED-AE28-00F4-A7BA5FC63D16}"/>
              </a:ext>
            </a:extLst>
          </p:cNvPr>
          <p:cNvSpPr>
            <a:spLocks noGrp="1"/>
          </p:cNvSpPr>
          <p:nvPr>
            <p:ph type="title"/>
          </p:nvPr>
        </p:nvSpPr>
        <p:spPr/>
        <p:txBody>
          <a:bodyPr/>
          <a:lstStyle/>
          <a:p>
            <a:r>
              <a:rPr lang="en-US" dirty="0"/>
              <a:t>NOR gate</a:t>
            </a:r>
          </a:p>
        </p:txBody>
      </p:sp>
      <p:sp>
        <p:nvSpPr>
          <p:cNvPr id="3" name="Content Placeholder 2">
            <a:extLst>
              <a:ext uri="{FF2B5EF4-FFF2-40B4-BE49-F238E27FC236}">
                <a16:creationId xmlns:a16="http://schemas.microsoft.com/office/drawing/2014/main" id="{97ABB372-0EAB-17D0-89CB-F45EBF6F505A}"/>
              </a:ext>
            </a:extLst>
          </p:cNvPr>
          <p:cNvSpPr>
            <a:spLocks noGrp="1"/>
          </p:cNvSpPr>
          <p:nvPr>
            <p:ph idx="1"/>
          </p:nvPr>
        </p:nvSpPr>
        <p:spPr>
          <a:xfrm>
            <a:off x="81323" y="619760"/>
            <a:ext cx="8805508" cy="4340140"/>
          </a:xfrm>
        </p:spPr>
        <p:txBody>
          <a:bodyPr/>
          <a:lstStyle/>
          <a:p>
            <a:r>
              <a:rPr lang="en-US" dirty="0"/>
              <a:t>The output state of the NOR gate will be high (1) when all the inputs are low (0).</a:t>
            </a:r>
          </a:p>
          <a:p>
            <a:r>
              <a:rPr lang="en-US" dirty="0"/>
              <a:t>NOR gate returns the complement result of the OR gate, as it is basically a combination of OR gate and NOT gate</a:t>
            </a:r>
          </a:p>
        </p:txBody>
      </p:sp>
      <p:pic>
        <p:nvPicPr>
          <p:cNvPr id="9" name="Picture 8">
            <a:extLst>
              <a:ext uri="{FF2B5EF4-FFF2-40B4-BE49-F238E27FC236}">
                <a16:creationId xmlns:a16="http://schemas.microsoft.com/office/drawing/2014/main" id="{6FA6B5F4-E735-4268-DBBA-132564253C19}"/>
              </a:ext>
            </a:extLst>
          </p:cNvPr>
          <p:cNvPicPr>
            <a:picLocks noChangeAspect="1"/>
          </p:cNvPicPr>
          <p:nvPr/>
        </p:nvPicPr>
        <p:blipFill>
          <a:blip r:embed="rId2"/>
          <a:stretch>
            <a:fillRect/>
          </a:stretch>
        </p:blipFill>
        <p:spPr>
          <a:xfrm>
            <a:off x="1811101" y="2302960"/>
            <a:ext cx="5681079" cy="2840540"/>
          </a:xfrm>
          <a:prstGeom prst="rect">
            <a:avLst/>
          </a:prstGeom>
        </p:spPr>
      </p:pic>
    </p:spTree>
    <p:extLst>
      <p:ext uri="{BB962C8B-B14F-4D97-AF65-F5344CB8AC3E}">
        <p14:creationId xmlns:p14="http://schemas.microsoft.com/office/powerpoint/2010/main" val="76651118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D4A1A3-9868-74E7-69C3-736CCBBD4E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11F305-F6A6-A627-A94E-77D6948EB6BA}"/>
              </a:ext>
            </a:extLst>
          </p:cNvPr>
          <p:cNvSpPr>
            <a:spLocks noGrp="1"/>
          </p:cNvSpPr>
          <p:nvPr>
            <p:ph type="title"/>
          </p:nvPr>
        </p:nvSpPr>
        <p:spPr>
          <a:xfrm>
            <a:off x="227123" y="89816"/>
            <a:ext cx="8520600" cy="436160"/>
          </a:xfrm>
        </p:spPr>
        <p:txBody>
          <a:bodyPr/>
          <a:lstStyle/>
          <a:p>
            <a:r>
              <a:rPr lang="en-US" dirty="0"/>
              <a:t>NAND gate</a:t>
            </a:r>
          </a:p>
        </p:txBody>
      </p:sp>
      <p:sp>
        <p:nvSpPr>
          <p:cNvPr id="3" name="Content Placeholder 2">
            <a:extLst>
              <a:ext uri="{FF2B5EF4-FFF2-40B4-BE49-F238E27FC236}">
                <a16:creationId xmlns:a16="http://schemas.microsoft.com/office/drawing/2014/main" id="{F319AFEB-CAD8-F4B6-02BC-29B521555B84}"/>
              </a:ext>
            </a:extLst>
          </p:cNvPr>
          <p:cNvSpPr>
            <a:spLocks noGrp="1"/>
          </p:cNvSpPr>
          <p:nvPr>
            <p:ph idx="1"/>
          </p:nvPr>
        </p:nvSpPr>
        <p:spPr>
          <a:xfrm>
            <a:off x="227123" y="525976"/>
            <a:ext cx="8520600" cy="4297500"/>
          </a:xfrm>
        </p:spPr>
        <p:txBody>
          <a:bodyPr/>
          <a:lstStyle/>
          <a:p>
            <a:r>
              <a:rPr lang="en-US" dirty="0"/>
              <a:t>The output of the NAND gate will be 0 (low) when both inputs are 1 (high) and 0 (low) otherwise.</a:t>
            </a:r>
          </a:p>
          <a:p>
            <a:r>
              <a:rPr lang="en-US" dirty="0"/>
              <a:t>It simply performs the inverted operation of AND gate as it is a combination of AND gate and the NOT gate.</a:t>
            </a:r>
          </a:p>
        </p:txBody>
      </p:sp>
      <p:pic>
        <p:nvPicPr>
          <p:cNvPr id="5" name="Picture 4">
            <a:extLst>
              <a:ext uri="{FF2B5EF4-FFF2-40B4-BE49-F238E27FC236}">
                <a16:creationId xmlns:a16="http://schemas.microsoft.com/office/drawing/2014/main" id="{A8BEF694-7FDD-BBA4-DDBD-BF33B919A3BD}"/>
              </a:ext>
            </a:extLst>
          </p:cNvPr>
          <p:cNvPicPr>
            <a:picLocks noChangeAspect="1"/>
          </p:cNvPicPr>
          <p:nvPr/>
        </p:nvPicPr>
        <p:blipFill>
          <a:blip r:embed="rId2"/>
          <a:stretch>
            <a:fillRect/>
          </a:stretch>
        </p:blipFill>
        <p:spPr>
          <a:xfrm>
            <a:off x="1852397" y="2214470"/>
            <a:ext cx="5858059" cy="2929030"/>
          </a:xfrm>
          <a:prstGeom prst="rect">
            <a:avLst/>
          </a:prstGeom>
        </p:spPr>
      </p:pic>
    </p:spTree>
    <p:extLst>
      <p:ext uri="{BB962C8B-B14F-4D97-AF65-F5344CB8AC3E}">
        <p14:creationId xmlns:p14="http://schemas.microsoft.com/office/powerpoint/2010/main" val="278959610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6ACCB8-EEAA-89D5-2AFC-760C08C427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2A6034-7024-79EF-2808-3FC36B7683F6}"/>
              </a:ext>
            </a:extLst>
          </p:cNvPr>
          <p:cNvSpPr>
            <a:spLocks noGrp="1"/>
          </p:cNvSpPr>
          <p:nvPr>
            <p:ph type="title"/>
          </p:nvPr>
        </p:nvSpPr>
        <p:spPr>
          <a:xfrm>
            <a:off x="215400" y="78092"/>
            <a:ext cx="8520600" cy="436160"/>
          </a:xfrm>
        </p:spPr>
        <p:txBody>
          <a:bodyPr/>
          <a:lstStyle/>
          <a:p>
            <a:r>
              <a:rPr lang="en-US" dirty="0"/>
              <a:t>XOR gate</a:t>
            </a:r>
          </a:p>
        </p:txBody>
      </p:sp>
      <p:sp>
        <p:nvSpPr>
          <p:cNvPr id="3" name="Content Placeholder 2">
            <a:extLst>
              <a:ext uri="{FF2B5EF4-FFF2-40B4-BE49-F238E27FC236}">
                <a16:creationId xmlns:a16="http://schemas.microsoft.com/office/drawing/2014/main" id="{C61BC704-A44A-A2C9-E840-1B4C7FB2BEBD}"/>
              </a:ext>
            </a:extLst>
          </p:cNvPr>
          <p:cNvSpPr>
            <a:spLocks noGrp="1"/>
          </p:cNvSpPr>
          <p:nvPr>
            <p:ph idx="1"/>
          </p:nvPr>
        </p:nvSpPr>
        <p:spPr>
          <a:xfrm>
            <a:off x="215400" y="562754"/>
            <a:ext cx="8520600" cy="3416400"/>
          </a:xfrm>
        </p:spPr>
        <p:txBody>
          <a:bodyPr/>
          <a:lstStyle/>
          <a:p>
            <a:r>
              <a:rPr lang="en-US" dirty="0"/>
              <a:t>The output of an XOR gate is 1 (high) only when its two inputs are not similar, and 0 (low) otherwise.</a:t>
            </a:r>
          </a:p>
        </p:txBody>
      </p:sp>
      <p:pic>
        <p:nvPicPr>
          <p:cNvPr id="5" name="Picture 4">
            <a:extLst>
              <a:ext uri="{FF2B5EF4-FFF2-40B4-BE49-F238E27FC236}">
                <a16:creationId xmlns:a16="http://schemas.microsoft.com/office/drawing/2014/main" id="{B6789BE5-0747-3EFF-9DD1-4E5FA44B90FF}"/>
              </a:ext>
            </a:extLst>
          </p:cNvPr>
          <p:cNvPicPr>
            <a:picLocks noChangeAspect="1"/>
          </p:cNvPicPr>
          <p:nvPr/>
        </p:nvPicPr>
        <p:blipFill>
          <a:blip r:embed="rId2"/>
          <a:stretch>
            <a:fillRect/>
          </a:stretch>
        </p:blipFill>
        <p:spPr>
          <a:xfrm>
            <a:off x="1032387" y="1501016"/>
            <a:ext cx="6748862" cy="3374431"/>
          </a:xfrm>
          <a:prstGeom prst="rect">
            <a:avLst/>
          </a:prstGeom>
        </p:spPr>
      </p:pic>
    </p:spTree>
    <p:extLst>
      <p:ext uri="{BB962C8B-B14F-4D97-AF65-F5344CB8AC3E}">
        <p14:creationId xmlns:p14="http://schemas.microsoft.com/office/powerpoint/2010/main" val="155136596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D6A54F-55F5-D369-5D21-B78B38D23B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4D5942-BDFC-CBBF-528C-D0E72FB8437F}"/>
              </a:ext>
            </a:extLst>
          </p:cNvPr>
          <p:cNvSpPr>
            <a:spLocks noGrp="1"/>
          </p:cNvSpPr>
          <p:nvPr>
            <p:ph type="title"/>
          </p:nvPr>
        </p:nvSpPr>
        <p:spPr/>
        <p:txBody>
          <a:bodyPr/>
          <a:lstStyle/>
          <a:p>
            <a:r>
              <a:rPr lang="en-US" dirty="0"/>
              <a:t>XNOR gate</a:t>
            </a:r>
          </a:p>
        </p:txBody>
      </p:sp>
      <p:sp>
        <p:nvSpPr>
          <p:cNvPr id="3" name="Content Placeholder 2">
            <a:extLst>
              <a:ext uri="{FF2B5EF4-FFF2-40B4-BE49-F238E27FC236}">
                <a16:creationId xmlns:a16="http://schemas.microsoft.com/office/drawing/2014/main" id="{4D23A8C6-87BE-DE4C-74C2-391D99AEC3C0}"/>
              </a:ext>
            </a:extLst>
          </p:cNvPr>
          <p:cNvSpPr>
            <a:spLocks noGrp="1"/>
          </p:cNvSpPr>
          <p:nvPr>
            <p:ph idx="1"/>
          </p:nvPr>
        </p:nvSpPr>
        <p:spPr>
          <a:xfrm>
            <a:off x="291600" y="662400"/>
            <a:ext cx="8520600" cy="4297500"/>
          </a:xfrm>
        </p:spPr>
        <p:txBody>
          <a:bodyPr/>
          <a:lstStyle/>
          <a:p>
            <a:r>
              <a:rPr lang="en-US" dirty="0"/>
              <a:t>The XNOR gate is the combination of XOR gate and NOT gate.</a:t>
            </a:r>
          </a:p>
          <a:p>
            <a:r>
              <a:rPr lang="en-US" dirty="0"/>
              <a:t>The output of the XNOR gate is 1 (high) when both the inputs are 1(high) or both are o (low).</a:t>
            </a:r>
          </a:p>
        </p:txBody>
      </p:sp>
      <p:pic>
        <p:nvPicPr>
          <p:cNvPr id="5" name="Picture 4">
            <a:extLst>
              <a:ext uri="{FF2B5EF4-FFF2-40B4-BE49-F238E27FC236}">
                <a16:creationId xmlns:a16="http://schemas.microsoft.com/office/drawing/2014/main" id="{86C59E25-0F6F-952C-5537-B265FEBC82A1}"/>
              </a:ext>
            </a:extLst>
          </p:cNvPr>
          <p:cNvPicPr>
            <a:picLocks noChangeAspect="1"/>
          </p:cNvPicPr>
          <p:nvPr/>
        </p:nvPicPr>
        <p:blipFill>
          <a:blip r:embed="rId2"/>
          <a:stretch>
            <a:fillRect/>
          </a:stretch>
        </p:blipFill>
        <p:spPr>
          <a:xfrm>
            <a:off x="1794141" y="2365641"/>
            <a:ext cx="5555717" cy="2777859"/>
          </a:xfrm>
          <a:prstGeom prst="rect">
            <a:avLst/>
          </a:prstGeom>
        </p:spPr>
      </p:pic>
    </p:spTree>
    <p:extLst>
      <p:ext uri="{BB962C8B-B14F-4D97-AF65-F5344CB8AC3E}">
        <p14:creationId xmlns:p14="http://schemas.microsoft.com/office/powerpoint/2010/main" val="203469464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92CA2F-A0C7-3D4A-3B6B-CC130E176C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476C31-CE57-6396-73BE-FB2B3CCB9154}"/>
              </a:ext>
            </a:extLst>
          </p:cNvPr>
          <p:cNvSpPr>
            <a:spLocks noGrp="1"/>
          </p:cNvSpPr>
          <p:nvPr>
            <p:ph type="title"/>
          </p:nvPr>
        </p:nvSpPr>
        <p:spPr>
          <a:xfrm>
            <a:off x="203109" y="42015"/>
            <a:ext cx="8520600" cy="719002"/>
          </a:xfrm>
        </p:spPr>
        <p:txBody>
          <a:bodyPr/>
          <a:lstStyle/>
          <a:p>
            <a:r>
              <a:rPr lang="en-US" dirty="0"/>
              <a:t>Limitations of Propositional Logic in the context of computer science and engineering.</a:t>
            </a:r>
          </a:p>
        </p:txBody>
      </p:sp>
      <p:sp>
        <p:nvSpPr>
          <p:cNvPr id="3" name="Content Placeholder 2">
            <a:extLst>
              <a:ext uri="{FF2B5EF4-FFF2-40B4-BE49-F238E27FC236}">
                <a16:creationId xmlns:a16="http://schemas.microsoft.com/office/drawing/2014/main" id="{A4A6F8C0-0F8E-E207-D0E1-775F097A4C58}"/>
              </a:ext>
            </a:extLst>
          </p:cNvPr>
          <p:cNvSpPr>
            <a:spLocks noGrp="1"/>
          </p:cNvSpPr>
          <p:nvPr>
            <p:ph idx="1"/>
          </p:nvPr>
        </p:nvSpPr>
        <p:spPr>
          <a:xfrm>
            <a:off x="203109" y="1004562"/>
            <a:ext cx="8520600" cy="3950895"/>
          </a:xfrm>
        </p:spPr>
        <p:txBody>
          <a:bodyPr/>
          <a:lstStyle/>
          <a:p>
            <a:r>
              <a:rPr lang="en-US" dirty="0"/>
              <a:t>Computational complexity as the number of variables increase.</a:t>
            </a:r>
          </a:p>
          <a:p>
            <a:pPr marL="114300" indent="0">
              <a:buNone/>
            </a:pPr>
            <a:r>
              <a:rPr lang="en-US" dirty="0"/>
              <a:t>The use of truth tables to determine the truth values of   propositions is only possible if the number of variables is small. For large number of variables, it becomes complex  and cumbersome.</a:t>
            </a:r>
          </a:p>
          <a:p>
            <a:pPr marL="114300" indent="0">
              <a:buNone/>
            </a:pPr>
            <a:r>
              <a:rPr lang="en-US" dirty="0"/>
              <a:t>For instance, while a truth table for 2 variables has 4 rows, a system with just 20 variables will require over 1 million rows (2</a:t>
            </a:r>
            <a:r>
              <a:rPr lang="en-US" baseline="30000" dirty="0"/>
              <a:t>20</a:t>
            </a:r>
            <a:r>
              <a:rPr lang="en-US" dirty="0"/>
              <a:t>).</a:t>
            </a:r>
          </a:p>
          <a:p>
            <a:pPr marL="114300" indent="0">
              <a:buNone/>
            </a:pPr>
            <a:endParaRPr lang="en-US" dirty="0"/>
          </a:p>
        </p:txBody>
      </p:sp>
    </p:spTree>
    <p:extLst>
      <p:ext uri="{BB962C8B-B14F-4D97-AF65-F5344CB8AC3E}">
        <p14:creationId xmlns:p14="http://schemas.microsoft.com/office/powerpoint/2010/main" val="26012595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3E59EA-A05A-895C-EC36-C12462B17E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2953F0-242C-5027-6C11-79BA9D6EEFDD}"/>
              </a:ext>
            </a:extLst>
          </p:cNvPr>
          <p:cNvSpPr>
            <a:spLocks noGrp="1"/>
          </p:cNvSpPr>
          <p:nvPr>
            <p:ph type="title"/>
          </p:nvPr>
        </p:nvSpPr>
        <p:spPr/>
        <p:txBody>
          <a:bodyPr/>
          <a:lstStyle/>
          <a:p>
            <a:r>
              <a:rPr lang="en-US" dirty="0"/>
              <a:t> Lack of Quantifiers.</a:t>
            </a:r>
            <a:br>
              <a:rPr lang="en-US" dirty="0"/>
            </a:br>
            <a:endParaRPr lang="en-US" dirty="0"/>
          </a:p>
        </p:txBody>
      </p:sp>
      <p:sp>
        <p:nvSpPr>
          <p:cNvPr id="3" name="Content Placeholder 2">
            <a:extLst>
              <a:ext uri="{FF2B5EF4-FFF2-40B4-BE49-F238E27FC236}">
                <a16:creationId xmlns:a16="http://schemas.microsoft.com/office/drawing/2014/main" id="{8CC9D128-ADD6-7461-C322-564B97521D43}"/>
              </a:ext>
            </a:extLst>
          </p:cNvPr>
          <p:cNvSpPr>
            <a:spLocks noGrp="1"/>
          </p:cNvSpPr>
          <p:nvPr>
            <p:ph idx="1"/>
          </p:nvPr>
        </p:nvSpPr>
        <p:spPr>
          <a:xfrm>
            <a:off x="291600" y="662400"/>
            <a:ext cx="8520600" cy="4297500"/>
          </a:xfrm>
        </p:spPr>
        <p:txBody>
          <a:bodyPr/>
          <a:lstStyle/>
          <a:p>
            <a:pPr marL="114300" indent="0">
              <a:buNone/>
            </a:pPr>
            <a:r>
              <a:rPr lang="en-US" dirty="0"/>
              <a:t>Propositional logic treats atomic propositions as a whole unit. It cannot analyze properties of individuals or relationships between them.</a:t>
            </a:r>
          </a:p>
          <a:p>
            <a:pPr marL="114300" indent="0">
              <a:buNone/>
            </a:pPr>
            <a:r>
              <a:rPr lang="en-US" dirty="0"/>
              <a:t>For instance, the statement "Every computer on this network is secure" cannot be represented effectively in propositional logic because it lacks the use of quantifiers like “for every" or “there exists”, where as such predicate logic handle such statements.</a:t>
            </a:r>
          </a:p>
        </p:txBody>
      </p:sp>
    </p:spTree>
    <p:extLst>
      <p:ext uri="{BB962C8B-B14F-4D97-AF65-F5344CB8AC3E}">
        <p14:creationId xmlns:p14="http://schemas.microsoft.com/office/powerpoint/2010/main" val="263482802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7B5AAA-DAA1-6341-D207-2903B88A61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EBB377-BA0E-C626-3294-CF20438B5D79}"/>
              </a:ext>
            </a:extLst>
          </p:cNvPr>
          <p:cNvSpPr>
            <a:spLocks noGrp="1"/>
          </p:cNvSpPr>
          <p:nvPr>
            <p:ph type="title"/>
          </p:nvPr>
        </p:nvSpPr>
        <p:spPr/>
        <p:txBody>
          <a:bodyPr/>
          <a:lstStyle/>
          <a:p>
            <a:r>
              <a:rPr lang="en-US" dirty="0"/>
              <a:t>Inability to express relationships and identity</a:t>
            </a:r>
          </a:p>
        </p:txBody>
      </p:sp>
      <p:sp>
        <p:nvSpPr>
          <p:cNvPr id="3" name="Content Placeholder 2">
            <a:extLst>
              <a:ext uri="{FF2B5EF4-FFF2-40B4-BE49-F238E27FC236}">
                <a16:creationId xmlns:a16="http://schemas.microsoft.com/office/drawing/2014/main" id="{4A2F48DF-1498-4BAC-683F-DEB52D3EB58C}"/>
              </a:ext>
            </a:extLst>
          </p:cNvPr>
          <p:cNvSpPr>
            <a:spLocks noGrp="1"/>
          </p:cNvSpPr>
          <p:nvPr>
            <p:ph idx="1"/>
          </p:nvPr>
        </p:nvSpPr>
        <p:spPr>
          <a:xfrm>
            <a:off x="291600" y="662399"/>
            <a:ext cx="8520600" cy="4411045"/>
          </a:xfrm>
        </p:spPr>
        <p:txBody>
          <a:bodyPr/>
          <a:lstStyle/>
          <a:p>
            <a:r>
              <a:rPr lang="en-US" dirty="0"/>
              <a:t>This system cannot express that two different variables refer to the same object or are related in a specific way. Reasoning about arithmetic or sets often requires showing how x relates to y. Propositional logic cannot do this because it does not use variables to represent individual objects, but rather only entire statements.</a:t>
            </a:r>
          </a:p>
          <a:p>
            <a:pPr marL="114300" indent="0">
              <a:buNone/>
            </a:pPr>
            <a:r>
              <a:rPr lang="en-US" dirty="0"/>
              <a:t>It also lacks the "equal sign" for objects, meaning it cannot formally state that "The Morning Star is the same as the Evening Star“(the use of implication instead results into complexities).</a:t>
            </a:r>
          </a:p>
        </p:txBody>
      </p:sp>
    </p:spTree>
    <p:extLst>
      <p:ext uri="{BB962C8B-B14F-4D97-AF65-F5344CB8AC3E}">
        <p14:creationId xmlns:p14="http://schemas.microsoft.com/office/powerpoint/2010/main" val="87113201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7292B2-3E72-4938-6835-122DBDC9A1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037495-9470-C8E5-A80C-53B7E6212356}"/>
              </a:ext>
            </a:extLst>
          </p:cNvPr>
          <p:cNvSpPr>
            <a:spLocks noGrp="1"/>
          </p:cNvSpPr>
          <p:nvPr>
            <p:ph type="title"/>
          </p:nvPr>
        </p:nvSpPr>
        <p:spPr/>
        <p:txBody>
          <a:bodyPr/>
          <a:lstStyle/>
          <a:p>
            <a:r>
              <a:rPr lang="en-US" dirty="0"/>
              <a:t>Its static nature and the strict truth constraint</a:t>
            </a:r>
          </a:p>
        </p:txBody>
      </p:sp>
      <p:sp>
        <p:nvSpPr>
          <p:cNvPr id="3" name="Content Placeholder 2">
            <a:extLst>
              <a:ext uri="{FF2B5EF4-FFF2-40B4-BE49-F238E27FC236}">
                <a16:creationId xmlns:a16="http://schemas.microsoft.com/office/drawing/2014/main" id="{311BC42A-E9AE-4C87-636D-2EA2EFE8CE8F}"/>
              </a:ext>
            </a:extLst>
          </p:cNvPr>
          <p:cNvSpPr>
            <a:spLocks noGrp="1"/>
          </p:cNvSpPr>
          <p:nvPr>
            <p:ph idx="1"/>
          </p:nvPr>
        </p:nvSpPr>
        <p:spPr>
          <a:xfrm>
            <a:off x="291600" y="662400"/>
            <a:ext cx="8520600" cy="4297500"/>
          </a:xfrm>
        </p:spPr>
        <p:txBody>
          <a:bodyPr/>
          <a:lstStyle/>
          <a:p>
            <a:r>
              <a:rPr lang="en-US" dirty="0"/>
              <a:t>Propositional logic operates under the strict law that every statement is either true or false. It cannot naturally handle time-dependent truths (e.g. "It is raining now, but it will stop later"). This requires "temporal logic“.</a:t>
            </a:r>
          </a:p>
          <a:p>
            <a:pPr marL="114300" indent="0">
              <a:buNone/>
            </a:pPr>
            <a:r>
              <a:rPr lang="en-US" dirty="0"/>
              <a:t>  It also does not account for probabilistic truths(e.g. the certainty that something is true is 80%), which are essential for modern artificial intelligence systems dealing with noisy data.</a:t>
            </a:r>
          </a:p>
        </p:txBody>
      </p:sp>
    </p:spTree>
    <p:extLst>
      <p:ext uri="{BB962C8B-B14F-4D97-AF65-F5344CB8AC3E}">
        <p14:creationId xmlns:p14="http://schemas.microsoft.com/office/powerpoint/2010/main" val="73798479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331D35-E567-742B-DFBC-42FD6B3A0482}"/>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49A48FE4-8045-BBD3-FA90-CD9C1DAA9D39}"/>
              </a:ext>
            </a:extLst>
          </p:cNvPr>
          <p:cNvSpPr>
            <a:spLocks noGrp="1"/>
          </p:cNvSpPr>
          <p:nvPr>
            <p:ph idx="1"/>
          </p:nvPr>
        </p:nvSpPr>
        <p:spPr>
          <a:xfrm>
            <a:off x="291600" y="662399"/>
            <a:ext cx="8520600" cy="4434643"/>
          </a:xfrm>
        </p:spPr>
        <p:txBody>
          <a:bodyPr/>
          <a:lstStyle/>
          <a:p>
            <a:r>
              <a:rPr lang="en-US" dirty="0"/>
              <a:t>Bobzien, S.(2003). Logic. In B. Inwood(Ed.), The Cambridge companion to the Stoics (pp. 85-123). Cambridge University Press.</a:t>
            </a:r>
          </a:p>
          <a:p>
            <a:r>
              <a:rPr lang="en-US" dirty="0"/>
              <a:t>Rosen, K. H. (2019). Discrete mathematics and its applications (7th ed.) (pp 1-78). McGraw-Hill Education</a:t>
            </a:r>
          </a:p>
          <a:p>
            <a:r>
              <a:rPr lang="en-US" dirty="0"/>
              <a:t>Wikipedia contributors. (2026, March 23). Propositional logic. In Wikipedia, The Free Encyclopedia.</a:t>
            </a:r>
          </a:p>
          <a:p>
            <a:pPr marL="114300" indent="0">
              <a:buNone/>
            </a:pPr>
            <a:r>
              <a:rPr lang="en-US" dirty="0">
                <a:hlinkClick r:id="rId2"/>
              </a:rPr>
              <a:t>https://en.wikipedia.org/wiki/Propositional_logic#History</a:t>
            </a:r>
            <a:endParaRPr lang="en-US" dirty="0"/>
          </a:p>
          <a:p>
            <a:pPr marL="114300" indent="0">
              <a:buNone/>
            </a:pPr>
            <a:endParaRPr lang="en-US" dirty="0"/>
          </a:p>
          <a:p>
            <a:endParaRPr lang="en-US" dirty="0"/>
          </a:p>
        </p:txBody>
      </p:sp>
    </p:spTree>
    <p:extLst>
      <p:ext uri="{BB962C8B-B14F-4D97-AF65-F5344CB8AC3E}">
        <p14:creationId xmlns:p14="http://schemas.microsoft.com/office/powerpoint/2010/main" val="272732803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FE2413-85AE-B69B-3AF5-7953652C0749}"/>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DF030A1C-F221-1C6E-4E24-00925F408B1D}"/>
              </a:ext>
            </a:extLst>
          </p:cNvPr>
          <p:cNvSpPr>
            <a:spLocks noGrp="1"/>
          </p:cNvSpPr>
          <p:nvPr>
            <p:ph idx="1"/>
          </p:nvPr>
        </p:nvSpPr>
        <p:spPr/>
        <p:txBody>
          <a:bodyPr/>
          <a:lstStyle/>
          <a:p>
            <a:r>
              <a:rPr lang="en-US" dirty="0"/>
              <a:t>Łukasiewicz, J. (1957). Aristotle’s syllogistic from the standpoint of modern formal logic(2</a:t>
            </a:r>
            <a:r>
              <a:rPr lang="en-US" baseline="30000" dirty="0"/>
              <a:t>nd</a:t>
            </a:r>
            <a:r>
              <a:rPr lang="en-US" dirty="0"/>
              <a:t> ed.). Clarendon Press.</a:t>
            </a:r>
          </a:p>
          <a:p>
            <a:r>
              <a:rPr lang="en-US" dirty="0"/>
              <a:t>Tutorials Point. (2026). Discrete mathematics - propositional logic.        https://www.tutorialspoint.com/discrete_mathematics/discrete_mathematics_propositional_logic.htm</a:t>
            </a:r>
          </a:p>
          <a:p>
            <a:r>
              <a:rPr lang="en-US" dirty="0"/>
              <a:t>GeeksforGeeks. (2025, September 24). Propositional logic. </a:t>
            </a:r>
            <a:r>
              <a:rPr lang="en-US" dirty="0">
                <a:hlinkClick r:id="rId2"/>
              </a:rPr>
              <a:t>https://www.geeksforgeeks.org/engineering-mathematics/proposition-logic/</a:t>
            </a:r>
            <a:endParaRPr lang="en-US" dirty="0"/>
          </a:p>
          <a:p>
            <a:pPr marL="114300" indent="0">
              <a:buNone/>
            </a:pPr>
            <a:endParaRPr lang="en-US" dirty="0"/>
          </a:p>
        </p:txBody>
      </p:sp>
    </p:spTree>
    <p:extLst>
      <p:ext uri="{BB962C8B-B14F-4D97-AF65-F5344CB8AC3E}">
        <p14:creationId xmlns:p14="http://schemas.microsoft.com/office/powerpoint/2010/main" val="428335578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41C133-A167-F7A1-A3BA-F97B5041CCE0}"/>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CD9ADB2E-C06D-40FA-2D15-0DBE39DF09CE}"/>
              </a:ext>
            </a:extLst>
          </p:cNvPr>
          <p:cNvSpPr>
            <a:spLocks noGrp="1"/>
          </p:cNvSpPr>
          <p:nvPr>
            <p:ph idx="1"/>
          </p:nvPr>
        </p:nvSpPr>
        <p:spPr/>
        <p:txBody>
          <a:bodyPr/>
          <a:lstStyle/>
          <a:p>
            <a:r>
              <a:rPr lang="en-US" dirty="0"/>
              <a:t>M. Wooldridge. Propositional logic(1). Oxford Department of computer science.(pp. 1-21).   </a:t>
            </a:r>
            <a:r>
              <a:rPr lang="en-US" dirty="0">
                <a:hlinkClick r:id="rId2"/>
              </a:rPr>
              <a:t>https://www.cs.ox.ac.uk/people/michael.wooldridge/teaching/soft-eng/lect07.pdf</a:t>
            </a:r>
            <a:endParaRPr lang="en-US" dirty="0"/>
          </a:p>
          <a:p>
            <a:r>
              <a:rPr lang="en-US" dirty="0"/>
              <a:t>B. Selman, H. Kautz, D. McAllester. Ten challenges in propositional reasoning and search. </a:t>
            </a:r>
            <a:r>
              <a:rPr lang="en-US" dirty="0">
                <a:hlinkClick r:id="rId3"/>
              </a:rPr>
              <a:t>https://www.cs.cornell.edu/selman/papers/pdf/97.ijcai.challenge.pdf</a:t>
            </a:r>
            <a:endParaRPr lang="en-US" dirty="0"/>
          </a:p>
          <a:p>
            <a:endParaRPr lang="en-US" dirty="0"/>
          </a:p>
          <a:p>
            <a:endParaRPr lang="en-US" dirty="0"/>
          </a:p>
        </p:txBody>
      </p:sp>
    </p:spTree>
    <p:extLst>
      <p:ext uri="{BB962C8B-B14F-4D97-AF65-F5344CB8AC3E}">
        <p14:creationId xmlns:p14="http://schemas.microsoft.com/office/powerpoint/2010/main" val="159202021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DDA8FE-F8B7-D4D2-5EBB-2C48EF1A6D5A}"/>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AEF14608-8C8F-D600-040E-E5668A8B1891}"/>
              </a:ext>
            </a:extLst>
          </p:cNvPr>
          <p:cNvSpPr>
            <a:spLocks noGrp="1"/>
          </p:cNvSpPr>
          <p:nvPr>
            <p:ph idx="1"/>
          </p:nvPr>
        </p:nvSpPr>
        <p:spPr/>
        <p:txBody>
          <a:bodyPr/>
          <a:lstStyle/>
          <a:p>
            <a:r>
              <a:rPr lang="en-US" dirty="0"/>
              <a:t>GeeksforGeeks. Logic gates. </a:t>
            </a:r>
            <a:r>
              <a:rPr lang="en-US" dirty="0">
                <a:hlinkClick r:id="rId2"/>
              </a:rPr>
              <a:t>https://www.geeksforgeeks.org/digital-logic/logic-gates/</a:t>
            </a:r>
            <a:endParaRPr lang="en-US" dirty="0"/>
          </a:p>
          <a:p>
            <a:endParaRPr lang="en-US" dirty="0"/>
          </a:p>
        </p:txBody>
      </p:sp>
    </p:spTree>
    <p:extLst>
      <p:ext uri="{BB962C8B-B14F-4D97-AF65-F5344CB8AC3E}">
        <p14:creationId xmlns:p14="http://schemas.microsoft.com/office/powerpoint/2010/main" val="1965121512"/>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58894</TotalTime>
  <Words>6938</Words>
  <Application>Microsoft Office PowerPoint</Application>
  <PresentationFormat>On-screen Show (16:9)</PresentationFormat>
  <Paragraphs>795</Paragraphs>
  <Slides>85</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85</vt:i4>
      </vt:variant>
    </vt:vector>
  </HeadingPairs>
  <TitlesOfParts>
    <vt:vector size="91" baseType="lpstr">
      <vt:lpstr>Arial</vt:lpstr>
      <vt:lpstr>Proxima Nova</vt:lpstr>
      <vt:lpstr>Times New Roman</vt:lpstr>
      <vt:lpstr>Calibri</vt:lpstr>
      <vt:lpstr>Constantia</vt:lpstr>
      <vt:lpstr>Simple Light</vt:lpstr>
      <vt:lpstr>Discrete Structure (IS143)</vt:lpstr>
      <vt:lpstr>Group 20 Members</vt:lpstr>
      <vt:lpstr>PowerPoint Presentation</vt:lpstr>
      <vt:lpstr>PowerPoint Presentation</vt:lpstr>
      <vt:lpstr>PowerPoint Presentation</vt:lpstr>
      <vt:lpstr> </vt:lpstr>
      <vt:lpstr> </vt:lpstr>
      <vt:lpstr>History of propositional logic </vt:lpstr>
      <vt:lpstr> </vt:lpstr>
      <vt:lpstr>PowerPoint Presentation</vt:lpstr>
      <vt:lpstr>PowerPoint Presentation</vt:lpstr>
      <vt:lpstr>PowerPoint Presentation</vt:lpstr>
      <vt:lpstr>PowerPoint Presentation</vt:lpstr>
      <vt:lpstr>PowerPoint Presentation</vt:lpstr>
      <vt:lpstr>Definitions of the Propositional Logic</vt:lpstr>
      <vt:lpstr> </vt:lpstr>
      <vt:lpstr>Propositions and propositional variables</vt:lpstr>
      <vt:lpstr>What makes a statement a proposition?</vt:lpstr>
      <vt:lpstr> </vt:lpstr>
      <vt:lpstr> Types of propositions</vt:lpstr>
      <vt:lpstr> </vt:lpstr>
      <vt:lpstr>Propositional variables</vt:lpstr>
      <vt:lpstr> </vt:lpstr>
      <vt:lpstr>Truth table</vt:lpstr>
      <vt:lpstr>Logical connectives</vt:lpstr>
      <vt:lpstr> </vt:lpstr>
      <vt:lpstr>Negation</vt:lpstr>
      <vt:lpstr>Conjunction</vt:lpstr>
      <vt:lpstr> </vt:lpstr>
      <vt:lpstr>Disjunction</vt:lpstr>
      <vt:lpstr> </vt:lpstr>
      <vt:lpstr>Exclusive OR</vt:lpstr>
      <vt:lpstr> </vt:lpstr>
      <vt:lpstr>Conditional statement or implication</vt:lpstr>
      <vt:lpstr> </vt:lpstr>
      <vt:lpstr> </vt:lpstr>
      <vt:lpstr> </vt:lpstr>
      <vt:lpstr>Converse, contrapositive, and inverse</vt:lpstr>
      <vt:lpstr> </vt:lpstr>
      <vt:lpstr> </vt:lpstr>
      <vt:lpstr>Concepts of Vacuous True and Trivial True in Mathematical implication</vt:lpstr>
      <vt:lpstr>Vacuous True</vt:lpstr>
      <vt:lpstr> </vt:lpstr>
      <vt:lpstr>Trivial True</vt:lpstr>
      <vt:lpstr>Biconditional statement or double implication</vt:lpstr>
      <vt:lpstr> </vt:lpstr>
      <vt:lpstr> </vt:lpstr>
      <vt:lpstr>Logical Equivalences</vt:lpstr>
      <vt:lpstr> </vt:lpstr>
      <vt:lpstr> </vt:lpstr>
      <vt:lpstr>How Propositional Variables and Connectives deduce Truth Value</vt:lpstr>
      <vt:lpstr> </vt:lpstr>
      <vt:lpstr> </vt:lpstr>
      <vt:lpstr> </vt:lpstr>
      <vt:lpstr> </vt:lpstr>
      <vt:lpstr> </vt:lpstr>
      <vt:lpstr> </vt:lpstr>
      <vt:lpstr>Tautologies, Contradictions, and Contingents</vt:lpstr>
      <vt:lpstr> </vt:lpstr>
      <vt:lpstr>Contradiction</vt:lpstr>
      <vt:lpstr> </vt:lpstr>
      <vt:lpstr>Contingencies</vt:lpstr>
      <vt:lpstr> </vt:lpstr>
      <vt:lpstr>Laws of Propositional Logic equivalences</vt:lpstr>
      <vt:lpstr> </vt:lpstr>
      <vt:lpstr> </vt:lpstr>
      <vt:lpstr> </vt:lpstr>
      <vt:lpstr>Precedence of Logical Operators</vt:lpstr>
      <vt:lpstr> </vt:lpstr>
      <vt:lpstr>Logic gates</vt:lpstr>
      <vt:lpstr>AND gate</vt:lpstr>
      <vt:lpstr>OR gate</vt:lpstr>
      <vt:lpstr>NOT gate</vt:lpstr>
      <vt:lpstr>NOR gate</vt:lpstr>
      <vt:lpstr>NAND gate</vt:lpstr>
      <vt:lpstr>XOR gate</vt:lpstr>
      <vt:lpstr>XNOR gate</vt:lpstr>
      <vt:lpstr>Limitations of Propositional Logic in the context of computer science and engineering.</vt:lpstr>
      <vt:lpstr> Lack of Quantifiers. </vt:lpstr>
      <vt:lpstr>Inability to express relationships and identity</vt:lpstr>
      <vt:lpstr>Its static nature and the strict truth constraint</vt:lpstr>
      <vt:lpstr>References</vt:lpstr>
      <vt:lpstr> </vt:lpstr>
      <vt:lpstr> </vt:lpstr>
      <vt:lpst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Youth for Children (Y4C)  Innovation Hub</dc:title>
  <dc:creator>Joseph Cosmas</dc:creator>
  <cp:lastModifiedBy>ram seven</cp:lastModifiedBy>
  <cp:revision>625</cp:revision>
  <dcterms:modified xsi:type="dcterms:W3CDTF">2026-04-19T18:51:31Z</dcterms:modified>
</cp:coreProperties>
</file>